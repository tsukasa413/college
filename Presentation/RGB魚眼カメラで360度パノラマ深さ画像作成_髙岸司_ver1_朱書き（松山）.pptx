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28_5725FBA4.xml" ContentType="application/vnd.ms-powerpoint.comments+xml"/>
  <Override PartName="/ppt/comments/modernComment_131_307EFED9.xml" ContentType="application/vnd.ms-powerpoint.comments+xml"/>
  <Override PartName="/ppt/comments/modernComment_12C_5D2D54E1.xml" ContentType="application/vnd.ms-powerpoint.comments+xml"/>
  <Override PartName="/ppt/comments/modernComment_13B_6A21B2F2.xml" ContentType="application/vnd.ms-powerpoint.comments+xml"/>
  <Override PartName="/ppt/comments/modernComment_12F_840EDBC9.xml" ContentType="application/vnd.ms-powerpoint.comments+xml"/>
  <Override PartName="/ppt/comments/modernComment_12E_F6E4DEA0.xml" ContentType="application/vnd.ms-powerpoint.comments+xml"/>
  <Override PartName="/ppt/comments/modernComment_13C_45756C65.xml" ContentType="application/vnd.ms-powerpoint.comments+xml"/>
  <Override PartName="/ppt/comments/modernComment_134_C80A950B.xml" ContentType="application/vnd.ms-powerpoint.comments+xml"/>
  <Override PartName="/ppt/comments/modernComment_133_6E95A290.xml" ContentType="application/vnd.ms-powerpoint.comments+xml"/>
  <Override PartName="/ppt/comments/modernComment_138_31840B7A.xml" ContentType="application/vnd.ms-powerpoint.comments+xml"/>
  <Override PartName="/ppt/comments/modernComment_135_9347E5A4.xml" ContentType="application/vnd.ms-powerpoint.comments+xml"/>
  <Override PartName="/ppt/comments/modernComment_107_A84E3F5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</p:sldMasterIdLst>
  <p:notesMasterIdLst>
    <p:notesMasterId r:id="rId16"/>
  </p:notesMasterIdLst>
  <p:sldIdLst>
    <p:sldId id="296" r:id="rId2"/>
    <p:sldId id="319" r:id="rId3"/>
    <p:sldId id="318" r:id="rId4"/>
    <p:sldId id="305" r:id="rId5"/>
    <p:sldId id="300" r:id="rId6"/>
    <p:sldId id="315" r:id="rId7"/>
    <p:sldId id="303" r:id="rId8"/>
    <p:sldId id="302" r:id="rId9"/>
    <p:sldId id="316" r:id="rId10"/>
    <p:sldId id="308" r:id="rId11"/>
    <p:sldId id="307" r:id="rId12"/>
    <p:sldId id="312" r:id="rId13"/>
    <p:sldId id="309" r:id="rId14"/>
    <p:sldId id="263" r:id="rId15"/>
  </p:sldIdLst>
  <p:sldSz cx="9144000" cy="6858000" type="screen4x3"/>
  <p:notesSz cx="9939338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FAA99C-B048-21DC-E442-0BCCB084F418}" name="TAKAGISHI Tsukasa" initials="" userId="S::k767948@kansai-u.ac.jp::939cfe02-f17f-45c6-98de-986a52413d6f" providerId="AD"/>
  <p188:author id="{099517E8-723E-4ED4-7F17-F6509FD77999}" name="MATSUYAMA Shinnosuke" initials="" userId="S::k842064@kansai-u.ac.jp::fd96e5ed-4992-42d4-ba78-c2191b0b74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3E9288"/>
    <a:srgbClr val="FF00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63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2C_5D2D54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EF6395-A464-415C-9CF7-A2D4ACF6A5BE}" authorId="{099517E8-723E-4ED4-7F17-F6509FD77999}" created="2025-06-20T05:42:03.4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0" len="72">
        <ac:context len="110" hash="1012788426"/>
      </ac:txMk>
    </ac:txMkLst>
    <p188:pos x="7324678" y="260554"/>
    <p188:txBody>
      <a:bodyPr/>
      <a:lstStyle/>
      <a:p>
        <a:r>
          <a:rPr lang="ja-JP" altLang="en-US"/>
          <a:t>フォントサイズ24
行間調節</a:t>
        </a:r>
      </a:p>
    </p188:txBody>
  </p188:cm>
  <p188:cm id="{6C63BAAC-84C7-40E2-823B-841D182626FD}" authorId="{099517E8-723E-4ED4-7F17-F6509FD77999}" created="2025-06-20T05:42:11.9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20">
        <ac:context len="110" hash="1012788426"/>
      </ac:txMk>
    </ac:txMkLst>
    <p188:pos x="4304387" y="731609"/>
    <p188:txBody>
      <a:bodyPr/>
      <a:lstStyle/>
      <a:p>
        <a:r>
          <a:rPr lang="ja-JP" altLang="en-US"/>
          <a:t>（）は全角</a:t>
        </a:r>
      </a:p>
    </p188:txBody>
  </p188:cm>
  <p188:cm id="{EB525714-36A3-40B3-9F19-4B3E9F21E44F}" authorId="{099517E8-723E-4ED4-7F17-F6509FD77999}" created="2025-06-20T05:42:56.3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73">
        <ac:context len="110" hash="1012788426"/>
      </ac:txMk>
    </ac:txMkLst>
    <p188:pos x="5994642" y="2588118"/>
    <p188:txBody>
      <a:bodyPr/>
      <a:lstStyle/>
      <a:p>
        <a:r>
          <a:rPr lang="ja-JP" altLang="en-US"/>
          <a:t>どうにかして一行に収めることはできないか？
処理しようとする
→処理する</a:t>
        </a:r>
      </a:p>
    </p188:txBody>
  </p188:cm>
  <p188:cm id="{BD257B83-A2FF-4285-95A6-BA2C4BF42C32}" authorId="{099517E8-723E-4ED4-7F17-F6509FD77999}" created="2025-06-20T05:43:34.59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73">
        <ac:context len="110" hash="1012788426"/>
      </ac:txMk>
    </ac:txMkLst>
    <p188:pos x="6207078" y="2994518"/>
    <p188:txBody>
      <a:bodyPr/>
      <a:lstStyle/>
      <a:p>
        <a:r>
          <a:rPr lang="ja-JP" altLang="en-US"/>
          <a:t>赤</a:t>
        </a:r>
      </a:p>
    </p188:txBody>
  </p188:cm>
  <p188:cm id="{735E9BED-B223-4876-A6E4-C955C22015F7}" authorId="{099517E8-723E-4ED4-7F17-F6509FD77999}" created="2025-06-20T05:45:13.916">
    <pc:sldMkLst xmlns:pc="http://schemas.microsoft.com/office/powerpoint/2013/main/command">
      <pc:docMk/>
      <pc:sldMk cId="1563251937" sldId="300"/>
    </pc:sldMkLst>
    <p188:txBody>
      <a:bodyPr/>
      <a:lstStyle/>
      <a:p>
        <a:r>
          <a:rPr lang="ja-JP" altLang="en-US"/>
          <a:t>アニメーションはフェードではなく表示に変更</a:t>
        </a:r>
      </a:p>
    </p188:txBody>
  </p188:cm>
  <p188:cm id="{8B6303A5-43E9-4FA8-A993-FF3F589027F4}" authorId="{099517E8-723E-4ED4-7F17-F6509FD77999}" created="2025-06-20T05:46:05.0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7" creationId="{824B41A8-65EC-8304-B403-DC80E73D8302}"/>
    </ac:deMkLst>
    <p188:txBody>
      <a:bodyPr/>
      <a:lstStyle/>
      <a:p>
        <a:r>
          <a:rPr lang="ja-JP" altLang="en-US"/>
          <a:t>フォントサイズ28
球体のまま
を赤文字</a:t>
        </a:r>
      </a:p>
    </p188:txBody>
  </p188:cm>
  <p188:cm id="{5762D314-96A9-4B43-AB0B-6C74AD76A3F8}" authorId="{099517E8-723E-4ED4-7F17-F6509FD77999}" created="2025-06-20T05:47:24.161">
    <pc:sldMkLst xmlns:pc="http://schemas.microsoft.com/office/powerpoint/2013/main/command">
      <pc:docMk/>
      <pc:sldMk cId="1563251937" sldId="300"/>
    </pc:sldMkLst>
    <p188:txBody>
      <a:bodyPr/>
      <a:lstStyle/>
      <a:p>
        <a:r>
          <a:rPr lang="ja-JP" altLang="en-US"/>
          <a:t>矢印を使いたいのであればこちらのシンプルな法を使う
その際，矢印はスリムに</a:t>
        </a:r>
      </a:p>
    </p188:txBody>
  </p188:cm>
  <p188:cm id="{276569D3-FACA-4D93-B7D8-118BEAECD099}" authorId="{099517E8-723E-4ED4-7F17-F6509FD77999}" created="2025-06-20T05:55:40.5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20">
        <ac:context len="110" hash="1012788426"/>
      </ac:txMk>
    </ac:txMkLst>
    <p188:pos x="6530351" y="731609"/>
    <p188:txBody>
      <a:bodyPr/>
      <a:lstStyle/>
      <a:p>
        <a:r>
          <a:rPr lang="ja-JP" altLang="en-US"/>
          <a:t>文字黒</a:t>
        </a:r>
      </a:p>
    </p188:txBody>
  </p188:cm>
  <p188:cm id="{8AFBC61A-3437-4045-88EC-0B6F3B42A1C0}" authorId="{099517E8-723E-4ED4-7F17-F6509FD77999}" created="2025-06-20T05:56:05.3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3251937" sldId="300"/>
      <ac:spMk id="3" creationId="{5071F1FE-EB35-3E2B-444F-A3698F6302C5}"/>
      <ac:txMk cp="73">
        <ac:context len="110" hash="1012788426"/>
      </ac:txMk>
    </ac:txMkLst>
    <p188:pos x="5994642" y="2588118"/>
    <p188:txBody>
      <a:bodyPr/>
      <a:lstStyle/>
      <a:p>
        <a:r>
          <a:rPr lang="ja-JP" altLang="en-US"/>
          <a:t>文字黒</a:t>
        </a:r>
      </a:p>
    </p188:txBody>
  </p188:cm>
</p188:cmLst>
</file>

<file path=ppt/comments/modernComment_12E_F6E4DE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52AB1E-0E15-4BC7-A7C2-BD3C8E8AE082}" authorId="{099517E8-723E-4ED4-7F17-F6509FD77999}" created="2025-06-20T06:04:13.2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4" creationId="{111499F2-28B8-ECB9-6A17-AA5562A7E2A5}"/>
    </ac:deMkLst>
    <p188:txBody>
      <a:bodyPr/>
      <a:lstStyle/>
      <a:p>
        <a:r>
          <a:rPr lang="ja-JP" altLang="en-US"/>
          <a:t>深さの取り方</a:t>
        </a:r>
      </a:p>
    </p188:txBody>
  </p188:cm>
  <p188:cm id="{381F889A-8B3B-4B7A-8A5A-C6DBA4977340}" authorId="{099517E8-723E-4ED4-7F17-F6509FD77999}" created="2025-06-20T06:04:22.7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2" creationId="{2346361D-F24D-57BE-353D-5E0797A7FD61}"/>
      <ac:txMk cp="0" len="18">
        <ac:context len="19" hash="2409682182"/>
      </ac:txMk>
    </ac:txMkLst>
    <p188:pos x="7551882" y="461818"/>
    <p188:txBody>
      <a:bodyPr/>
      <a:lstStyle/>
      <a:p>
        <a:r>
          <a:rPr lang="ja-JP" altLang="en-US"/>
          <a:t>フォントサイズ28</a:t>
        </a:r>
      </a:p>
    </p188:txBody>
  </p188:cm>
  <p188:cm id="{ACE7A041-E01A-44A9-A01F-27A91D4862C4}" authorId="{099517E8-723E-4ED4-7F17-F6509FD77999}" created="2025-06-20T06:04:42.1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3" creationId="{13B9696D-6C54-496E-F171-BDC530DFE40B}"/>
      <ac:txMk cp="0" len="108">
        <ac:context len="110" hash="655120165"/>
      </ac:txMk>
    </ac:txMkLst>
    <p188:pos x="8198427" y="258990"/>
    <p188:txBody>
      <a:bodyPr/>
      <a:lstStyle/>
      <a:p>
        <a:r>
          <a:rPr lang="ja-JP" altLang="en-US"/>
          <a:t>フォントサイズ24</a:t>
        </a:r>
      </a:p>
    </p188:txBody>
  </p188:cm>
  <p188:cm id="{049BBC16-B70B-44C3-BDF9-2F5322C8DB17}" authorId="{099517E8-723E-4ED4-7F17-F6509FD77999}" created="2025-06-20T06:09:28.3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3" creationId="{13B9696D-6C54-496E-F171-BDC530DFE40B}"/>
      <ac:txMk cp="20" len="52">
        <ac:context len="110" hash="655120165"/>
      </ac:txMk>
    </ac:txMkLst>
    <p188:pos x="4152900" y="656154"/>
    <p188:txBody>
      <a:bodyPr/>
      <a:lstStyle/>
      <a:p>
        <a:r>
          <a:rPr lang="ja-JP" altLang="en-US"/>
          <a:t>ここは手順のようなので
「・」ではなく
１．
２．
３．
と変更する</a:t>
        </a:r>
      </a:p>
    </p188:txBody>
  </p188:cm>
  <p188:cm id="{B44A9898-D8B9-425D-A441-5F45CF1C5928}" authorId="{099517E8-723E-4ED4-7F17-F6509FD77999}" created="2025-06-20T06:09:45.0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3" creationId="{13B9696D-6C54-496E-F171-BDC530DFE40B}"/>
      <ac:txMk cp="73" len="3">
        <ac:context len="110" hash="655120165"/>
      </ac:txMk>
    </ac:txMkLst>
    <p188:pos x="1308100" y="2337172"/>
    <p188:txBody>
      <a:bodyPr/>
      <a:lstStyle/>
      <a:p>
        <a:r>
          <a:rPr lang="ja-JP" altLang="en-US"/>
          <a:t>赤</a:t>
        </a:r>
      </a:p>
    </p188:txBody>
  </p188:cm>
  <p188:cm id="{09A658CE-C2C8-48AD-BB02-083E76898950}" authorId="{099517E8-723E-4ED4-7F17-F6509FD77999}" created="2025-06-20T06:09:52.7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3" creationId="{13B9696D-6C54-496E-F171-BDC530DFE40B}"/>
      <ac:txMk cp="87" len="3">
        <ac:context len="110" hash="655120165"/>
      </ac:txMk>
    </ac:txMkLst>
    <p188:pos x="1308100" y="3242336"/>
    <p188:txBody>
      <a:bodyPr/>
      <a:lstStyle/>
      <a:p>
        <a:r>
          <a:rPr lang="ja-JP" altLang="en-US"/>
          <a:t>赤</a:t>
        </a:r>
      </a:p>
    </p188:txBody>
  </p188:cm>
  <p188:cm id="{DB81162B-71C2-4585-93F7-43BB5D409A28}" authorId="{099517E8-723E-4ED4-7F17-F6509FD77999}" created="2025-06-20T06:10:11.2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194336" sldId="302"/>
      <ac:spMk id="3" creationId="{13B9696D-6C54-496E-F171-BDC530DFE40B}"/>
      <ac:txMk cp="100" len="3">
        <ac:context len="110" hash="655120165"/>
      </ac:txMk>
    </ac:txMkLst>
    <p188:pos x="5603009" y="3242336"/>
    <p188:txBody>
      <a:bodyPr/>
      <a:lstStyle/>
      <a:p>
        <a:r>
          <a:rPr lang="ja-JP" altLang="en-US"/>
          <a:t>赤</a:t>
        </a:r>
      </a:p>
    </p188:txBody>
  </p188:cm>
</p188:cmLst>
</file>

<file path=ppt/comments/modernComment_12F_840EDB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6AF1C5-8503-4411-9042-BE70FDB101F4}" authorId="{099517E8-723E-4ED4-7F17-F6509FD77999}" created="2025-06-20T05:57:12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4" creationId="{3C0E7ECA-03EB-ECD5-C399-240055C3BA02}"/>
      <ac:txMk cp="9" len="4">
        <ac:context len="20" hash="3485497295"/>
      </ac:txMk>
    </ac:txMkLst>
    <p188:pos x="4007669" y="261374"/>
    <p188:txBody>
      <a:bodyPr/>
      <a:lstStyle/>
      <a:p>
        <a:r>
          <a:rPr lang="ja-JP" altLang="en-US"/>
          <a:t>（）は全角</a:t>
        </a:r>
      </a:p>
    </p188:txBody>
  </p188:cm>
  <p188:cm id="{F03F54DB-2B35-47B3-9A13-7913B7080E0C}" authorId="{099517E8-723E-4ED4-7F17-F6509FD77999}" created="2025-06-20T05:57:19.7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17" creationId="{484928D1-CF63-E3A6-6CE7-8A43BC5FC60D}"/>
    </ac:deMkLst>
    <p188:txBody>
      <a:bodyPr/>
      <a:lstStyle/>
      <a:p>
        <a:r>
          <a:rPr lang="ja-JP" altLang="en-US"/>
          <a:t>文字黒
フォントサイズ20</a:t>
        </a:r>
      </a:p>
    </p188:txBody>
  </p188:cm>
  <p188:cm id="{353ACA60-1F24-48D9-9B80-7265DE9704A8}" authorId="{099517E8-723E-4ED4-7F17-F6509FD77999}" created="2025-06-20T05:57:25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18" creationId="{D977C863-4DF5-6593-67DE-AD353BA15BCB}"/>
    </ac:deMkLst>
    <p188:txBody>
      <a:bodyPr/>
      <a:lstStyle/>
      <a:p>
        <a:r>
          <a:rPr lang="ja-JP" altLang="en-US"/>
          <a:t>文字黒</a:t>
        </a:r>
      </a:p>
    </p188:txBody>
  </p188:cm>
  <p188:cm id="{170C7441-EEAB-43ED-A92F-727DD803BC0B}" authorId="{099517E8-723E-4ED4-7F17-F6509FD77999}" created="2025-06-20T05:57:35.7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32" creationId="{000B2252-5D6B-89D6-9686-FC6684829220}"/>
      <ac:txMk cp="0" len="22">
        <ac:context len="23" hash="1061264694"/>
      </ac:txMk>
    </ac:txMkLst>
    <p188:txBody>
      <a:bodyPr/>
      <a:lstStyle/>
      <a:p>
        <a:r>
          <a:rPr lang="ja-JP" altLang="en-US"/>
          <a:t>文字黒
めんどくなったので
これ以降この色で次回ている所はすべて黒に変える
薄暗い背景に，薄い色を使うと見にくい</a:t>
        </a:r>
      </a:p>
    </p188:txBody>
  </p188:cm>
  <p188:cm id="{9432D528-0260-4FA6-9FC5-D1E667328E05}" authorId="{099517E8-723E-4ED4-7F17-F6509FD77999}" created="2025-06-20T05:58:39.3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17" creationId="{484928D1-CF63-E3A6-6CE7-8A43BC5FC60D}"/>
      <ac:txMk cp="5" len="4">
        <ac:context len="10" hash="1208072187"/>
      </ac:txMk>
    </ac:txMkLst>
    <p188:pos x="2497522" y="263087"/>
    <p188:txBody>
      <a:bodyPr/>
      <a:lstStyle/>
      <a:p>
        <a:r>
          <a:rPr lang="ja-JP" altLang="en-US"/>
          <a:t>（）は全角</a:t>
        </a:r>
      </a:p>
    </p188:txBody>
  </p188:cm>
  <p188:cm id="{EEB7E042-D266-43E7-A2ED-AFD31B6663F4}" authorId="{099517E8-723E-4ED4-7F17-F6509FD77999}" created="2025-06-20T05:59:24.0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34" creationId="{10BCCCF5-A533-FAF6-E12A-784B37CDA626}"/>
    </ac:deMkLst>
    <p188:txBody>
      <a:bodyPr/>
      <a:lstStyle/>
      <a:p>
        <a:r>
          <a:rPr lang="ja-JP" altLang="en-US"/>
          <a:t>フォントサイズ20
他カメラ（基準カメラに対して位置と向いている方向が違う）とする</a:t>
        </a:r>
      </a:p>
    </p188:txBody>
  </p188:cm>
  <p188:cm id="{5BBCCC6A-BF21-40EF-9F5E-336C59C48C7F}" authorId="{099517E8-723E-4ED4-7F17-F6509FD77999}" created="2025-06-20T06:00:34.4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42" creationId="{52CA6402-63ED-0902-1DDE-2C519AB64BAC}"/>
      <ac:txMk cp="0">
        <ac:context len="1" hash="13"/>
      </ac:txMk>
    </ac:txMkLst>
    <p188:pos x="8326241" y="256944"/>
    <p188:txBody>
      <a:bodyPr/>
      <a:lstStyle/>
      <a:p>
        <a:r>
          <a:rPr lang="ja-JP" altLang="en-US"/>
          <a:t>フォントサイズ24</a:t>
        </a:r>
      </a:p>
    </p188:txBody>
  </p188:cm>
  <p188:cm id="{47163435-28A7-429E-BEE7-9B12B0EA2102}" authorId="{099517E8-723E-4ED4-7F17-F6509FD77999}" created="2025-06-20T06:00:44.9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42" creationId="{52CA6402-63ED-0902-1DDE-2C519AB64BAC}"/>
      <ac:txMk cp="0">
        <ac:context len="1" hash="13"/>
      </ac:txMk>
    </ac:txMkLst>
    <p188:pos x="1001805" y="1374544"/>
    <p188:txBody>
      <a:bodyPr/>
      <a:lstStyle/>
      <a:p>
        <a:r>
          <a:rPr lang="ja-JP" altLang="en-US"/>
          <a:t>全角</a:t>
        </a:r>
      </a:p>
    </p188:txBody>
  </p188:cm>
  <p188:cm id="{C70F6F21-40F9-42F9-BBE2-41C3B871DEE9}" authorId="{099517E8-723E-4ED4-7F17-F6509FD77999}" created="2025-06-20T06:00:53.12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42" creationId="{52CA6402-63ED-0902-1DDE-2C519AB64BAC}"/>
      <ac:txMk cp="0">
        <ac:context len="1" hash="13"/>
      </ac:txMk>
    </ac:txMkLst>
    <p188:pos x="4539332" y="1374544"/>
    <p188:txBody>
      <a:bodyPr/>
      <a:lstStyle/>
      <a:p>
        <a:r>
          <a:rPr lang="ja-JP" altLang="en-US"/>
          <a:t>全角</a:t>
        </a:r>
      </a:p>
    </p188:txBody>
  </p188:cm>
  <p188:cm id="{E7597664-77E4-44D5-BF24-7304944AB3D8}" authorId="{099517E8-723E-4ED4-7F17-F6509FD77999}" created="2025-06-20T06:02:21.7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picMk id="45" creationId="{C32DE0A8-4505-63C7-5C33-BA59364F0CE5}"/>
    </ac:deMkLst>
    <p188:txBody>
      <a:bodyPr/>
      <a:lstStyle/>
      <a:p>
        <a:r>
          <a:rPr lang="ja-JP" altLang="en-US"/>
          <a:t>斜体ではない</a:t>
        </a:r>
      </a:p>
    </p188:txBody>
  </p188:cm>
  <p188:cm id="{CD8818A8-2C91-4A82-A259-F5DDCFCFDD8E}" authorId="{099517E8-723E-4ED4-7F17-F6509FD77999}" created="2025-06-20T06:03:14.89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15566281" sldId="303"/>
      <ac:spMk id="42" creationId="{52CA6402-63ED-0902-1DDE-2C519AB64BAC}"/>
      <ac:txMk cp="0">
        <ac:context len="1" hash="13"/>
      </ac:txMk>
    </ac:txMkLst>
    <p188:pos x="7153223" y="1780944"/>
    <p188:txBody>
      <a:bodyPr/>
      <a:lstStyle/>
      <a:p>
        <a:r>
          <a:rPr lang="ja-JP" altLang="en-US"/>
          <a:t>（）は全角</a:t>
        </a:r>
      </a:p>
    </p188:txBody>
  </p188:cm>
</p188:cmLst>
</file>

<file path=ppt/comments/modernComment_13B_6A21B2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ED0442-27C4-454A-9198-E860CB61311F}" authorId="{099517E8-723E-4ED4-7F17-F6509FD77999}" created="2025-06-20T05:56:45.640">
    <pc:sldMkLst xmlns:pc="http://schemas.microsoft.com/office/powerpoint/2013/main/command">
      <pc:docMk/>
      <pc:sldMk cId="1780593394" sldId="315"/>
    </pc:sldMkLst>
    <p188:txBody>
      <a:bodyPr/>
      <a:lstStyle/>
      <a:p>
        <a:r>
          <a:rPr lang="ja-JP" altLang="en-US"/>
          <a:t>適当に作っただけなので手を加えて
</a:t>
        </a:r>
      </a:p>
    </p188:txBody>
  </p188:cm>
  <p188:cm id="{AD85C853-67A1-4B85-ADBC-F7F78C0C557E}" authorId="{099517E8-723E-4ED4-7F17-F6509FD77999}" created="2025-06-20T05:56:52.1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0593394" sldId="315"/>
      <ac:spMk id="40" creationId="{9D220EB2-9629-EC29-7570-6A7189DD0789}"/>
    </ac:deMkLst>
    <p188:txBody>
      <a:bodyPr/>
      <a:lstStyle/>
      <a:p>
        <a:r>
          <a:rPr lang="ja-JP" altLang="en-US"/>
          <a:t>文字黒</a:t>
        </a:r>
      </a:p>
    </p188:txBody>
  </p188:cm>
  <p188:cm id="{E727B645-2B0D-47C5-BBF3-94FF638E7145}" authorId="{099517E8-723E-4ED4-7F17-F6509FD77999}" created="2025-06-20T05:57:02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0593394" sldId="315"/>
      <ac:spMk id="36" creationId="{DEC91998-EB7B-7A25-4669-28168EDBE9C7}"/>
      <ac:txMk cp="0">
        <ac:context len="1" hash="13"/>
      </ac:txMk>
    </ac:txMkLst>
    <p188:txBody>
      <a:bodyPr/>
      <a:lstStyle/>
      <a:p>
        <a:r>
          <a:rPr lang="ja-JP" altLang="en-US"/>
          <a:t>文字黒</a:t>
        </a:r>
      </a:p>
    </p188:txBody>
  </p188:cm>
</p188:cmLst>
</file>

<file path=ppt/comments/modernComment_13C_45756C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CDB7E4-1BB2-49DC-A5BD-1916BF4CEF06}" authorId="{099517E8-723E-4ED4-7F17-F6509FD77999}" created="2025-06-20T06:15:08.5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65323365" sldId="316"/>
      <ac:spMk id="4" creationId="{DD5DBA3E-1FE2-D2A0-1638-FB00A07864B0}"/>
    </ac:deMkLst>
    <p188:txBody>
      <a:bodyPr/>
      <a:lstStyle/>
      <a:p>
        <a:r>
          <a:rPr lang="ja-JP" altLang="en-US"/>
          <a:t>タイトルの大きさは変えて</a:t>
        </a:r>
      </a:p>
    </p188:txBody>
  </p188:cm>
</p188:cmLst>
</file>

<file path=ppt/comments/modernComment_107_A84E3F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180E41-9259-4E96-B92E-5AEDFD135B47}" authorId="{099517E8-723E-4ED4-7F17-F6509FD77999}" created="2025-06-20T06:27:31.9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23700308" sldId="263"/>
      <ac:spMk id="6" creationId="{B425BEA8-D2B5-4CBF-71ED-704C33444D27}"/>
      <ac:txMk cp="0" len="4">
        <ac:context len="11" hash="3086931554"/>
      </ac:txMk>
    </ac:txMkLst>
    <p188:pos x="2862360" y="261374"/>
    <p188:replyLst>
      <p188:reply id="{6AD76FF6-F608-4A40-B6E8-910C088DD542}" authorId="{BDFAA99C-B048-21DC-E442-0BCCB084F418}" created="2025-06-25T20:01:09.120">
        <p188:txBody>
          <a:bodyPr/>
          <a:lstStyle/>
          <a:p>
            <a:r>
              <a:rPr lang="ja-JP" altLang="en-US"/>
              <a:t>できなくてしぬ
</a:t>
            </a:r>
          </a:p>
        </p188:txBody>
      </p188:reply>
    </p188:replyLst>
    <p188:txBody>
      <a:bodyPr/>
      <a:lstStyle/>
      <a:p>
        <a:r>
          <a:rPr lang="ja-JP" altLang="en-US"/>
          <a:t>取り組む内容</a:t>
        </a:r>
      </a:p>
    </p188:txBody>
  </p188:cm>
  <p188:cm id="{EDABA76F-C969-4699-B66E-CF0E9C61C3CB}" authorId="{099517E8-723E-4ED4-7F17-F6509FD77999}" created="2025-06-20T06:29:39.4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23700308" sldId="263"/>
      <ac:spMk id="2" creationId="{71BD5C27-5DAF-89C3-94CA-31A62344DAF5}"/>
      <ac:txMk cp="0" len="17">
        <ac:context len="18" hash="337096018"/>
      </ac:txMk>
    </ac:txMkLst>
    <p188:pos x="7145482" y="461818"/>
    <p188:txBody>
      <a:bodyPr/>
      <a:lstStyle/>
      <a:p>
        <a:r>
          <a:rPr lang="ja-JP" altLang="en-US"/>
          <a:t>フォントサイズ28</a:t>
        </a:r>
      </a:p>
    </p188:txBody>
  </p188:cm>
  <p188:cm id="{59472026-0488-48ED-A42F-03C27D3BD8A9}" authorId="{099517E8-723E-4ED4-7F17-F6509FD77999}" created="2025-06-20T06:29:47.4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23700308" sldId="263"/>
      <ac:spMk id="3" creationId="{8237E92F-AA36-0814-54B9-C5B4D47D6949}"/>
      <ac:txMk cp="0" len="101">
        <ac:context len="104" hash="2514263260"/>
      </ac:txMk>
    </ac:txMkLst>
    <p188:pos x="5898573" y="258990"/>
    <p188:txBody>
      <a:bodyPr/>
      <a:lstStyle/>
      <a:p>
        <a:r>
          <a:rPr lang="ja-JP" altLang="en-US"/>
          <a:t>フォントサイズ24</a:t>
        </a:r>
      </a:p>
    </p188:txBody>
  </p188:cm>
</p188:cmLst>
</file>

<file path=ppt/comments/modernComment_128_5725FB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9F2C1F-66FF-45A6-8D6D-1BB741BF9E44}" authorId="{099517E8-723E-4ED4-7F17-F6509FD77999}" created="2025-06-20T04:56:53.0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62107044" sldId="296"/>
      <ac:spMk id="2" creationId="{8C6F0535-4030-4C35-945F-92B453107136}"/>
    </ac:deMkLst>
    <p188:txBody>
      <a:bodyPr/>
      <a:lstStyle/>
      <a:p>
        <a:r>
          <a:rPr lang="ja-JP" altLang="en-US"/>
          <a:t>もう少し下
360度？360°？</a:t>
        </a:r>
      </a:p>
    </p188:txBody>
  </p188:cm>
  <p188:cm id="{6B75CF02-9B95-4865-8207-AC24213840CA}" authorId="{099517E8-723E-4ED4-7F17-F6509FD77999}" created="2025-06-20T04:57:22.01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62107044" sldId="296"/>
      <ac:spMk id="3" creationId="{42FD679A-CDD2-4005-984B-113143E13B1F}"/>
    </ac:deMkLst>
    <p188:txBody>
      <a:bodyPr/>
      <a:lstStyle/>
      <a:p>
        <a:r>
          <a:rPr lang="ja-JP" altLang="en-US"/>
          <a:t>氏名はこの前伝えた通りに</a:t>
        </a:r>
      </a:p>
    </p188:txBody>
  </p188:cm>
</p188:cmLst>
</file>

<file path=ppt/comments/modernComment_131_307EFE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E4F03F-408E-47F3-AF79-ACE761D35541}" authorId="{099517E8-723E-4ED4-7F17-F6509FD77999}" created="2025-06-20T05:34:52.4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4" creationId="{94D97C88-1F98-B85E-AA3A-94D6885D9183}"/>
    </ac:deMkLst>
    <p188:txBody>
      <a:bodyPr/>
      <a:lstStyle/>
      <a:p>
        <a:r>
          <a:rPr lang="ja-JP" altLang="en-US"/>
          <a:t>使用するハードウェア</a:t>
        </a:r>
      </a:p>
    </p188:txBody>
  </p188:cm>
  <p188:cm id="{82C865B9-14CB-4E6B-A411-FF45D6282DF9}" authorId="{099517E8-723E-4ED4-7F17-F6509FD77999}" created="2025-06-20T05:35:03.8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2" creationId="{E01DF9D2-51E2-9160-EF68-44184B63D6AB}"/>
    </ac:deMkLst>
    <p188:txBody>
      <a:bodyPr/>
      <a:lstStyle/>
      <a:p>
        <a:r>
          <a:rPr lang="ja-JP" altLang="en-US"/>
          <a:t>フォントサイズ28</a:t>
        </a:r>
      </a:p>
    </p188:txBody>
  </p188:cm>
  <p188:cm id="{C556FC09-996C-4AF2-B1CB-5345AC81FAF8}" authorId="{099517E8-723E-4ED4-7F17-F6509FD77999}" created="2025-06-20T05:35:14.0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3" creationId="{27D72368-C54F-C515-DBB0-F0D2164E7A02}"/>
      <ac:txMk cp="0" len="95">
        <ac:context len="113" hash="3422373457"/>
      </ac:txMk>
    </ac:txMkLst>
    <p188:pos x="5593773" y="258990"/>
    <p188:txBody>
      <a:bodyPr/>
      <a:lstStyle/>
      <a:p>
        <a:r>
          <a:rPr lang="ja-JP" altLang="en-US"/>
          <a:t>フォントサイズ24
下に隙間ができるので行間調節</a:t>
        </a:r>
      </a:p>
    </p188:txBody>
  </p188:cm>
  <p188:cm id="{49113C4C-019E-4387-A29D-CFF18AD16E3B}" authorId="{099517E8-723E-4ED4-7F17-F6509FD77999}" created="2025-06-20T05:36:25.4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picMk id="8" creationId="{5D4BC0C1-D8A5-7704-91E8-AC7417A59F8B}"/>
    </ac:deMkLst>
    <p188:txBody>
      <a:bodyPr/>
      <a:lstStyle/>
      <a:p>
        <a:r>
          <a:rPr lang="ja-JP" altLang="en-US"/>
          <a:t>右に隙間ができると思うので大きく画像を配置
いっぱいいっぱいに画像を配置しよう</a:t>
        </a:r>
      </a:p>
    </p188:txBody>
  </p188:cm>
  <p188:cm id="{BFC90BB1-0642-40B5-A806-CA2709550310}" authorId="{099517E8-723E-4ED4-7F17-F6509FD77999}" created="2025-06-20T05:38:31.8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2" creationId="{E01DF9D2-51E2-9160-EF68-44184B63D6AB}"/>
      <ac:txMk cp="0" len="16">
        <ac:context len="17" hash="133421742"/>
      </ac:txMk>
    </ac:txMkLst>
    <p188:pos x="6563591" y="461818"/>
    <p188:txBody>
      <a:bodyPr/>
      <a:lstStyle/>
      <a:p>
        <a:r>
          <a:rPr lang="ja-JP" altLang="en-US"/>
          <a:t>この写真ではカメラがどこに位置しているか分かりにくいので
下の文が出てくる前の
4つの魚眼カメラを四方に配置する
と説明している間に
画像内でアニメーションでカメラに〇をつけるといいかも
説明難しいので分からなかったら対面で聞いて</a:t>
        </a:r>
      </a:p>
    </p188:txBody>
  </p188:cm>
  <p188:cm id="{8D848C37-A703-4549-A3E8-0DB1D860DBA9}" authorId="{099517E8-723E-4ED4-7F17-F6509FD77999}" created="2025-06-20T05:39:32.5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3" creationId="{27D72368-C54F-C515-DBB0-F0D2164E7A02}"/>
      <ac:txMk cp="19" len="4">
        <ac:context len="113" hash="3422373457"/>
      </ac:txMk>
    </ac:txMkLst>
    <p188:pos x="1428173" y="730045"/>
    <p188:txBody>
      <a:bodyPr/>
      <a:lstStyle/>
      <a:p>
        <a:r>
          <a:rPr lang="ja-JP" altLang="en-US"/>
          <a:t>赤</a:t>
        </a:r>
      </a:p>
    </p188:txBody>
  </p188:cm>
  <p188:cm id="{64036911-EBEB-4D6F-A297-5319377D45C1}" authorId="{099517E8-723E-4ED4-7F17-F6509FD77999}" created="2025-06-20T05:39:42.5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3629145" sldId="305"/>
      <ac:spMk id="3" creationId="{27D72368-C54F-C515-DBB0-F0D2164E7A02}"/>
      <ac:txMk cp="49" len="15">
        <ac:context len="113" hash="3422373457"/>
      </ac:txMk>
    </ac:txMkLst>
    <p188:pos x="4069773" y="2023136"/>
    <p188:txBody>
      <a:bodyPr/>
      <a:lstStyle/>
      <a:p>
        <a:r>
          <a:rPr lang="ja-JP" altLang="en-US"/>
          <a:t>赤</a:t>
        </a:r>
      </a:p>
    </p188:txBody>
  </p188:cm>
  <p188:cm id="{54104FA5-5B52-41DF-9EEC-4155F10BB27C}" authorId="{099517E8-723E-4ED4-7F17-F6509FD77999}" created="2025-06-20T05:44:39.993">
    <pc:sldMkLst xmlns:pc="http://schemas.microsoft.com/office/powerpoint/2013/main/command">
      <pc:docMk/>
      <pc:sldMk cId="813629145" sldId="305"/>
    </pc:sldMkLst>
    <p188:txBody>
      <a:bodyPr/>
      <a:lstStyle/>
      <a:p>
        <a:r>
          <a:rPr lang="ja-JP" altLang="en-US"/>
          <a:t>アニメーションはフェードではなく表示に変更
以降スライド全て確認</a:t>
        </a:r>
      </a:p>
    </p188:txBody>
  </p188:cm>
</p188:cmLst>
</file>

<file path=ppt/comments/modernComment_133_6E95A2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050385-0B1C-42D9-83D0-40E3BEC921B5}" authorId="{099517E8-723E-4ED4-7F17-F6509FD77999}" created="2025-06-20T06:18:46.0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55300240" sldId="307"/>
      <ac:spMk id="6" creationId="{414E0C66-9FFF-8EDA-C5F8-96E3D8C503BE}"/>
      <ac:txMk cp="9" len="9">
        <ac:context len="87" hash="2152541662"/>
      </ac:txMk>
    </ac:txMkLst>
    <p188:pos x="6539587" y="260554"/>
    <p188:txBody>
      <a:bodyPr/>
      <a:lstStyle/>
      <a:p>
        <a:r>
          <a:rPr lang="ja-JP" altLang="en-US"/>
          <a:t>（）は全角</a:t>
        </a:r>
      </a:p>
    </p188:txBody>
  </p188:cm>
  <p188:cm id="{428C3173-C39C-4400-BF46-3DBB303376F5}" authorId="{099517E8-723E-4ED4-7F17-F6509FD77999}" created="2025-06-20T06:19:02.4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55300240" sldId="307"/>
      <ac:picMk id="7" creationId="{3E410CF0-2201-BC8E-5A52-14289C107745}"/>
    </ac:deMkLst>
    <p188:txBody>
      <a:bodyPr/>
      <a:lstStyle/>
      <a:p>
        <a:r>
          <a:rPr lang="ja-JP" altLang="en-US"/>
          <a:t>多分この式小さい</a:t>
        </a:r>
      </a:p>
    </p188:txBody>
  </p188:cm>
  <p188:cm id="{56EDE1F0-F531-4E1E-98B7-C9119D882F18}" authorId="{099517E8-723E-4ED4-7F17-F6509FD77999}" created="2025-06-20T06:19:19.9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55300240" sldId="307"/>
      <ac:spMk id="6" creationId="{414E0C66-9FFF-8EDA-C5F8-96E3D8C503BE}"/>
      <ac:txMk cp="0" len="86">
        <ac:context len="87" hash="2152541662"/>
      </ac:txMk>
    </ac:txMkLst>
    <p188:pos x="7823442" y="260554"/>
    <p188:txBody>
      <a:bodyPr/>
      <a:lstStyle/>
      <a:p>
        <a:r>
          <a:rPr lang="ja-JP" altLang="en-US"/>
          <a:t>フォントサイズ24</a:t>
        </a:r>
      </a:p>
    </p188:txBody>
  </p188:cm>
  <p188:cm id="{B159E619-C2EC-482E-8397-F9DBB1AA000B}" authorId="{099517E8-723E-4ED4-7F17-F6509FD77999}" created="2025-06-20T06:19:35.5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55300240" sldId="307"/>
      <ac:spMk id="10" creationId="{D0E31D1F-EFCC-A708-0635-AF2E028CDD27}"/>
      <ac:txMk cp="1" len="7">
        <ac:context len="15" hash="1074126625"/>
      </ac:txMk>
    </ac:txMkLst>
    <p188:pos x="2518641" y="254291"/>
    <p188:txBody>
      <a:bodyPr/>
      <a:lstStyle/>
      <a:p>
        <a:r>
          <a:rPr lang="ja-JP" altLang="en-US"/>
          <a:t>赤</a:t>
        </a:r>
      </a:p>
    </p188:txBody>
  </p188:cm>
  <p188:cm id="{95A8A661-8FCB-4549-B4E9-7EBEA48C086D}" authorId="{099517E8-723E-4ED4-7F17-F6509FD77999}" created="2025-06-20T06:19:47.6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55300240" sldId="307"/>
      <ac:spMk id="5" creationId="{72CA0265-BB56-7933-942A-933EF47A0846}"/>
      <ac:txMk cp="5" len="8">
        <ac:context len="48" hash="3818776315"/>
      </ac:txMk>
    </ac:txMkLst>
    <p188:pos x="4175078" y="310907"/>
    <p188:txBody>
      <a:bodyPr/>
      <a:lstStyle/>
      <a:p>
        <a:r>
          <a:rPr lang="ja-JP" altLang="en-US"/>
          <a:t>（）は全角</a:t>
        </a:r>
      </a:p>
    </p188:txBody>
  </p188:cm>
</p188:cmLst>
</file>

<file path=ppt/comments/modernComment_134_C80A95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25FA64-7F3C-4A64-B8FD-F890574F08AB}" authorId="{099517E8-723E-4ED4-7F17-F6509FD77999}" created="2025-06-20T06:17:17.4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56136715" sldId="308"/>
      <ac:spMk id="2" creationId="{ABD2575C-9EC8-08DF-3EB5-388C45DE7ADB}"/>
    </ac:deMkLst>
    <p188:txBody>
      <a:bodyPr/>
      <a:lstStyle/>
      <a:p>
        <a:r>
          <a:rPr lang="ja-JP" altLang="en-US"/>
          <a:t>フォントサイズ28</a:t>
        </a:r>
      </a:p>
    </p188:txBody>
  </p188:cm>
  <p188:cm id="{8D77C791-DF0A-490E-B00C-C627415F6811}" authorId="{099517E8-723E-4ED4-7F17-F6509FD77999}" created="2025-06-20T06:17:42.7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56136715" sldId="308"/>
      <ac:spMk id="3" creationId="{B33BFE7B-4D44-3550-BC64-785179D7389C}"/>
      <ac:txMk cp="0" len="92">
        <ac:context len="115" hash="3419659773"/>
      </ac:txMk>
    </ac:txMkLst>
    <p188:pos x="7819736" y="258990"/>
    <p188:txBody>
      <a:bodyPr/>
      <a:lstStyle/>
      <a:p>
        <a:r>
          <a:rPr lang="ja-JP" altLang="en-US"/>
          <a:t>フォントサイズ24</a:t>
        </a:r>
      </a:p>
    </p188:txBody>
  </p188:cm>
  <p188:cm id="{290E7762-8492-4437-B994-6187C5703F24}" authorId="{099517E8-723E-4ED4-7F17-F6509FD77999}" created="2025-06-20T06:17:49.1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56136715" sldId="308"/>
      <ac:spMk id="3" creationId="{B33BFE7B-4D44-3550-BC64-785179D7389C}"/>
      <ac:txMk cp="10" len="7">
        <ac:context len="115" hash="3419659773"/>
      </ac:txMk>
    </ac:txMkLst>
    <p188:pos x="6535882" y="258990"/>
    <p188:txBody>
      <a:bodyPr/>
      <a:lstStyle/>
      <a:p>
        <a:r>
          <a:rPr lang="ja-JP" altLang="en-US"/>
          <a:t>（）は全角</a:t>
        </a:r>
      </a:p>
    </p188:txBody>
  </p188:cm>
  <p188:cm id="{49E67B6C-7B13-4042-92B5-CF5EB57CA19D}" authorId="{099517E8-723E-4ED4-7F17-F6509FD77999}" created="2025-06-20T06:18:16.5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56136715" sldId="308"/>
      <ac:spMk id="3" creationId="{B33BFE7B-4D44-3550-BC64-785179D7389C}"/>
      <ac:txMk cp="86" len="6">
        <ac:context len="115" hash="3419659773"/>
      </ac:txMk>
    </ac:txMkLst>
    <p188:pos x="5630718" y="4387645"/>
    <p188:txBody>
      <a:bodyPr/>
      <a:lstStyle/>
      <a:p>
        <a:r>
          <a:rPr lang="ja-JP" altLang="en-US"/>
          <a:t>赤</a:t>
        </a:r>
      </a:p>
    </p188:txBody>
  </p188:cm>
</p188:cmLst>
</file>

<file path=ppt/comments/modernComment_135_9347E5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DE69BB-7804-42DE-878C-9F9C1CFB4D47}" authorId="{099517E8-723E-4ED4-7F17-F6509FD77999}" created="2025-06-20T06:21:38.5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70962596" sldId="309"/>
      <ac:spMk id="5" creationId="{1DE60CEE-0F2C-9F97-BE81-4C91FAC1022F}"/>
      <ac:txMk cp="0" len="13">
        <ac:context len="14" hash="2468517851"/>
      </ac:txMk>
    </ac:txMkLst>
    <p188:pos x="5519882" y="461818"/>
    <p188:txBody>
      <a:bodyPr/>
      <a:lstStyle/>
      <a:p>
        <a:r>
          <a:rPr lang="ja-JP" altLang="en-US"/>
          <a:t>フォントサイズ28</a:t>
        </a:r>
      </a:p>
    </p188:txBody>
  </p188:cm>
  <p188:cm id="{46C515FF-4B5C-409A-B859-1FBB340CBFD2}" authorId="{099517E8-723E-4ED4-7F17-F6509FD77999}" created="2025-06-20T06:21:50.6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70962596" sldId="309"/>
      <ac:spMk id="6" creationId="{008C89DC-5C37-7CE5-5172-62D405E042DC}"/>
      <ac:txMk cp="0" len="97">
        <ac:context len="98" hash="3283211321"/>
      </ac:txMk>
    </ac:txMkLst>
    <p188:pos x="6969991" y="258990"/>
    <p188:txBody>
      <a:bodyPr/>
      <a:lstStyle/>
      <a:p>
        <a:r>
          <a:rPr lang="ja-JP" altLang="en-US"/>
          <a:t>フォントサイズ24</a:t>
        </a:r>
      </a:p>
    </p188:txBody>
  </p188:cm>
  <p188:cm id="{B153A75A-42BE-424C-837B-42CC41F7A3C0}" authorId="{099517E8-723E-4ED4-7F17-F6509FD77999}" created="2025-06-20T06:22:05.7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70962596" sldId="309"/>
      <ac:grpSpMk id="29" creationId="{09C68409-2E03-B495-9584-3D00CACB8247}"/>
    </ac:deMkLst>
    <p188:txBody>
      <a:bodyPr/>
      <a:lstStyle/>
      <a:p>
        <a:r>
          <a:rPr lang="ja-JP" altLang="en-US"/>
          <a:t>隙間ができると思うので大きく</a:t>
        </a:r>
      </a:p>
    </p188:txBody>
  </p188:cm>
</p188:cmLst>
</file>

<file path=ppt/comments/modernComment_138_31840B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DFA771-EC38-4D60-9836-3C0BC61F3CC0}" authorId="{099517E8-723E-4ED4-7F17-F6509FD77999}" created="2025-06-20T06:20:50.2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30737274" sldId="312"/>
      <ac:spMk id="5" creationId="{71B07F99-A3D8-88B0-EF16-37CCE98BA912}"/>
    </ac:deMkLst>
    <p188:txBody>
      <a:bodyPr/>
      <a:lstStyle/>
      <a:p>
        <a:r>
          <a:rPr lang="ja-JP" altLang="en-US"/>
          <a:t>フォントサイズ28</a:t>
        </a:r>
      </a:p>
    </p188:txBody>
  </p188:cm>
  <p188:cm id="{7DEB0577-F6B3-41E2-A051-925C26B71668}" authorId="{099517E8-723E-4ED4-7F17-F6509FD77999}" created="2025-06-20T06:20:58.3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737274" sldId="312"/>
      <ac:spMk id="6" creationId="{032AD1F2-8188-16FC-5FBF-4AE7BBB06E5A}"/>
      <ac:txMk cp="0" len="113">
        <ac:context len="114" hash="2123465892"/>
      </ac:txMk>
    </ac:txMkLst>
    <p188:pos x="6905336" y="258990"/>
    <p188:txBody>
      <a:bodyPr/>
      <a:lstStyle/>
      <a:p>
        <a:r>
          <a:rPr lang="ja-JP" altLang="en-US"/>
          <a:t>フォントサイズ24</a:t>
        </a:r>
      </a:p>
    </p188:txBody>
  </p188:cm>
  <p188:cm id="{EB8A3754-3546-4DB4-B663-C493024A7B28}" authorId="{099517E8-723E-4ED4-7F17-F6509FD77999}" created="2025-06-20T06:21:03.2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737274" sldId="312"/>
      <ac:spMk id="6" creationId="{032AD1F2-8188-16FC-5FBF-4AE7BBB06E5A}"/>
      <ac:txMk cp="27" len="4">
        <ac:context len="114" hash="2123465892"/>
      </ac:txMk>
    </ac:txMkLst>
    <p188:pos x="1742209" y="1136445"/>
    <p188:txBody>
      <a:bodyPr/>
      <a:lstStyle/>
      <a:p>
        <a:r>
          <a:rPr lang="ja-JP" altLang="en-US"/>
          <a:t>赤</a:t>
        </a:r>
      </a:p>
    </p188:txBody>
  </p188:cm>
  <p188:cm id="{90071785-EDB8-48DC-B745-210A2240181B}" authorId="{099517E8-723E-4ED4-7F17-F6509FD77999}" created="2025-06-20T06:21:08.9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737274" sldId="312"/>
      <ac:spMk id="6" creationId="{032AD1F2-8188-16FC-5FBF-4AE7BBB06E5A}"/>
      <ac:txMk cp="57" len="5">
        <ac:context len="114" hash="2123465892"/>
      </ac:txMk>
    </ac:txMkLst>
    <p188:pos x="1834573" y="2586554"/>
    <p188:txBody>
      <a:bodyPr/>
      <a:lstStyle/>
      <a:p>
        <a:r>
          <a:rPr lang="ja-JP" altLang="en-US"/>
          <a:t>赤</a:t>
        </a:r>
      </a:p>
    </p188:txBody>
  </p188:cm>
  <p188:cm id="{9BB33D40-B84F-4950-925B-438F9FB38C76}" authorId="{099517E8-723E-4ED4-7F17-F6509FD77999}" created="2025-06-20T06:21:19.4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737274" sldId="312"/>
      <ac:spMk id="6" creationId="{032AD1F2-8188-16FC-5FBF-4AE7BBB06E5A}"/>
      <ac:txMk cp="57" len="1">
        <ac:context len="114" hash="2123465892"/>
      </ac:txMk>
    </ac:txMkLst>
    <p188:pos x="1114136" y="2586554"/>
    <p188:txBody>
      <a:bodyPr/>
      <a:lstStyle/>
      <a:p>
        <a:r>
          <a:rPr lang="ja-JP" altLang="en-US"/>
          <a:t>この空白何？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6888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9275" y="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9A1B-85FF-42CD-90D1-9209CC27F400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8525" y="850900"/>
            <a:ext cx="306228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3775" y="3276600"/>
            <a:ext cx="7951788" cy="2679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65888"/>
            <a:ext cx="4306888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9275" y="6465888"/>
            <a:ext cx="430847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208F0-C6A9-46E5-966F-DB2B93D139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70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43000" y="2570163"/>
            <a:ext cx="6858000" cy="2387600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43000" y="5110164"/>
            <a:ext cx="6858000" cy="561975"/>
          </a:xfrm>
        </p:spPr>
        <p:txBody>
          <a:bodyPr>
            <a:noAutofit/>
          </a:bodyPr>
          <a:lstStyle>
            <a:lvl1pPr marL="0" indent="0" algn="l">
              <a:buNone/>
              <a:defRPr sz="27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5740400"/>
            <a:ext cx="6858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V="1">
            <a:off x="0" y="5029200"/>
            <a:ext cx="9144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15074" y="152400"/>
            <a:ext cx="2695576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47700"/>
            <a:ext cx="6858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15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4E2F823-F21B-CADC-A13C-D1449BB9CEE6}"/>
              </a:ext>
            </a:extLst>
          </p:cNvPr>
          <p:cNvCxnSpPr/>
          <p:nvPr userDrawn="1"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7">
            <a:extLst>
              <a:ext uri="{FF2B5EF4-FFF2-40B4-BE49-F238E27FC236}">
                <a16:creationId xmlns:a16="http://schemas.microsoft.com/office/drawing/2014/main" id="{1F248896-136B-1524-833E-8F615E919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目次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FCC5273-F979-4F77-088C-EB2AF8543B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895352"/>
            <a:ext cx="8324850" cy="5689803"/>
          </a:xfrm>
        </p:spPr>
        <p:txBody>
          <a:bodyPr>
            <a:normAutofit/>
          </a:bodyPr>
          <a:lstStyle>
            <a:lvl1pPr marL="385763" indent="-385763">
              <a:buClr>
                <a:schemeClr val="bg1">
                  <a:lumMod val="10000"/>
                </a:schemeClr>
              </a:buClr>
              <a:buFont typeface="+mj-lt"/>
              <a:buAutoNum type="arabicPeriod"/>
              <a:defRPr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685800" indent="0">
              <a:buNone/>
              <a:defRPr/>
            </a:lvl3pPr>
            <a:lvl4pPr marL="1285875" indent="-257175">
              <a:buFont typeface="+mj-lt"/>
              <a:buAutoNum type="arabicPeriod"/>
              <a:defRPr sz="2800"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大枠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スライドトピック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470781-0DB4-3D2A-0BED-87B7D8A20579}"/>
              </a:ext>
            </a:extLst>
          </p:cNvPr>
          <p:cNvSpPr txBox="1"/>
          <p:nvPr userDrawn="1"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152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1066802"/>
            <a:ext cx="8324850" cy="5518353"/>
          </a:xfrm>
        </p:spPr>
        <p:txBody>
          <a:bodyPr>
            <a:normAutofit/>
          </a:bodyPr>
          <a:lstStyle>
            <a:lvl1pPr marL="342900" indent="-342900"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939404" indent="-253604">
              <a:buFont typeface="游ゴシック Medium" panose="020B0500000000000000" pitchFamily="50" charset="-128"/>
              <a:buChar char="-"/>
              <a:defRPr sz="20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 userDrawn="1"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 userDrawn="1"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09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19100" y="1016000"/>
            <a:ext cx="8324850" cy="938159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2013155"/>
            <a:ext cx="8324850" cy="45720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l"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20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 userDrawn="1"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 userDrawn="1"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87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(下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24631" y="5563420"/>
            <a:ext cx="8324850" cy="938159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24631" y="958646"/>
            <a:ext cx="8324850" cy="4572000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85800" marR="0" indent="-34290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24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 userDrawn="1"/>
        </p:nvSpPr>
        <p:spPr>
          <a:xfrm>
            <a:off x="8620125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 userDrawn="1"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616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995DA-7AA7-4280-9381-812B520A3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43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5" r:id="rId2"/>
    <p:sldLayoutId id="2147483697" r:id="rId3"/>
    <p:sldLayoutId id="2147483694" r:id="rId4"/>
    <p:sldLayoutId id="2147483696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4566" indent="-334566" algn="l" defTabSz="685800" rtl="0" eaLnBrk="1" latinLnBrk="0" hangingPunct="1">
        <a:lnSpc>
          <a:spcPct val="110000"/>
        </a:lnSpc>
        <a:spcBef>
          <a:spcPts val="135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673894" indent="-33099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39404" indent="-25360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79922" indent="-251222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613297" indent="-241697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28_5725FBA4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31_307EFED9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5D2D54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3B_6A21B2F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2F_840EDBC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E_F6E4DEA0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3C_45756C6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34_C80A950B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33_6E95A29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8_31840B7A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5_9347E5A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A84E3F5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E9A15EBE-95FE-8DAA-9DF3-9F621A44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6" t="22806" r="7659" b="-3"/>
          <a:stretch/>
        </p:blipFill>
        <p:spPr>
          <a:xfrm>
            <a:off x="0" y="1"/>
            <a:ext cx="9144000" cy="3168016"/>
          </a:xfrm>
          <a:custGeom>
            <a:avLst/>
            <a:gdLst>
              <a:gd name="connsiteX0" fmla="*/ 0 w 4483185"/>
              <a:gd name="connsiteY0" fmla="*/ -213 h 2234175"/>
              <a:gd name="connsiteX1" fmla="*/ 4483186 w 4483185"/>
              <a:gd name="connsiteY1" fmla="*/ -213 h 2234175"/>
              <a:gd name="connsiteX2" fmla="*/ 4483186 w 4483185"/>
              <a:gd name="connsiteY2" fmla="*/ 2233963 h 2234175"/>
              <a:gd name="connsiteX3" fmla="*/ 0 w 4483185"/>
              <a:gd name="connsiteY3" fmla="*/ 2233963 h 223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3185" h="2234175">
                <a:moveTo>
                  <a:pt x="0" y="-213"/>
                </a:moveTo>
                <a:lnTo>
                  <a:pt x="4483186" y="-213"/>
                </a:lnTo>
                <a:lnTo>
                  <a:pt x="4483186" y="2233963"/>
                </a:lnTo>
                <a:lnTo>
                  <a:pt x="0" y="2233963"/>
                </a:lnTo>
                <a:close/>
              </a:path>
            </a:pathLst>
          </a:cu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727713"/>
            <a:ext cx="6858000" cy="1790700"/>
          </a:xfrm>
        </p:spPr>
        <p:txBody>
          <a:bodyPr/>
          <a:lstStyle/>
          <a:p>
            <a:r>
              <a:rPr kumimoji="1" lang="en-US" altLang="ja-JP" dirty="0"/>
              <a:t>RGB</a:t>
            </a:r>
            <a:r>
              <a:rPr kumimoji="1" lang="ja-JP" altLang="en-US" dirty="0"/>
              <a:t>魚眼カメラで</a:t>
            </a:r>
            <a:br>
              <a:rPr lang="en-US" altLang="ja-JP" dirty="0"/>
            </a:br>
            <a:r>
              <a:rPr lang="en-US" altLang="ja-JP" dirty="0"/>
              <a:t>360</a:t>
            </a:r>
            <a:r>
              <a:rPr lang="ja-JP" altLang="en-US" dirty="0"/>
              <a:t>度パノラマ深さ画像作成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髙岸司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電</a:t>
            </a:r>
            <a:r>
              <a:rPr kumimoji="1" lang="en-US" altLang="ja-JP" dirty="0"/>
              <a:t>22</a:t>
            </a:r>
            <a:r>
              <a:rPr lang="en-US" altLang="ja-JP" dirty="0"/>
              <a:t>-94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0859DB87-65E9-EDAC-E169-96069C698D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7779" y="6210300"/>
            <a:ext cx="2695576" cy="378541"/>
          </a:xfrm>
        </p:spPr>
        <p:txBody>
          <a:bodyPr/>
          <a:lstStyle/>
          <a:p>
            <a:pPr algn="r"/>
            <a:r>
              <a:rPr lang="en-US" altLang="ja-JP" dirty="0"/>
              <a:t>2025/6/26</a:t>
            </a:r>
            <a:br>
              <a:rPr lang="en-US" altLang="ja-JP" dirty="0"/>
            </a:br>
            <a:r>
              <a:rPr lang="ja-JP" altLang="en-US" dirty="0"/>
              <a:t>中間発表</a:t>
            </a:r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B8859C1-886D-DF61-024A-6037B6F9D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663865-65A8-B79C-6BB4-F4DE8798B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kumimoji="1" lang="ja-JP" altLang="en-US" dirty="0"/>
              <a:t>背景と目的</a:t>
            </a:r>
            <a:endParaRPr kumimoji="1" lang="en-US" altLang="ja-JP" dirty="0"/>
          </a:p>
          <a:p>
            <a:pPr>
              <a:lnSpc>
                <a:spcPct val="170000"/>
              </a:lnSpc>
            </a:pPr>
            <a:r>
              <a:rPr lang="ja-JP" altLang="en-US" dirty="0"/>
              <a:t>ハードウェア構成</a:t>
            </a:r>
            <a:endParaRPr lang="en-US" altLang="ja-JP" dirty="0"/>
          </a:p>
          <a:p>
            <a:pPr>
              <a:lnSpc>
                <a:spcPct val="170000"/>
              </a:lnSpc>
            </a:pPr>
            <a:r>
              <a:rPr kumimoji="1" lang="ja-JP" altLang="en-US" dirty="0"/>
              <a:t>深度測定</a:t>
            </a:r>
            <a:endParaRPr kumimoji="1" lang="en-US" altLang="ja-JP" dirty="0"/>
          </a:p>
          <a:p>
            <a:pPr>
              <a:lnSpc>
                <a:spcPct val="170000"/>
              </a:lnSpc>
            </a:pPr>
            <a:r>
              <a:rPr lang="ja-JP" altLang="en-US" dirty="0"/>
              <a:t>フィルタリング</a:t>
            </a:r>
            <a:endParaRPr lang="en-US" altLang="ja-JP" dirty="0"/>
          </a:p>
          <a:p>
            <a:pPr>
              <a:lnSpc>
                <a:spcPct val="170000"/>
              </a:lnSpc>
            </a:pPr>
            <a:r>
              <a:rPr kumimoji="1" lang="ja-JP" altLang="en-US" dirty="0"/>
              <a:t>スティッチング</a:t>
            </a:r>
            <a:endParaRPr kumimoji="1" lang="en-US" altLang="ja-JP" dirty="0"/>
          </a:p>
          <a:p>
            <a:pPr>
              <a:lnSpc>
                <a:spcPct val="170000"/>
              </a:lnSpc>
            </a:pPr>
            <a:r>
              <a:rPr kumimoji="1" lang="ja-JP" altLang="en-US" dirty="0"/>
              <a:t>これから</a:t>
            </a:r>
            <a:r>
              <a:rPr lang="ja-JP" altLang="en-US" dirty="0"/>
              <a:t>やること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269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FE577A1-E4D3-FA60-379D-2789D4903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066802"/>
            <a:ext cx="8324850" cy="579119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目的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リアルタイムで</a:t>
            </a:r>
            <a:r>
              <a:rPr lang="en-US" altLang="ja-JP" dirty="0"/>
              <a:t>360°</a:t>
            </a:r>
            <a:r>
              <a:rPr lang="ja-JP" altLang="en-US" dirty="0"/>
              <a:t>距離マップの生成システムの構築</a:t>
            </a:r>
            <a:endParaRPr lang="en-US" altLang="ja-JP" dirty="0"/>
          </a:p>
          <a:p>
            <a:r>
              <a:rPr lang="ja-JP" altLang="en-US" dirty="0"/>
              <a:t>背景</a:t>
            </a:r>
            <a:endParaRPr lang="en-US" altLang="ja-JP" dirty="0"/>
          </a:p>
          <a:p>
            <a:pPr lvl="1"/>
            <a:r>
              <a:rPr lang="ja-JP" altLang="en-US" dirty="0"/>
              <a:t>魚眼レンズに従来手法を使えない</a:t>
            </a:r>
            <a:endParaRPr lang="en-US" altLang="ja-JP" dirty="0"/>
          </a:p>
          <a:p>
            <a:pPr lvl="2"/>
            <a:r>
              <a:rPr lang="ja-JP" altLang="en-US" dirty="0"/>
              <a:t>従来の方法はピンホールモデルのカメラを</a:t>
            </a:r>
            <a:br>
              <a:rPr lang="en-US" altLang="ja-JP" dirty="0"/>
            </a:br>
            <a:r>
              <a:rPr lang="ja-JP" altLang="en-US" dirty="0"/>
              <a:t>前提としているので光学特性上適用できない</a:t>
            </a:r>
            <a:endParaRPr lang="en-US" altLang="ja-JP" dirty="0"/>
          </a:p>
          <a:p>
            <a:pPr lvl="1"/>
            <a:r>
              <a:rPr lang="ja-JP" altLang="en-US" dirty="0"/>
              <a:t>リアルタイム性能を達成していない</a:t>
            </a:r>
            <a:endParaRPr lang="en-US" altLang="ja-JP" dirty="0"/>
          </a:p>
          <a:p>
            <a:pPr lvl="2"/>
            <a:r>
              <a:rPr lang="ja-JP" altLang="en-US" dirty="0"/>
              <a:t>魚眼レンズを用いた全方位カメラ構成では、その光学的特性により性能と精度の間にトレードオフが生じる</a:t>
            </a:r>
            <a:endParaRPr lang="en-US" altLang="ja-JP" dirty="0"/>
          </a:p>
          <a:p>
            <a:pPr lvl="1"/>
            <a:r>
              <a:rPr lang="ja-JP" altLang="en-US" dirty="0"/>
              <a:t>鶏と卵の問題</a:t>
            </a:r>
            <a:endParaRPr lang="en-US" altLang="ja-JP" dirty="0"/>
          </a:p>
          <a:p>
            <a:pPr lvl="2"/>
            <a:r>
              <a:rPr lang="ja-JP" altLang="en-US" dirty="0"/>
              <a:t>複数の魚眼画像を正確な</a:t>
            </a:r>
            <a:r>
              <a:rPr lang="en-US" altLang="ja-JP" dirty="0"/>
              <a:t>360°</a:t>
            </a:r>
            <a:r>
              <a:rPr lang="ja-JP" altLang="en-US" dirty="0"/>
              <a:t>パノラマ画像として統合するためには、密な</a:t>
            </a:r>
            <a:r>
              <a:rPr lang="en-US" altLang="ja-JP" dirty="0"/>
              <a:t>360°</a:t>
            </a:r>
            <a:r>
              <a:rPr lang="ja-JP" altLang="en-US" dirty="0"/>
              <a:t>の距離マップが必要</a:t>
            </a:r>
            <a:endParaRPr lang="en-US" altLang="ja-JP" dirty="0"/>
          </a:p>
          <a:p>
            <a:pPr lvl="2"/>
            <a:r>
              <a:rPr lang="ja-JP" altLang="en-US" dirty="0"/>
              <a:t>ノイズが少なく鮮明な</a:t>
            </a:r>
            <a:r>
              <a:rPr lang="en-US" altLang="ja-JP" dirty="0"/>
              <a:t>360°</a:t>
            </a:r>
            <a:r>
              <a:rPr lang="ja-JP" altLang="en-US" dirty="0"/>
              <a:t>の密な距離マップを得るためにはガイドとなる</a:t>
            </a:r>
            <a:r>
              <a:rPr lang="en-US" altLang="ja-JP" dirty="0"/>
              <a:t>360°</a:t>
            </a:r>
            <a:r>
              <a:rPr lang="ja-JP" altLang="en-US" dirty="0"/>
              <a:t>パノラマ画像が必要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78B09E3-C0AE-EA81-ECC0-7AE156F31F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背景と目的</a:t>
            </a:r>
          </a:p>
        </p:txBody>
      </p:sp>
    </p:spTree>
    <p:extLst>
      <p:ext uri="{BB962C8B-B14F-4D97-AF65-F5344CB8AC3E}">
        <p14:creationId xmlns:p14="http://schemas.microsoft.com/office/powerpoint/2010/main" val="11122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D72368-C54F-C515-DBB0-F0D2164E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954213"/>
            <a:ext cx="8324850" cy="463094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  <a:t>Sony IMX477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センサーを搭載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rgbClr val="FF0000"/>
                </a:solidFill>
              </a:rPr>
              <a:t>220°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の視野角 </a:t>
            </a:r>
            <a: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  <a:t>(</a:t>
            </a:r>
            <a:r>
              <a:rPr kumimoji="1" lang="en-US" altLang="ja-JP" sz="2400" dirty="0" err="1">
                <a:solidFill>
                  <a:schemeClr val="bg1">
                    <a:lumMod val="10000"/>
                  </a:schemeClr>
                </a:solidFill>
              </a:rPr>
              <a:t>FoV</a:t>
            </a:r>
            <a: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  <a:t>) 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を持つ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入力される魚眼画像は</a:t>
            </a:r>
            <a:b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</a:br>
            <a:r>
              <a:rPr kumimoji="1" lang="en-US" altLang="ja-JP" sz="2400" dirty="0">
                <a:solidFill>
                  <a:srgbClr val="FF0000"/>
                </a:solidFill>
              </a:rPr>
              <a:t>1216 × 1216</a:t>
            </a:r>
            <a:r>
              <a:rPr kumimoji="1" lang="ja-JP" altLang="en-US" sz="2400" dirty="0">
                <a:solidFill>
                  <a:srgbClr val="FF0000"/>
                </a:solidFill>
              </a:rPr>
              <a:t>ピクセル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の解像度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  <a:t>2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台のカメラで視野全体を</a:t>
            </a:r>
            <a:b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</a:b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カバーできる限り一般化可能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 err="1">
                <a:solidFill>
                  <a:schemeClr val="bg1">
                    <a:lumMod val="10000"/>
                  </a:schemeClr>
                </a:solidFill>
              </a:rPr>
              <a:t>JetsonAGXXavier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ja-JP" altLang="en-US" sz="24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D97C88-1F98-B85E-AA3A-94D6885D91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ハードウェア構成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01DF9D2-51E2-9160-EF68-44184B63D6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9100" y="959174"/>
            <a:ext cx="8324850" cy="938213"/>
          </a:xfrm>
        </p:spPr>
        <p:txBody>
          <a:bodyPr>
            <a:normAutofit/>
          </a:bodyPr>
          <a:lstStyle/>
          <a:p>
            <a:r>
              <a:rPr kumimoji="1" lang="en-US" altLang="ja-JP" sz="2400" dirty="0">
                <a:solidFill>
                  <a:schemeClr val="bg1">
                    <a:lumMod val="10000"/>
                  </a:schemeClr>
                </a:solidFill>
              </a:rPr>
              <a:t>4</a:t>
            </a: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つの魚眼カメラを四方に配置する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D4BC0C1-D8A5-7704-91E8-AC7417A5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145" y="818126"/>
            <a:ext cx="2292823" cy="5754030"/>
          </a:xfrm>
          <a:custGeom>
            <a:avLst/>
            <a:gdLst>
              <a:gd name="connsiteX0" fmla="*/ 0 w 667693"/>
              <a:gd name="connsiteY0" fmla="*/ -213 h 1675631"/>
              <a:gd name="connsiteX1" fmla="*/ 667694 w 667693"/>
              <a:gd name="connsiteY1" fmla="*/ -213 h 1675631"/>
              <a:gd name="connsiteX2" fmla="*/ 667694 w 667693"/>
              <a:gd name="connsiteY2" fmla="*/ 1675419 h 1675631"/>
              <a:gd name="connsiteX3" fmla="*/ 0 w 667693"/>
              <a:gd name="connsiteY3" fmla="*/ 1675419 h 16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693" h="1675631">
                <a:moveTo>
                  <a:pt x="0" y="-213"/>
                </a:moveTo>
                <a:lnTo>
                  <a:pt x="667694" y="-213"/>
                </a:lnTo>
                <a:lnTo>
                  <a:pt x="667694" y="1675419"/>
                </a:lnTo>
                <a:lnTo>
                  <a:pt x="0" y="1675419"/>
                </a:lnTo>
                <a:close/>
              </a:path>
            </a:pathLst>
          </a:cu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D06A3FE5-666F-06FE-52C8-AFAF8E5BB844}"/>
              </a:ext>
            </a:extLst>
          </p:cNvPr>
          <p:cNvSpPr/>
          <p:nvPr/>
        </p:nvSpPr>
        <p:spPr>
          <a:xfrm>
            <a:off x="6632807" y="10160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45E890A-6598-915F-F721-AB2BE0899A57}"/>
              </a:ext>
            </a:extLst>
          </p:cNvPr>
          <p:cNvSpPr/>
          <p:nvPr/>
        </p:nvSpPr>
        <p:spPr>
          <a:xfrm>
            <a:off x="7130951" y="851707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CC1A536C-6351-7D91-47A2-872B72712A09}"/>
              </a:ext>
            </a:extLst>
          </p:cNvPr>
          <p:cNvSpPr/>
          <p:nvPr/>
        </p:nvSpPr>
        <p:spPr>
          <a:xfrm>
            <a:off x="7144595" y="2293821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8AD700F-E729-56C2-F9E6-E03F3E67DED9}"/>
              </a:ext>
            </a:extLst>
          </p:cNvPr>
          <p:cNvSpPr/>
          <p:nvPr/>
        </p:nvSpPr>
        <p:spPr>
          <a:xfrm>
            <a:off x="6646451" y="2152033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6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0" grpId="0" animBg="1"/>
      <p:bldP spid="11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824B41A8-65EC-8304-B403-DC80E73D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球面のまま処理したらいい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71F1FE-EB35-3E2B-444F-A3698F630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31" y="958646"/>
            <a:ext cx="8324850" cy="460477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buClrTx/>
              <a:buFont typeface="Wingdings" panose="05000000000000000000" pitchFamily="2" charset="2"/>
              <a:buChar char="n"/>
            </a:pPr>
            <a:r>
              <a:rPr kumimoji="1" lang="ja-JP" altLang="en-US" sz="2400" dirty="0">
                <a:solidFill>
                  <a:schemeClr val="bg1">
                    <a:lumMod val="10000"/>
                  </a:schemeClr>
                </a:solidFill>
              </a:rPr>
              <a:t>従来のピンホールモデルで距離を取るには</a:t>
            </a:r>
            <a:endParaRPr kumimoji="1"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 lvl="1">
              <a:lnSpc>
                <a:spcPct val="170000"/>
              </a:lnSpc>
            </a:pPr>
            <a:r>
              <a:rPr lang="ja-JP" altLang="en-US" dirty="0">
                <a:solidFill>
                  <a:schemeClr val="bg1">
                    <a:lumMod val="10000"/>
                  </a:schemeClr>
                </a:solidFill>
              </a:rPr>
              <a:t>二つのカメラの視差（ズレ）から距離を測る</a:t>
            </a:r>
            <a:br>
              <a:rPr lang="en-US" altLang="ja-JP" dirty="0">
                <a:solidFill>
                  <a:schemeClr val="bg1">
                    <a:lumMod val="10000"/>
                  </a:schemeClr>
                </a:solidFill>
              </a:rPr>
            </a:br>
            <a:r>
              <a:rPr lang="ja-JP" altLang="en-US" dirty="0">
                <a:solidFill>
                  <a:schemeClr val="bg1">
                    <a:lumMod val="10000"/>
                  </a:schemeClr>
                </a:solidFill>
              </a:rPr>
              <a:t>←点の対応情報から分析する</a:t>
            </a:r>
            <a:endParaRPr lang="en-US" altLang="ja-JP" dirty="0">
              <a:solidFill>
                <a:schemeClr val="bg1">
                  <a:lumMod val="10000"/>
                </a:schemeClr>
              </a:solidFill>
            </a:endParaRPr>
          </a:p>
          <a:p>
            <a:pPr marL="342900" indent="-342900">
              <a:lnSpc>
                <a:spcPct val="170000"/>
              </a:lnSpc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</a:pPr>
            <a:r>
              <a:rPr lang="ja-JP" altLang="en-US" sz="2400" dirty="0">
                <a:solidFill>
                  <a:schemeClr val="bg1">
                    <a:lumMod val="10000"/>
                  </a:schemeClr>
                </a:solidFill>
              </a:rPr>
              <a:t>魚眼カメラは光学特性上歪みを生じる</a:t>
            </a:r>
            <a:endParaRPr lang="en-US" altLang="ja-JP" sz="2400" dirty="0">
              <a:solidFill>
                <a:schemeClr val="bg1">
                  <a:lumMod val="10000"/>
                </a:schemeClr>
              </a:solidFill>
            </a:endParaRPr>
          </a:p>
          <a:p>
            <a:pPr lvl="1">
              <a:lnSpc>
                <a:spcPct val="170000"/>
              </a:lnSpc>
            </a:pPr>
            <a:r>
              <a:rPr kumimoji="1" lang="ja-JP" altLang="en-US" dirty="0">
                <a:solidFill>
                  <a:schemeClr val="bg1">
                    <a:lumMod val="10000"/>
                  </a:schemeClr>
                </a:solidFill>
              </a:rPr>
              <a:t>歪みを補正して平面画像と同じように</a:t>
            </a:r>
            <a:br>
              <a:rPr kumimoji="1" lang="en-US" altLang="ja-JP" dirty="0">
                <a:solidFill>
                  <a:schemeClr val="bg1">
                    <a:lumMod val="10000"/>
                  </a:schemeClr>
                </a:solidFill>
              </a:rPr>
            </a:br>
            <a:r>
              <a:rPr kumimoji="1" lang="ja-JP" altLang="en-US" dirty="0">
                <a:solidFill>
                  <a:schemeClr val="bg1">
                    <a:lumMod val="10000"/>
                  </a:schemeClr>
                </a:solidFill>
              </a:rPr>
              <a:t>処理しようとする→正確性</a:t>
            </a:r>
            <a:r>
              <a:rPr kumimoji="1" lang="en-US" altLang="ja-JP" dirty="0">
                <a:solidFill>
                  <a:schemeClr val="bg1">
                    <a:lumMod val="10000"/>
                  </a:schemeClr>
                </a:solidFill>
              </a:rPr>
              <a:t>×</a:t>
            </a:r>
            <a:r>
              <a:rPr kumimoji="1" lang="ja-JP" altLang="en-US" dirty="0">
                <a:solidFill>
                  <a:schemeClr val="bg1">
                    <a:lumMod val="10000"/>
                  </a:schemeClr>
                </a:solidFill>
              </a:rPr>
              <a:t>処理速度</a:t>
            </a:r>
            <a:r>
              <a:rPr kumimoji="1" lang="en-US" altLang="ja-JP" dirty="0">
                <a:solidFill>
                  <a:schemeClr val="bg1">
                    <a:lumMod val="10000"/>
                  </a:schemeClr>
                </a:solidFill>
              </a:rPr>
              <a:t>×</a:t>
            </a:r>
            <a:endParaRPr kumimoji="1" lang="ja-JP" alt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8043E8-D451-5B95-7754-DB921B4A7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従来の方法の問題点と解決</a:t>
            </a:r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793B10C1-458F-30AA-651A-AF1D299BE392}"/>
              </a:ext>
            </a:extLst>
          </p:cNvPr>
          <p:cNvSpPr/>
          <p:nvPr/>
        </p:nvSpPr>
        <p:spPr>
          <a:xfrm>
            <a:off x="2458281" y="4967631"/>
            <a:ext cx="482751" cy="736309"/>
          </a:xfrm>
          <a:prstGeom prst="downArrow">
            <a:avLst/>
          </a:prstGeom>
          <a:solidFill>
            <a:srgbClr val="3E92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5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build="p"/>
      <p:bldP spid="2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コンテンツ プレースホルダー 2">
            <a:extLst>
              <a:ext uri="{FF2B5EF4-FFF2-40B4-BE49-F238E27FC236}">
                <a16:creationId xmlns:a16="http://schemas.microsoft.com/office/drawing/2014/main" id="{A6489D20-D89C-8DCD-EC24-18BE8611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760561"/>
            <a:ext cx="8324850" cy="4824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400" b="0" dirty="0">
                <a:solidFill>
                  <a:schemeClr val="bg1">
                    <a:lumMod val="10000"/>
                  </a:schemeClr>
                </a:solidFill>
              </a:rPr>
              <a:t>球面に画像</a:t>
            </a:r>
            <a:r>
              <a:rPr kumimoji="1" lang="en-US" altLang="ja-JP" sz="2400" b="0" dirty="0">
                <a:solidFill>
                  <a:schemeClr val="bg1">
                    <a:lumMod val="10000"/>
                  </a:schemeClr>
                </a:solidFill>
              </a:rPr>
              <a:t>(</a:t>
            </a:r>
            <a:r>
              <a:rPr kumimoji="1" lang="ja-JP" altLang="en-US" sz="2400" b="0" dirty="0">
                <a:solidFill>
                  <a:schemeClr val="bg1">
                    <a:lumMod val="10000"/>
                  </a:schemeClr>
                </a:solidFill>
              </a:rPr>
              <a:t>ピクセル</a:t>
            </a:r>
            <a:r>
              <a:rPr kumimoji="1" lang="en-US" altLang="ja-JP" sz="2400" b="0" dirty="0">
                <a:solidFill>
                  <a:schemeClr val="bg1">
                    <a:lumMod val="10000"/>
                  </a:schemeClr>
                </a:solidFill>
              </a:rPr>
              <a:t>)</a:t>
            </a:r>
            <a:r>
              <a:rPr kumimoji="1" lang="ja-JP" altLang="en-US" sz="2400" b="0" dirty="0">
                <a:solidFill>
                  <a:schemeClr val="bg1">
                    <a:lumMod val="10000"/>
                  </a:schemeClr>
                </a:solidFill>
              </a:rPr>
              <a:t>が投影されている</a:t>
            </a:r>
            <a:endParaRPr kumimoji="1" lang="en-US" altLang="ja-JP" sz="2400" b="0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b="0" dirty="0"/>
              <a:t>ピクセルの座標は中心からの方向ベクトルだけでいいので</a:t>
            </a:r>
            <a:r>
              <a:rPr lang="en-US" altLang="ja-JP" b="0" dirty="0"/>
              <a:t>(</a:t>
            </a:r>
            <a:r>
              <a:rPr lang="ja-JP" altLang="en-US" b="0" dirty="0"/>
              <a:t>𝜃</a:t>
            </a:r>
            <a:r>
              <a:rPr lang="en-US" altLang="ja-JP" b="0" dirty="0"/>
              <a:t>,</a:t>
            </a:r>
            <a:r>
              <a:rPr lang="ja-JP" altLang="en-US" b="0" dirty="0"/>
              <a:t>𝜑</a:t>
            </a:r>
            <a:r>
              <a:rPr lang="en-US" altLang="ja-JP" b="0" dirty="0"/>
              <a:t>)</a:t>
            </a:r>
            <a:r>
              <a:rPr lang="ja-JP" altLang="en-US" b="0" dirty="0"/>
              <a:t>で表される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0E7ECA-03EB-ECD5-C399-240055C3BA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画像</a:t>
            </a:r>
            <a:r>
              <a:rPr kumimoji="1" lang="ja-JP" altLang="en-US" dirty="0"/>
              <a:t>を平面ではなく球面で捉える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7EF6CE4-1549-17E0-AF38-F7244A21B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1" y="3518330"/>
            <a:ext cx="2730904" cy="2730904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E50A5DBC-62AC-6E28-EFCA-30F87FC056EA}"/>
              </a:ext>
            </a:extLst>
          </p:cNvPr>
          <p:cNvGrpSpPr/>
          <p:nvPr/>
        </p:nvGrpSpPr>
        <p:grpSpPr>
          <a:xfrm>
            <a:off x="5710284" y="3563890"/>
            <a:ext cx="2730903" cy="2730904"/>
            <a:chOff x="4876799" y="1911351"/>
            <a:chExt cx="1913753" cy="1853440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8FFAA23-6999-752B-16EC-34F2AB6F8B44}"/>
                </a:ext>
              </a:extLst>
            </p:cNvPr>
            <p:cNvSpPr/>
            <p:nvPr/>
          </p:nvSpPr>
          <p:spPr>
            <a:xfrm>
              <a:off x="4876799" y="1911351"/>
              <a:ext cx="1913753" cy="185344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87F64DFE-ED52-FC00-CFDF-DAEB5C4720B4}"/>
                </a:ext>
              </a:extLst>
            </p:cNvPr>
            <p:cNvGrpSpPr/>
            <p:nvPr/>
          </p:nvGrpSpPr>
          <p:grpSpPr>
            <a:xfrm>
              <a:off x="4876799" y="1911351"/>
              <a:ext cx="1600201" cy="1758948"/>
              <a:chOff x="4571999" y="1911351"/>
              <a:chExt cx="1600201" cy="1758948"/>
            </a:xfrm>
          </p:grpSpPr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58263115-27DE-8809-EDD7-868CAF250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84" t="68152" r="71619" b="4379"/>
              <a:stretch/>
            </p:blipFill>
            <p:spPr>
              <a:xfrm>
                <a:off x="4695006" y="1911351"/>
                <a:ext cx="1477194" cy="974992"/>
              </a:xfrm>
              <a:prstGeom prst="rect">
                <a:avLst/>
              </a:prstGeom>
            </p:spPr>
          </p:pic>
          <p:pic>
            <p:nvPicPr>
              <p:cNvPr id="25" name="図 24" descr="グラフ, レーダー チャート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1F583C66-1522-AEA4-E854-5DCACDFE4F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494" t="68637" r="23655" b="8076"/>
              <a:stretch/>
            </p:blipFill>
            <p:spPr>
              <a:xfrm>
                <a:off x="4571999" y="2886342"/>
                <a:ext cx="1187759" cy="783957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D220EB2-9629-EC29-7570-6A7189DD0789}"/>
                  </a:ext>
                </a:extLst>
              </p:cNvPr>
              <p:cNvSpPr txBox="1"/>
              <p:nvPr/>
            </p:nvSpPr>
            <p:spPr>
              <a:xfrm>
                <a:off x="3554690" y="5374659"/>
                <a:ext cx="19800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000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游ゴシック" panose="020B0400000000000000" pitchFamily="50" charset="-128"/>
                      </a:rPr>
                      <m:t>平面の</m:t>
                    </m:r>
                  </m:oMath>
                </a14:m>
                <a:r>
                  <a:rPr kumimoji="1" lang="ja-JP" altLang="en-US" sz="2000" dirty="0">
                    <a:solidFill>
                      <a:schemeClr val="bg1">
                        <a:lumMod val="10000"/>
                      </a:schemeClr>
                    </a:solidFill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図で表す</a:t>
                </a:r>
                <a:endParaRPr kumimoji="1" lang="en-US" altLang="ja-JP" sz="2000" dirty="0">
                  <a:solidFill>
                    <a:schemeClr val="bg1">
                      <a:lumMod val="10000"/>
                    </a:schemeClr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D220EB2-9629-EC29-7570-6A7189DD0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690" y="5374659"/>
                <a:ext cx="1980029" cy="400110"/>
              </a:xfrm>
              <a:prstGeom prst="rect">
                <a:avLst/>
              </a:prstGeom>
              <a:blipFill>
                <a:blip r:embed="rId5"/>
                <a:stretch>
                  <a:fillRect l="-923" t="-7692" r="-2769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641829-D6E5-7685-A37C-34D14E319FD7}"/>
              </a:ext>
            </a:extLst>
          </p:cNvPr>
          <p:cNvSpPr txBox="1"/>
          <p:nvPr/>
        </p:nvSpPr>
        <p:spPr>
          <a:xfrm>
            <a:off x="419100" y="1112590"/>
            <a:ext cx="5786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b="1" dirty="0">
                <a:solidFill>
                  <a:schemeClr val="bg1">
                    <a:lumMod val="10000"/>
                  </a:schemeClr>
                </a:solidFill>
              </a:rPr>
              <a:t>魚眼レンズの表し方</a:t>
            </a:r>
            <a:endParaRPr kumimoji="1" lang="en-US" altLang="ja-JP" sz="2400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1555732D-A13E-1EA0-E6BB-4FD182675933}"/>
              </a:ext>
            </a:extLst>
          </p:cNvPr>
          <p:cNvSpPr/>
          <p:nvPr/>
        </p:nvSpPr>
        <p:spPr>
          <a:xfrm rot="16200000">
            <a:off x="4185034" y="4307908"/>
            <a:ext cx="482751" cy="1151747"/>
          </a:xfrm>
          <a:prstGeom prst="downArrow">
            <a:avLst/>
          </a:prstGeom>
          <a:solidFill>
            <a:srgbClr val="3E92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59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部分円 8">
            <a:extLst>
              <a:ext uri="{FF2B5EF4-FFF2-40B4-BE49-F238E27FC236}">
                <a16:creationId xmlns:a16="http://schemas.microsoft.com/office/drawing/2014/main" id="{72A542DA-2566-78A9-94D4-15C575D0C735}"/>
              </a:ext>
            </a:extLst>
          </p:cNvPr>
          <p:cNvSpPr/>
          <p:nvPr/>
        </p:nvSpPr>
        <p:spPr>
          <a:xfrm rot="2565440">
            <a:off x="1083806" y="2731428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A52953EB-98E3-83E1-87A5-6F091474B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4631" y="4027288"/>
                <a:ext cx="8324850" cy="274200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250000"/>
                  </a:lnSpc>
                  <a:buNone/>
                </a:pPr>
                <a:r>
                  <a:rPr lang="ja-JP" altLang="en-US" dirty="0">
                    <a:solidFill>
                      <a:schemeClr val="bg1">
                        <a:lumMod val="10000"/>
                      </a:schemeClr>
                    </a:solidFill>
                  </a:rPr>
                  <a:t>他カメラから見た黒点の座標を出す</a:t>
                </a:r>
                <a:endParaRPr lang="en-US" altLang="ja-JP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endParaRPr lang="en-US" altLang="ja-JP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bg1">
                        <a:lumMod val="10000"/>
                      </a:schemeClr>
                    </a:solidFill>
                  </a:rPr>
                  <a:t>:</a:t>
                </a:r>
                <a:r>
                  <a:rPr lang="ja-JP" altLang="en-US" dirty="0">
                    <a:solidFill>
                      <a:schemeClr val="bg1">
                        <a:lumMod val="10000"/>
                      </a:schemeClr>
                    </a:solidFill>
                  </a:rPr>
                  <a:t>補助カメラの回転行列，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b="0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bg1">
                        <a:lumMod val="10000"/>
                      </a:schemeClr>
                    </a:solidFill>
                  </a:rPr>
                  <a:t>:</a:t>
                </a:r>
                <a:r>
                  <a:rPr lang="ja-JP" altLang="en-US" dirty="0">
                    <a:solidFill>
                      <a:schemeClr val="bg1">
                        <a:lumMod val="10000"/>
                      </a:schemeClr>
                    </a:solidFill>
                  </a:rPr>
                  <a:t>補助カメラの移動行列</a:t>
                </a:r>
                <a:endParaRPr lang="en-US" altLang="ja-JP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lvl="1"/>
                <a:endParaRPr lang="en-US" altLang="ja-JP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endParaRPr lang="ja-JP" altLang="en-US" dirty="0"/>
              </a:p>
            </p:txBody>
          </p:sp>
        </mc:Choice>
        <mc:Fallback xmlns="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A52953EB-98E3-83E1-87A5-6F091474B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631" y="4027288"/>
                <a:ext cx="8324850" cy="2742002"/>
              </a:xfrm>
              <a:blipFill>
                <a:blip r:embed="rId3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0E7ECA-03EB-ECD5-C399-240055C3BA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他カメラから見た点</a:t>
            </a:r>
            <a:r>
              <a:rPr lang="en-US" altLang="ja-JP" dirty="0"/>
              <a:t>(</a:t>
            </a:r>
            <a:r>
              <a:rPr lang="ja-JP" altLang="en-US" dirty="0"/>
              <a:t>赤点</a:t>
            </a:r>
            <a:r>
              <a:rPr lang="en-US" altLang="ja-JP" dirty="0"/>
              <a:t>)</a:t>
            </a:r>
            <a:r>
              <a:rPr lang="ja-JP" altLang="en-US" dirty="0"/>
              <a:t>を再生成する</a:t>
            </a:r>
            <a:endParaRPr lang="en-US" altLang="ja-JP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37C824F-E269-B4E8-A86A-FCB8EBDCD6F2}"/>
              </a:ext>
            </a:extLst>
          </p:cNvPr>
          <p:cNvGrpSpPr/>
          <p:nvPr/>
        </p:nvGrpSpPr>
        <p:grpSpPr>
          <a:xfrm>
            <a:off x="1323167" y="1246624"/>
            <a:ext cx="3306035" cy="2034872"/>
            <a:chOff x="1177725" y="3294521"/>
            <a:chExt cx="3524289" cy="2175771"/>
          </a:xfrm>
        </p:grpSpPr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D80ADEC3-9449-A7AE-F0B3-6C8B7023D600}"/>
                </a:ext>
              </a:extLst>
            </p:cNvPr>
            <p:cNvCxnSpPr>
              <a:cxnSpLocks/>
            </p:cNvCxnSpPr>
            <p:nvPr/>
          </p:nvCxnSpPr>
          <p:spPr>
            <a:xfrm>
              <a:off x="1335862" y="3491909"/>
              <a:ext cx="2997302" cy="17725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049F22C2-403E-A0CF-BDC0-D36FA65D7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9052" y="3669160"/>
              <a:ext cx="3064112" cy="1563983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1606BA0A-D898-01F7-D382-7915D3710581}"/>
                </a:ext>
              </a:extLst>
            </p:cNvPr>
            <p:cNvSpPr txBox="1"/>
            <p:nvPr/>
          </p:nvSpPr>
          <p:spPr>
            <a:xfrm>
              <a:off x="3964312" y="3294521"/>
              <a:ext cx="73770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4400" b="1" dirty="0"/>
                <a:t>・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85C5B08-7619-762D-C6FB-65105CB2FC61}"/>
                </a:ext>
              </a:extLst>
            </p:cNvPr>
            <p:cNvSpPr txBox="1"/>
            <p:nvPr/>
          </p:nvSpPr>
          <p:spPr>
            <a:xfrm>
              <a:off x="1177725" y="4700851"/>
              <a:ext cx="73770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4400" b="1" dirty="0">
                  <a:solidFill>
                    <a:srgbClr val="FF0000"/>
                  </a:solidFill>
                </a:rPr>
                <a:t>・</a:t>
              </a:r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84928D1-CF63-E3A6-6CE7-8A43BC5FC60D}"/>
              </a:ext>
            </a:extLst>
          </p:cNvPr>
          <p:cNvSpPr txBox="1"/>
          <p:nvPr/>
        </p:nvSpPr>
        <p:spPr>
          <a:xfrm>
            <a:off x="781387" y="1731968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基準カメラ</a:t>
            </a:r>
            <a:r>
              <a:rPr kumimoji="1" lang="en-US" altLang="ja-JP" sz="2000" dirty="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2000" dirty="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原点</a:t>
            </a:r>
            <a:r>
              <a:rPr kumimoji="1" lang="en-US" altLang="ja-JP" sz="2000" dirty="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2000" dirty="0">
              <a:solidFill>
                <a:schemeClr val="bg1">
                  <a:lumMod val="10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977C863-4DF5-6593-67DE-AD353BA15BCB}"/>
                  </a:ext>
                </a:extLst>
              </p:cNvPr>
              <p:cNvSpPr txBox="1"/>
              <p:nvPr/>
            </p:nvSpPr>
            <p:spPr>
              <a:xfrm>
                <a:off x="4153710" y="1500774"/>
                <a:ext cx="12915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ja-JP" altLang="en-US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ja-JP" altLang="en-US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sz="2000" b="0" i="1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977C863-4DF5-6593-67DE-AD353BA1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710" y="1500774"/>
                <a:ext cx="1291571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0BCCCF5-A533-FAF6-E12A-784B37CDA626}"/>
              </a:ext>
            </a:extLst>
          </p:cNvPr>
          <p:cNvSpPr txBox="1"/>
          <p:nvPr/>
        </p:nvSpPr>
        <p:spPr>
          <a:xfrm>
            <a:off x="807466" y="3433166"/>
            <a:ext cx="762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補助カメラ（基準カメラに対して位置と向いている方向が違う）</a:t>
            </a:r>
          </a:p>
        </p:txBody>
      </p:sp>
      <p:sp>
        <p:nvSpPr>
          <p:cNvPr id="42" name="コンテンツ プレースホルダー 2">
            <a:extLst>
              <a:ext uri="{FF2B5EF4-FFF2-40B4-BE49-F238E27FC236}">
                <a16:creationId xmlns:a16="http://schemas.microsoft.com/office/drawing/2014/main" id="{52CA6402-63ED-0902-1DDE-2C519AB64BAC}"/>
              </a:ext>
            </a:extLst>
          </p:cNvPr>
          <p:cNvSpPr txBox="1">
            <a:spLocks/>
          </p:cNvSpPr>
          <p:nvPr/>
        </p:nvSpPr>
        <p:spPr>
          <a:xfrm>
            <a:off x="466777" y="4010256"/>
            <a:ext cx="8324850" cy="250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110000"/>
              </a:lnSpc>
              <a:spcBef>
                <a:spcPts val="135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600075" marR="0" indent="-257175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939404" indent="-253604" algn="l" defTabSz="6858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22" indent="-251222" algn="l" defTabSz="6858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13297" indent="-241697" algn="l" defTabSz="6858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0E13A2-F8CD-6FBA-2811-9CC52BB50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81" y="4977213"/>
            <a:ext cx="3285714" cy="457143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38C0608D-E9C5-71F0-A0E4-9FF2280E8E95}"/>
              </a:ext>
            </a:extLst>
          </p:cNvPr>
          <p:cNvSpPr/>
          <p:nvPr/>
        </p:nvSpPr>
        <p:spPr>
          <a:xfrm rot="5400000">
            <a:off x="1146479" y="1105306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5662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6361D-F24D-57BE-353D-5E0797A7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 dirty="0"/>
              <a:t>候補の中から最もそれらしい深さを選ぶ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B9696D-6C54-496E-F171-BDC530DF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</a:pPr>
            <a:r>
              <a:rPr kumimoji="1" lang="ja-JP" altLang="en-US" sz="2400" dirty="0"/>
              <a:t>あるカメラ</a:t>
            </a:r>
            <a:r>
              <a:rPr lang="ja-JP" altLang="en-US" sz="2400" dirty="0"/>
              <a:t>における特定の</a:t>
            </a:r>
            <a:r>
              <a:rPr kumimoji="1" lang="ja-JP" altLang="en-US" sz="2400" dirty="0"/>
              <a:t>方向の</a:t>
            </a:r>
            <a:r>
              <a:rPr lang="ja-JP" altLang="en-US" sz="2400" dirty="0"/>
              <a:t>点</a:t>
            </a:r>
            <a:r>
              <a:rPr kumimoji="1" lang="ja-JP" altLang="en-US" sz="2400" dirty="0"/>
              <a:t>の深さ</a:t>
            </a:r>
            <a:endParaRPr kumimoji="1" lang="en-US" altLang="ja-JP" sz="2400" dirty="0"/>
          </a:p>
          <a:p>
            <a:pPr marL="800100" lvl="1" indent="-457200">
              <a:buFont typeface="+mj-lt"/>
              <a:buAutoNum type="arabicPeriod"/>
            </a:pPr>
            <a:r>
              <a:rPr lang="ja-JP" altLang="en-US" dirty="0"/>
              <a:t>深さの候補をいくつか作る</a:t>
            </a:r>
            <a:endParaRPr lang="en-US" altLang="ja-JP" dirty="0"/>
          </a:p>
          <a:p>
            <a:pPr marL="800100" lvl="1" indent="-457200">
              <a:buFont typeface="+mj-lt"/>
              <a:buAutoNum type="arabicPeriod"/>
            </a:pPr>
            <a:r>
              <a:rPr kumimoji="1" lang="ja-JP" altLang="en-US" dirty="0"/>
              <a:t>各深さに対して再投影の</a:t>
            </a:r>
            <a:br>
              <a:rPr kumimoji="1" lang="en-US" altLang="ja-JP" dirty="0"/>
            </a:br>
            <a:r>
              <a:rPr kumimoji="1" lang="ja-JP" altLang="en-US" dirty="0"/>
              <a:t>座標を計算</a:t>
            </a:r>
            <a:endParaRPr lang="en-US" altLang="ja-JP" dirty="0"/>
          </a:p>
          <a:p>
            <a:pPr marL="800100" lvl="1" indent="-457200">
              <a:buFont typeface="+mj-lt"/>
              <a:buAutoNum type="arabicPeriod"/>
            </a:pPr>
            <a:r>
              <a:rPr kumimoji="1" lang="ja-JP" altLang="en-US" dirty="0"/>
              <a:t>実際の色と比較して</a:t>
            </a:r>
            <a:br>
              <a:rPr kumimoji="1" lang="en-US" altLang="ja-JP" dirty="0"/>
            </a:br>
            <a:r>
              <a:rPr kumimoji="1" lang="ja-JP" altLang="en-US" dirty="0"/>
              <a:t>マッチングコストを計算</a:t>
            </a:r>
            <a:endParaRPr kumimoji="1" lang="en-US" altLang="ja-JP" dirty="0"/>
          </a:p>
          <a:p>
            <a:pPr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</a:pPr>
            <a:r>
              <a:rPr kumimoji="1" lang="ja-JP" altLang="en-US" sz="2400" dirty="0">
                <a:solidFill>
                  <a:srgbClr val="FF0000"/>
                </a:solidFill>
              </a:rPr>
              <a:t>問題</a:t>
            </a:r>
            <a:r>
              <a:rPr kumimoji="1" lang="en-US" altLang="ja-JP" sz="2400" dirty="0">
                <a:solidFill>
                  <a:srgbClr val="FF0000"/>
                </a:solidFill>
              </a:rPr>
              <a:t>1</a:t>
            </a:r>
            <a:r>
              <a:rPr kumimoji="1" lang="ja-JP" altLang="en-US" sz="2400" dirty="0"/>
              <a:t>：補助カメラの選び方</a:t>
            </a:r>
            <a:endParaRPr kumimoji="1" lang="en-US" altLang="ja-JP" dirty="0"/>
          </a:p>
          <a:p>
            <a:pPr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</a:pPr>
            <a:r>
              <a:rPr lang="ja-JP" altLang="en-US" sz="2400" dirty="0">
                <a:solidFill>
                  <a:srgbClr val="FF0000"/>
                </a:solidFill>
              </a:rPr>
              <a:t>問題</a:t>
            </a:r>
            <a:r>
              <a:rPr lang="en-US" altLang="ja-JP" sz="2400" dirty="0">
                <a:solidFill>
                  <a:srgbClr val="FF0000"/>
                </a:solidFill>
              </a:rPr>
              <a:t>2</a:t>
            </a:r>
            <a:r>
              <a:rPr lang="ja-JP" altLang="en-US" sz="2400" dirty="0"/>
              <a:t>：マッチングコストはノイズがいっぱい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1499F2-28B8-ECB9-6A17-AA5562A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どうやって深さを取るのか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8BDD424-3031-C3E4-20AC-F6EE0BACA3FB}"/>
              </a:ext>
            </a:extLst>
          </p:cNvPr>
          <p:cNvCxnSpPr>
            <a:cxnSpLocks/>
          </p:cNvCxnSpPr>
          <p:nvPr/>
        </p:nvCxnSpPr>
        <p:spPr>
          <a:xfrm>
            <a:off x="5372415" y="3097939"/>
            <a:ext cx="3470352" cy="22858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円弧 17">
            <a:extLst>
              <a:ext uri="{FF2B5EF4-FFF2-40B4-BE49-F238E27FC236}">
                <a16:creationId xmlns:a16="http://schemas.microsoft.com/office/drawing/2014/main" id="{C95E9A75-C0D4-7FB8-EB3B-7918323E1713}"/>
              </a:ext>
            </a:extLst>
          </p:cNvPr>
          <p:cNvSpPr/>
          <p:nvPr/>
        </p:nvSpPr>
        <p:spPr>
          <a:xfrm>
            <a:off x="4002591" y="1672994"/>
            <a:ext cx="2739648" cy="2849889"/>
          </a:xfrm>
          <a:prstGeom prst="arc">
            <a:avLst>
              <a:gd name="adj1" fmla="val 20994273"/>
              <a:gd name="adj2" fmla="val 116075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DB7B6CDF-5684-5735-39DC-B26A1B85C00D}"/>
              </a:ext>
            </a:extLst>
          </p:cNvPr>
          <p:cNvSpPr/>
          <p:nvPr/>
        </p:nvSpPr>
        <p:spPr>
          <a:xfrm>
            <a:off x="2303705" y="-156949"/>
            <a:ext cx="6137420" cy="6509774"/>
          </a:xfrm>
          <a:prstGeom prst="arc">
            <a:avLst>
              <a:gd name="adj1" fmla="val 21192096"/>
              <a:gd name="adj2" fmla="val 881918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F5562B4-E0DD-700D-D39A-46AB01B6B0FC}"/>
              </a:ext>
            </a:extLst>
          </p:cNvPr>
          <p:cNvCxnSpPr>
            <a:cxnSpLocks/>
          </p:cNvCxnSpPr>
          <p:nvPr/>
        </p:nvCxnSpPr>
        <p:spPr>
          <a:xfrm flipV="1">
            <a:off x="5334387" y="3189041"/>
            <a:ext cx="1407852" cy="10277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73661E3-0083-F103-B58E-7A10FFE4F76D}"/>
              </a:ext>
            </a:extLst>
          </p:cNvPr>
          <p:cNvCxnSpPr>
            <a:cxnSpLocks/>
          </p:cNvCxnSpPr>
          <p:nvPr/>
        </p:nvCxnSpPr>
        <p:spPr>
          <a:xfrm flipV="1">
            <a:off x="5332514" y="3304121"/>
            <a:ext cx="3108611" cy="91659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7DC6F7C-C268-004D-261F-D1BB35776295}"/>
              </a:ext>
            </a:extLst>
          </p:cNvPr>
          <p:cNvCxnSpPr>
            <a:cxnSpLocks/>
          </p:cNvCxnSpPr>
          <p:nvPr/>
        </p:nvCxnSpPr>
        <p:spPr>
          <a:xfrm flipV="1">
            <a:off x="5332513" y="3220155"/>
            <a:ext cx="1775077" cy="996638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1CD0F64-1C14-08C9-96D6-7C24A395954F}"/>
              </a:ext>
            </a:extLst>
          </p:cNvPr>
          <p:cNvCxnSpPr>
            <a:cxnSpLocks/>
          </p:cNvCxnSpPr>
          <p:nvPr/>
        </p:nvCxnSpPr>
        <p:spPr>
          <a:xfrm flipV="1">
            <a:off x="5345921" y="3249287"/>
            <a:ext cx="2343115" cy="967506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部分円 5">
            <a:extLst>
              <a:ext uri="{FF2B5EF4-FFF2-40B4-BE49-F238E27FC236}">
                <a16:creationId xmlns:a16="http://schemas.microsoft.com/office/drawing/2014/main" id="{E9721B70-DA22-EEEA-97C4-20E2A1227B23}"/>
              </a:ext>
            </a:extLst>
          </p:cNvPr>
          <p:cNvSpPr/>
          <p:nvPr/>
        </p:nvSpPr>
        <p:spPr>
          <a:xfrm rot="5400000">
            <a:off x="5046208" y="2769257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p:sp>
        <p:nvSpPr>
          <p:cNvPr id="7" name="部分円 6">
            <a:extLst>
              <a:ext uri="{FF2B5EF4-FFF2-40B4-BE49-F238E27FC236}">
                <a16:creationId xmlns:a16="http://schemas.microsoft.com/office/drawing/2014/main" id="{C4214249-BE37-2EC1-74AA-CF4586001977}"/>
              </a:ext>
            </a:extLst>
          </p:cNvPr>
          <p:cNvSpPr/>
          <p:nvPr/>
        </p:nvSpPr>
        <p:spPr>
          <a:xfrm rot="5400000">
            <a:off x="5024440" y="3872339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9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F0F9ED-3BFB-3DAC-1022-C627C9AD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016000"/>
            <a:ext cx="8324850" cy="938159"/>
          </a:xfrm>
        </p:spPr>
        <p:txBody>
          <a:bodyPr/>
          <a:lstStyle/>
          <a:p>
            <a:r>
              <a:rPr kumimoji="1" lang="ja-JP" altLang="en-US" sz="2800" dirty="0"/>
              <a:t>視差の大きいカメラを選</a:t>
            </a:r>
            <a:r>
              <a:rPr lang="ja-JP" altLang="en-US" sz="2800" dirty="0"/>
              <a:t>ぶ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BB54C7-DC9E-AAC8-8E06-DDBD3B2E0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最小の深さと最大の深さで見える方向が大きく違う方が</a:t>
            </a:r>
            <a:br>
              <a:rPr lang="en-US" altLang="ja-JP" dirty="0"/>
            </a:br>
            <a:r>
              <a:rPr lang="ja-JP" altLang="en-US" sz="2400" dirty="0"/>
              <a:t>違いが生まれやすく正確な深さが取れる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5DBA3E-1FE2-D2A0-1638-FB00A07864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最適なカメラ選び</a:t>
            </a:r>
            <a:endParaRPr lang="en-US" altLang="ja-JP" dirty="0"/>
          </a:p>
        </p:txBody>
      </p:sp>
      <p:pic>
        <p:nvPicPr>
          <p:cNvPr id="8" name="図 7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84047E8-3D87-67BF-2AE4-7D2D7D836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2" t="19999" r="25503" b="12890"/>
          <a:stretch/>
        </p:blipFill>
        <p:spPr>
          <a:xfrm>
            <a:off x="6082754" y="2862234"/>
            <a:ext cx="2705101" cy="335437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2B5516-76FE-057A-6C98-99378A5ABA1E}"/>
              </a:ext>
            </a:extLst>
          </p:cNvPr>
          <p:cNvSpPr/>
          <p:nvPr/>
        </p:nvSpPr>
        <p:spPr>
          <a:xfrm rot="2615578">
            <a:off x="1219859" y="3954996"/>
            <a:ext cx="893056" cy="902588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7707A54C-DB69-1C77-63EC-08514497D242}"/>
              </a:ext>
            </a:extLst>
          </p:cNvPr>
          <p:cNvSpPr/>
          <p:nvPr/>
        </p:nvSpPr>
        <p:spPr>
          <a:xfrm>
            <a:off x="1330323" y="3444164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CA0997E9-2341-5F93-2B9F-6BC81783EDF7}"/>
              </a:ext>
            </a:extLst>
          </p:cNvPr>
          <p:cNvSpPr/>
          <p:nvPr/>
        </p:nvSpPr>
        <p:spPr>
          <a:xfrm rot="5400000">
            <a:off x="1979503" y="4064642"/>
            <a:ext cx="651844" cy="650068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p:sp>
        <p:nvSpPr>
          <p:cNvPr id="16" name="部分円 15">
            <a:extLst>
              <a:ext uri="{FF2B5EF4-FFF2-40B4-BE49-F238E27FC236}">
                <a16:creationId xmlns:a16="http://schemas.microsoft.com/office/drawing/2014/main" id="{484121B6-AF89-2844-A6DD-E337CF741807}"/>
              </a:ext>
            </a:extLst>
          </p:cNvPr>
          <p:cNvSpPr/>
          <p:nvPr/>
        </p:nvSpPr>
        <p:spPr>
          <a:xfrm rot="10800000">
            <a:off x="1355359" y="4716575"/>
            <a:ext cx="650069" cy="651843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p:sp>
        <p:nvSpPr>
          <p:cNvPr id="17" name="部分円 16">
            <a:extLst>
              <a:ext uri="{FF2B5EF4-FFF2-40B4-BE49-F238E27FC236}">
                <a16:creationId xmlns:a16="http://schemas.microsoft.com/office/drawing/2014/main" id="{6EEF44A5-D03B-6BA2-7978-961C1C2F948C}"/>
              </a:ext>
            </a:extLst>
          </p:cNvPr>
          <p:cNvSpPr/>
          <p:nvPr/>
        </p:nvSpPr>
        <p:spPr>
          <a:xfrm rot="16200000">
            <a:off x="701428" y="4097510"/>
            <a:ext cx="651844" cy="650068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FFC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70C0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FAB4C61-CBAC-054B-BB25-FAA0F8657785}"/>
              </a:ext>
            </a:extLst>
          </p:cNvPr>
          <p:cNvCxnSpPr>
            <a:cxnSpLocks/>
          </p:cNvCxnSpPr>
          <p:nvPr/>
        </p:nvCxnSpPr>
        <p:spPr>
          <a:xfrm>
            <a:off x="1642134" y="3770085"/>
            <a:ext cx="4166557" cy="1271793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円弧 35">
            <a:extLst>
              <a:ext uri="{FF2B5EF4-FFF2-40B4-BE49-F238E27FC236}">
                <a16:creationId xmlns:a16="http://schemas.microsoft.com/office/drawing/2014/main" id="{4A63F039-BFFF-3D95-AFEF-58DF88C51DD7}"/>
              </a:ext>
            </a:extLst>
          </p:cNvPr>
          <p:cNvSpPr/>
          <p:nvPr/>
        </p:nvSpPr>
        <p:spPr>
          <a:xfrm>
            <a:off x="-546162" y="1577289"/>
            <a:ext cx="4376591" cy="4385592"/>
          </a:xfrm>
          <a:prstGeom prst="arc">
            <a:avLst>
              <a:gd name="adj1" fmla="val 20994273"/>
              <a:gd name="adj2" fmla="val 2681605"/>
            </a:avLst>
          </a:prstGeom>
          <a:ln w="28575">
            <a:solidFill>
              <a:srgbClr val="FF00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弧 38">
            <a:extLst>
              <a:ext uri="{FF2B5EF4-FFF2-40B4-BE49-F238E27FC236}">
                <a16:creationId xmlns:a16="http://schemas.microsoft.com/office/drawing/2014/main" id="{3B95A7FE-5EEF-BD2F-8C17-A73E2DAD9E9E}"/>
              </a:ext>
            </a:extLst>
          </p:cNvPr>
          <p:cNvSpPr/>
          <p:nvPr/>
        </p:nvSpPr>
        <p:spPr>
          <a:xfrm>
            <a:off x="-2569277" y="-820468"/>
            <a:ext cx="8422820" cy="9181106"/>
          </a:xfrm>
          <a:prstGeom prst="arc">
            <a:avLst>
              <a:gd name="adj1" fmla="val 21106860"/>
              <a:gd name="adj2" fmla="val 2688835"/>
            </a:avLst>
          </a:prstGeom>
          <a:ln w="28575">
            <a:solidFill>
              <a:srgbClr val="0070C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0BCDD27-DAD3-9F5B-0C33-7B3AD0DDD8FD}"/>
              </a:ext>
            </a:extLst>
          </p:cNvPr>
          <p:cNvCxnSpPr>
            <a:cxnSpLocks/>
          </p:cNvCxnSpPr>
          <p:nvPr/>
        </p:nvCxnSpPr>
        <p:spPr>
          <a:xfrm>
            <a:off x="2292203" y="4389676"/>
            <a:ext cx="1450415" cy="163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C55A47E-2210-7076-9B37-73FC834F1159}"/>
              </a:ext>
            </a:extLst>
          </p:cNvPr>
          <p:cNvCxnSpPr>
            <a:cxnSpLocks/>
          </p:cNvCxnSpPr>
          <p:nvPr/>
        </p:nvCxnSpPr>
        <p:spPr>
          <a:xfrm>
            <a:off x="2300122" y="4389379"/>
            <a:ext cx="3393560" cy="6143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0F0608A4-5061-41EF-017D-B6DD427920FE}"/>
              </a:ext>
            </a:extLst>
          </p:cNvPr>
          <p:cNvCxnSpPr>
            <a:cxnSpLocks/>
          </p:cNvCxnSpPr>
          <p:nvPr/>
        </p:nvCxnSpPr>
        <p:spPr>
          <a:xfrm flipV="1">
            <a:off x="1675090" y="4411576"/>
            <a:ext cx="2066205" cy="63059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FFA50E26-A03B-DA61-4591-A83433C8C919}"/>
              </a:ext>
            </a:extLst>
          </p:cNvPr>
          <p:cNvCxnSpPr>
            <a:cxnSpLocks/>
          </p:cNvCxnSpPr>
          <p:nvPr/>
        </p:nvCxnSpPr>
        <p:spPr>
          <a:xfrm flipV="1">
            <a:off x="1680393" y="5003730"/>
            <a:ext cx="4013289" cy="3814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円弧 82">
            <a:extLst>
              <a:ext uri="{FF2B5EF4-FFF2-40B4-BE49-F238E27FC236}">
                <a16:creationId xmlns:a16="http://schemas.microsoft.com/office/drawing/2014/main" id="{97730DC5-B984-981F-46CC-643AAF3022EB}"/>
              </a:ext>
            </a:extLst>
          </p:cNvPr>
          <p:cNvSpPr/>
          <p:nvPr/>
        </p:nvSpPr>
        <p:spPr>
          <a:xfrm>
            <a:off x="-1350462" y="847576"/>
            <a:ext cx="5830374" cy="5903660"/>
          </a:xfrm>
          <a:prstGeom prst="arc">
            <a:avLst>
              <a:gd name="adj1" fmla="val 20936755"/>
              <a:gd name="adj2" fmla="val 2681605"/>
            </a:avLst>
          </a:prstGeom>
          <a:ln w="28575">
            <a:solidFill>
              <a:srgbClr val="00B05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円弧 83">
            <a:extLst>
              <a:ext uri="{FF2B5EF4-FFF2-40B4-BE49-F238E27FC236}">
                <a16:creationId xmlns:a16="http://schemas.microsoft.com/office/drawing/2014/main" id="{3AFD5CDA-B7A3-197A-4C44-4213BC46A3C0}"/>
              </a:ext>
            </a:extLst>
          </p:cNvPr>
          <p:cNvSpPr/>
          <p:nvPr/>
        </p:nvSpPr>
        <p:spPr>
          <a:xfrm>
            <a:off x="-1887488" y="106764"/>
            <a:ext cx="7046057" cy="7326642"/>
          </a:xfrm>
          <a:prstGeom prst="arc">
            <a:avLst>
              <a:gd name="adj1" fmla="val 20936755"/>
              <a:gd name="adj2" fmla="val 2681605"/>
            </a:avLst>
          </a:prstGeom>
          <a:ln w="28575">
            <a:solidFill>
              <a:srgbClr val="00B05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079F43F-F9BB-C1BF-A4D9-39F3C55B7921}"/>
              </a:ext>
            </a:extLst>
          </p:cNvPr>
          <p:cNvSpPr txBox="1"/>
          <p:nvPr/>
        </p:nvSpPr>
        <p:spPr>
          <a:xfrm>
            <a:off x="1027349" y="312010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基準カメラ</a:t>
            </a:r>
          </a:p>
        </p:txBody>
      </p:sp>
      <p:sp>
        <p:nvSpPr>
          <p:cNvPr id="6" name="部分円 5">
            <a:extLst>
              <a:ext uri="{FF2B5EF4-FFF2-40B4-BE49-F238E27FC236}">
                <a16:creationId xmlns:a16="http://schemas.microsoft.com/office/drawing/2014/main" id="{5D052BD5-6A37-3365-35DC-342267FA42DF}"/>
              </a:ext>
            </a:extLst>
          </p:cNvPr>
          <p:cNvSpPr/>
          <p:nvPr/>
        </p:nvSpPr>
        <p:spPr>
          <a:xfrm>
            <a:off x="1983854" y="4061935"/>
            <a:ext cx="650068" cy="651843"/>
          </a:xfrm>
          <a:prstGeom prst="pie">
            <a:avLst>
              <a:gd name="adj1" fmla="val 0"/>
              <a:gd name="adj2" fmla="val 75469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部分円 6">
            <a:extLst>
              <a:ext uri="{FF2B5EF4-FFF2-40B4-BE49-F238E27FC236}">
                <a16:creationId xmlns:a16="http://schemas.microsoft.com/office/drawing/2014/main" id="{CF3EBCD0-5270-758B-6367-5251665AF157}"/>
              </a:ext>
            </a:extLst>
          </p:cNvPr>
          <p:cNvSpPr/>
          <p:nvPr/>
        </p:nvSpPr>
        <p:spPr>
          <a:xfrm>
            <a:off x="1355359" y="4716575"/>
            <a:ext cx="650068" cy="651843"/>
          </a:xfrm>
          <a:prstGeom prst="pie">
            <a:avLst>
              <a:gd name="adj1" fmla="val 20509722"/>
              <a:gd name="adj2" fmla="val 2149051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2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3BFE7B-4D44-3550-BC64-785179D7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31" y="730252"/>
            <a:ext cx="8324850" cy="5859234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ja-JP" altLang="en-US" dirty="0"/>
              <a:t>ダウンサンプリング（解像度を下げる）</a:t>
            </a: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周囲の画素値に重みを付けて遠い色と混ざらせない</a:t>
            </a:r>
            <a:endParaRPr lang="en-US" altLang="ja-JP" dirty="0"/>
          </a:p>
          <a:p>
            <a:pPr marL="342900" lvl="1" indent="0">
              <a:lnSpc>
                <a:spcPct val="200000"/>
              </a:lnSpc>
              <a:buNone/>
            </a:pP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重みについて</a:t>
            </a:r>
            <a:endParaRPr lang="en-US" altLang="ja-JP" dirty="0"/>
          </a:p>
          <a:p>
            <a:pPr marL="342900" lvl="1" indent="0">
              <a:lnSpc>
                <a:spcPct val="200000"/>
              </a:lnSpc>
              <a:buNone/>
            </a:pPr>
            <a:endParaRPr lang="en-US" altLang="ja-JP" dirty="0"/>
          </a:p>
          <a:p>
            <a:pPr lvl="2">
              <a:lnSpc>
                <a:spcPct val="200000"/>
              </a:lnSpc>
            </a:pPr>
            <a:r>
              <a:rPr lang="ja-JP" altLang="en-US" dirty="0"/>
              <a:t>この式では色が遠いものの重みが重くなる</a:t>
            </a:r>
            <a:br>
              <a:rPr lang="en-US" altLang="ja-JP" dirty="0"/>
            </a:br>
            <a:r>
              <a:rPr lang="ja-JP" altLang="en-US" dirty="0"/>
              <a:t>➞色の違いが均されてエッジが強調されない</a:t>
            </a:r>
            <a:endParaRPr lang="en-US" altLang="ja-JP" dirty="0"/>
          </a:p>
          <a:p>
            <a:pPr lvl="2">
              <a:lnSpc>
                <a:spcPct val="200000"/>
              </a:lnSpc>
            </a:pPr>
            <a:r>
              <a:rPr lang="ja-JP" altLang="en-US" b="1" dirty="0"/>
              <a:t>この式間違っているのではないかと思います</a:t>
            </a:r>
            <a:endParaRPr lang="en-US" altLang="ja-JP" b="1" dirty="0"/>
          </a:p>
          <a:p>
            <a:pPr>
              <a:lnSpc>
                <a:spcPct val="200000"/>
              </a:lnSpc>
            </a:pP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89F850-4B4E-E930-9D6D-6C757DDE01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エッジを強調しながら解像度を下げる</a:t>
            </a:r>
            <a:endParaRPr lang="en-US" altLang="ja-JP" dirty="0"/>
          </a:p>
        </p:txBody>
      </p:sp>
      <p:pic>
        <p:nvPicPr>
          <p:cNvPr id="5" name="図 4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747C65-7C30-FD7E-6569-67ABEA3AD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87" y="3596727"/>
            <a:ext cx="5947816" cy="809006"/>
          </a:xfrm>
          <a:prstGeom prst="rect">
            <a:avLst/>
          </a:prstGeom>
        </p:spPr>
      </p:pic>
      <p:pic>
        <p:nvPicPr>
          <p:cNvPr id="6" name="図 5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7551193-AB32-A193-3EF6-A1EB6486D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28" y="2183846"/>
            <a:ext cx="5845175" cy="768293"/>
          </a:xfrm>
          <a:prstGeom prst="rect">
            <a:avLst/>
          </a:prstGeom>
        </p:spPr>
      </p:pic>
      <p:sp>
        <p:nvSpPr>
          <p:cNvPr id="34" name="楕円 33">
            <a:extLst>
              <a:ext uri="{FF2B5EF4-FFF2-40B4-BE49-F238E27FC236}">
                <a16:creationId xmlns:a16="http://schemas.microsoft.com/office/drawing/2014/main" id="{BC6AAABA-4C9F-691D-4877-DA9BBB2106F5}"/>
              </a:ext>
            </a:extLst>
          </p:cNvPr>
          <p:cNvSpPr/>
          <p:nvPr/>
        </p:nvSpPr>
        <p:spPr>
          <a:xfrm>
            <a:off x="5320737" y="2258908"/>
            <a:ext cx="1631950" cy="590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48F9435-C615-7A83-0BDE-54FF66316631}"/>
              </a:ext>
            </a:extLst>
          </p:cNvPr>
          <p:cNvSpPr txBox="1"/>
          <p:nvPr/>
        </p:nvSpPr>
        <p:spPr>
          <a:xfrm>
            <a:off x="5736602" y="280922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+mn-ea"/>
              </a:rPr>
              <a:t>重み</a:t>
            </a:r>
          </a:p>
        </p:txBody>
      </p:sp>
    </p:spTree>
    <p:extLst>
      <p:ext uri="{BB962C8B-B14F-4D97-AF65-F5344CB8AC3E}">
        <p14:creationId xmlns:p14="http://schemas.microsoft.com/office/powerpoint/2010/main" val="335613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  <p:bldP spid="3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2CA0265-BB56-7933-942A-933EF47A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30" y="5563420"/>
            <a:ext cx="8719369" cy="938159"/>
          </a:xfrm>
        </p:spPr>
        <p:txBody>
          <a:bodyPr/>
          <a:lstStyle/>
          <a:p>
            <a:r>
              <a:rPr lang="ja-JP" altLang="en-US" dirty="0"/>
              <a:t>低解像度の</a:t>
            </a:r>
            <a:r>
              <a:rPr lang="en-US" altLang="ja-JP" dirty="0"/>
              <a:t>(</a:t>
            </a:r>
            <a:r>
              <a:rPr lang="ja-JP" altLang="en-US" dirty="0"/>
              <a:t>エッジの強い</a:t>
            </a:r>
            <a:r>
              <a:rPr lang="en-US" altLang="ja-JP" dirty="0"/>
              <a:t>)</a:t>
            </a:r>
            <a:r>
              <a:rPr lang="ja-JP" altLang="en-US" dirty="0"/>
              <a:t>画像を混ぜなおすと</a:t>
            </a:r>
            <a:br>
              <a:rPr lang="en-US" altLang="ja-JP" dirty="0"/>
            </a:br>
            <a:r>
              <a:rPr lang="ja-JP" altLang="en-US" dirty="0"/>
              <a:t>解像度を変えずにエッジを保持しながら滑らかになる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14E0C66-9FFF-8EDA-C5F8-96E3D8C503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アップサンプリング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解像度を上げる</a:t>
                </a:r>
                <a:r>
                  <a:rPr lang="en-US" altLang="ja-JP" dirty="0"/>
                  <a:t>)</a:t>
                </a:r>
              </a:p>
              <a:p>
                <a:pPr lvl="1"/>
                <a:r>
                  <a:rPr lang="ja-JP" altLang="en-US" dirty="0"/>
                  <a:t>ダウンサンプリングされた画像を元にどんな割合で</a:t>
                </a:r>
                <a:br>
                  <a:rPr lang="en-US" altLang="ja-JP" dirty="0"/>
                </a:br>
                <a:r>
                  <a:rPr lang="ja-JP" altLang="en-US" dirty="0"/>
                  <a:t>混ぜていくか重みを定義する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marL="68580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ja-JP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回</m:t>
                    </m:r>
                  </m:oMath>
                </a14:m>
                <a:r>
                  <a:rPr lang="ja-JP" altLang="en-US" dirty="0"/>
                  <a:t>ダウンサンプリングされた画像の重み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14E0C66-9FFF-8EDA-C5F8-96E3D8C50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2" t="-5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9B7524-1999-BA11-677E-B39E44C3A2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もう一度元の解像度に</a:t>
            </a:r>
            <a:endParaRPr lang="en-US" altLang="ja-JP" dirty="0"/>
          </a:p>
        </p:txBody>
      </p:sp>
      <p:pic>
        <p:nvPicPr>
          <p:cNvPr id="7" name="図 6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E410CF0-2201-BC8E-5A52-14289C107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57" y="2525892"/>
            <a:ext cx="2203793" cy="558394"/>
          </a:xfrm>
          <a:prstGeom prst="rect">
            <a:avLst/>
          </a:prstGeom>
        </p:spPr>
      </p:pic>
      <p:pic>
        <p:nvPicPr>
          <p:cNvPr id="9" name="図 8" descr="ダイアグラム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8DC28EB-3B25-C886-ABB0-C7BD4EC46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2" t="24333" r="4644" b="23222"/>
          <a:stretch/>
        </p:blipFill>
        <p:spPr>
          <a:xfrm>
            <a:off x="1908886" y="3572301"/>
            <a:ext cx="4928643" cy="180737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E31D1F-EFCC-A708-0635-AF2E028CDD27}"/>
              </a:ext>
            </a:extLst>
          </p:cNvPr>
          <p:cNvSpPr txBox="1"/>
          <p:nvPr/>
        </p:nvSpPr>
        <p:spPr>
          <a:xfrm>
            <a:off x="3346450" y="2525892"/>
            <a:ext cx="4451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bg1">
                    <a:lumMod val="50000"/>
                  </a:schemeClr>
                </a:solidFill>
              </a:rPr>
              <a:t>←低解像度な画像が優先される</a:t>
            </a:r>
          </a:p>
        </p:txBody>
      </p:sp>
    </p:spTree>
    <p:extLst>
      <p:ext uri="{BB962C8B-B14F-4D97-AF65-F5344CB8AC3E}">
        <p14:creationId xmlns:p14="http://schemas.microsoft.com/office/powerpoint/2010/main" val="185530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2AD1F2-8188-16FC-5FBF-4AE7BBB06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727200"/>
            <a:ext cx="8324850" cy="4857955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ダウンサンプリング</a:t>
            </a:r>
            <a:endParaRPr lang="en-US" altLang="ja-JP" dirty="0"/>
          </a:p>
          <a:p>
            <a:pPr lvl="1"/>
            <a:r>
              <a:rPr lang="ja-JP" altLang="en-US" dirty="0"/>
              <a:t>各ピクセルに対して</a:t>
            </a:r>
            <a:r>
              <a:rPr lang="en-US" altLang="ja-JP" dirty="0"/>
              <a:t>1</a:t>
            </a:r>
            <a:r>
              <a:rPr lang="ja-JP" altLang="en-US" dirty="0"/>
              <a:t>回見て計算</a:t>
            </a:r>
            <a:br>
              <a:rPr lang="en-US" altLang="ja-JP" dirty="0"/>
            </a:br>
            <a:r>
              <a:rPr lang="ja-JP" altLang="en-US" dirty="0"/>
              <a:t>➞</a:t>
            </a:r>
            <a:r>
              <a:rPr lang="en-US" altLang="ja-JP" dirty="0"/>
              <a:t>O(n)</a:t>
            </a:r>
          </a:p>
          <a:p>
            <a:r>
              <a:rPr lang="ja-JP" altLang="en-US" dirty="0"/>
              <a:t>アップサンプリング</a:t>
            </a:r>
            <a:endParaRPr lang="en-US" altLang="ja-JP" dirty="0"/>
          </a:p>
          <a:p>
            <a:pPr lvl="1"/>
            <a:r>
              <a:rPr lang="ja-JP" altLang="en-US" dirty="0"/>
              <a:t>各ピクセルに対して</a:t>
            </a:r>
            <a:r>
              <a:rPr lang="en-US" altLang="ja-JP" dirty="0"/>
              <a:t>1</a:t>
            </a:r>
            <a:r>
              <a:rPr lang="ja-JP" altLang="en-US" dirty="0"/>
              <a:t>回補完</a:t>
            </a:r>
            <a:br>
              <a:rPr lang="en-US" altLang="ja-JP" dirty="0"/>
            </a:br>
            <a:r>
              <a:rPr lang="ja-JP" altLang="en-US" dirty="0"/>
              <a:t>➞</a:t>
            </a:r>
            <a:r>
              <a:rPr lang="en-US" altLang="ja-JP" dirty="0"/>
              <a:t> O(n)</a:t>
            </a:r>
          </a:p>
          <a:p>
            <a:r>
              <a:rPr lang="ja-JP" altLang="en-US" dirty="0"/>
              <a:t>スケール数に関して</a:t>
            </a:r>
            <a:endParaRPr lang="en-US" altLang="ja-JP" dirty="0"/>
          </a:p>
          <a:p>
            <a:pPr lvl="1"/>
            <a:r>
              <a:rPr lang="ja-JP" altLang="en-US" dirty="0"/>
              <a:t>スケール数とはダウンサンプリングする回数</a:t>
            </a:r>
            <a:endParaRPr lang="en-US" altLang="ja-JP" dirty="0"/>
          </a:p>
          <a:p>
            <a:pPr lvl="1"/>
            <a:r>
              <a:rPr lang="ja-JP" altLang="en-US" dirty="0"/>
              <a:t>スケール数は固定であるので定数倍である</a:t>
            </a:r>
            <a:endParaRPr lang="en-US" alt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A226895-7449-E6E2-5F54-CE17546ABB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このフィルタリング方法は軽いのか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1B07F99-A3D8-88B0-EF16-37CCE98BA9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9100" y="818126"/>
            <a:ext cx="8324850" cy="938213"/>
          </a:xfrm>
        </p:spPr>
        <p:txBody>
          <a:bodyPr/>
          <a:lstStyle/>
          <a:p>
            <a:r>
              <a:rPr lang="en-US" altLang="ja-JP" sz="2400" dirty="0">
                <a:solidFill>
                  <a:schemeClr val="bg1">
                    <a:lumMod val="10000"/>
                  </a:schemeClr>
                </a:solidFill>
              </a:rPr>
              <a:t>O(n)</a:t>
            </a:r>
            <a:r>
              <a:rPr lang="ja-JP" altLang="en-US" sz="2400" dirty="0">
                <a:solidFill>
                  <a:schemeClr val="bg1">
                    <a:lumMod val="10000"/>
                  </a:schemeClr>
                </a:solidFill>
              </a:rPr>
              <a:t>で非常に軽量</a:t>
            </a:r>
          </a:p>
        </p:txBody>
      </p:sp>
    </p:spTree>
    <p:extLst>
      <p:ext uri="{BB962C8B-B14F-4D97-AF65-F5344CB8AC3E}">
        <p14:creationId xmlns:p14="http://schemas.microsoft.com/office/powerpoint/2010/main" val="83073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8C89DC-5C37-7CE5-5172-62D405E0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774619"/>
            <a:ext cx="8324850" cy="481053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ja-JP" dirty="0"/>
              <a:t>4</a:t>
            </a:r>
            <a:r>
              <a:rPr lang="ja-JP" altLang="en-US" dirty="0"/>
              <a:t>つのカメラから取った</a:t>
            </a:r>
            <a:r>
              <a:rPr lang="en-US" altLang="ja-JP" dirty="0"/>
              <a:t>3</a:t>
            </a:r>
            <a:r>
              <a:rPr lang="ja-JP" altLang="en-US" dirty="0"/>
              <a:t>次元情報から</a:t>
            </a:r>
            <a:br>
              <a:rPr lang="en-US" altLang="ja-JP" dirty="0"/>
            </a:br>
            <a:r>
              <a:rPr lang="ja-JP" altLang="en-US" dirty="0"/>
              <a:t>仮想的な中心を原点として座標変換する</a:t>
            </a: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画像同士を強引につなぎ合わせると</a:t>
            </a:r>
            <a:br>
              <a:rPr lang="en-US" altLang="ja-JP" dirty="0"/>
            </a:br>
            <a:r>
              <a:rPr lang="ja-JP" altLang="en-US" dirty="0"/>
              <a:t>歪みが残る上に処理が重くなる</a:t>
            </a: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同じ方向に複数個の点がある場合</a:t>
            </a:r>
            <a:br>
              <a:rPr lang="en-US" altLang="ja-JP" dirty="0"/>
            </a:br>
            <a:r>
              <a:rPr lang="ja-JP" altLang="en-US" dirty="0"/>
              <a:t>中心に近い方を採用する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F977CE-AB60-17F3-FDA8-E3919166C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ja-JP" dirty="0"/>
              <a:t>4</a:t>
            </a:r>
            <a:r>
              <a:rPr lang="ja-JP" altLang="en-US" dirty="0"/>
              <a:t>つのカメラ画像をつなぎ合わせよう</a:t>
            </a:r>
            <a:endParaRPr lang="en-US" altLang="ja-JP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1DE60CEE-0F2C-9F97-BE81-4C91FAC102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9100" y="836406"/>
            <a:ext cx="8324850" cy="938213"/>
          </a:xfrm>
        </p:spPr>
        <p:txBody>
          <a:bodyPr/>
          <a:lstStyle/>
          <a:p>
            <a:r>
              <a:rPr lang="ja-JP" altLang="en-US" sz="2400" dirty="0">
                <a:solidFill>
                  <a:schemeClr val="bg1">
                    <a:lumMod val="10000"/>
                  </a:schemeClr>
                </a:solidFill>
              </a:rPr>
              <a:t>仮想的な中心を決めて再生成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65FFFB9-9E74-F991-65D8-D5E851259420}"/>
              </a:ext>
            </a:extLst>
          </p:cNvPr>
          <p:cNvGrpSpPr/>
          <p:nvPr/>
        </p:nvGrpSpPr>
        <p:grpSpPr>
          <a:xfrm>
            <a:off x="5807542" y="3577771"/>
            <a:ext cx="2917358" cy="2713688"/>
            <a:chOff x="5807542" y="3871066"/>
            <a:chExt cx="2550480" cy="2420393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09C68409-2E03-B495-9584-3D00CACB8247}"/>
                </a:ext>
              </a:extLst>
            </p:cNvPr>
            <p:cNvGrpSpPr/>
            <p:nvPr/>
          </p:nvGrpSpPr>
          <p:grpSpPr>
            <a:xfrm>
              <a:off x="5807542" y="3871066"/>
              <a:ext cx="2550480" cy="2420393"/>
              <a:chOff x="2274194" y="2948342"/>
              <a:chExt cx="2093090" cy="2154868"/>
            </a:xfrm>
          </p:grpSpPr>
          <p:sp>
            <p:nvSpPr>
              <p:cNvPr id="7" name="フローチャート: 結合子 6">
                <a:extLst>
                  <a:ext uri="{FF2B5EF4-FFF2-40B4-BE49-F238E27FC236}">
                    <a16:creationId xmlns:a16="http://schemas.microsoft.com/office/drawing/2014/main" id="{253ABFF3-E3CB-366D-8C45-F3F0E48B6564}"/>
                  </a:ext>
                </a:extLst>
              </p:cNvPr>
              <p:cNvSpPr/>
              <p:nvPr/>
            </p:nvSpPr>
            <p:spPr>
              <a:xfrm>
                <a:off x="2682875" y="4546600"/>
                <a:ext cx="158750" cy="155575"/>
              </a:xfrm>
              <a:prstGeom prst="flowChartConnector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7A5F2ED2-C845-A40D-AA5B-DF5ACFED00AC}"/>
                  </a:ext>
                </a:extLst>
              </p:cNvPr>
              <p:cNvCxnSpPr>
                <a:cxnSpLocks/>
                <a:stCxn id="7" idx="7"/>
              </p:cNvCxnSpPr>
              <p:nvPr/>
            </p:nvCxnSpPr>
            <p:spPr>
              <a:xfrm flipV="1">
                <a:off x="2818377" y="2948342"/>
                <a:ext cx="1548907" cy="162104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65B86E06-132A-22E4-4F70-10C609046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62250" y="2948342"/>
                <a:ext cx="1605034" cy="105330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6A74AB4-4333-7980-FF0C-43F3CFB697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84055" y="2948342"/>
                <a:ext cx="983229" cy="165987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A335B0C0-E82B-85D4-8304-A4C6BAF56E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62250" y="3945125"/>
                <a:ext cx="663090" cy="56525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2B431E8A-A9E0-75EC-D979-BC92775730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84055" y="3932421"/>
                <a:ext cx="41285" cy="675795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FDBE335F-A98F-1067-21A3-AE2D82158599}"/>
                  </a:ext>
                </a:extLst>
              </p:cNvPr>
              <p:cNvSpPr txBox="1"/>
              <p:nvPr/>
            </p:nvSpPr>
            <p:spPr>
              <a:xfrm>
                <a:off x="2274194" y="46415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中心</a:t>
                </a:r>
              </a:p>
            </p:txBody>
          </p:sp>
        </p:grpSp>
        <p:sp>
          <p:nvSpPr>
            <p:cNvPr id="2" name="部分円 1">
              <a:extLst>
                <a:ext uri="{FF2B5EF4-FFF2-40B4-BE49-F238E27FC236}">
                  <a16:creationId xmlns:a16="http://schemas.microsoft.com/office/drawing/2014/main" id="{35333C09-C062-624A-53A6-7F61132531CB}"/>
                </a:ext>
              </a:extLst>
            </p:cNvPr>
            <p:cNvSpPr/>
            <p:nvPr/>
          </p:nvSpPr>
          <p:spPr>
            <a:xfrm>
              <a:off x="6081401" y="4724181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3" name="部分円 12">
              <a:extLst>
                <a:ext uri="{FF2B5EF4-FFF2-40B4-BE49-F238E27FC236}">
                  <a16:creationId xmlns:a16="http://schemas.microsoft.com/office/drawing/2014/main" id="{66A97C2E-84DD-031A-3EEE-69ACC29F7708}"/>
                </a:ext>
              </a:extLst>
            </p:cNvPr>
            <p:cNvSpPr/>
            <p:nvPr/>
          </p:nvSpPr>
          <p:spPr>
            <a:xfrm rot="5400000">
              <a:off x="6834899" y="5387741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3" name="楕円 2">
            <a:extLst>
              <a:ext uri="{FF2B5EF4-FFF2-40B4-BE49-F238E27FC236}">
                <a16:creationId xmlns:a16="http://schemas.microsoft.com/office/drawing/2014/main" id="{1473CB55-D53A-3EB0-E837-1F5131E6C512}"/>
              </a:ext>
            </a:extLst>
          </p:cNvPr>
          <p:cNvSpPr/>
          <p:nvPr/>
        </p:nvSpPr>
        <p:spPr>
          <a:xfrm>
            <a:off x="7320811" y="4750832"/>
            <a:ext cx="169434" cy="1644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96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37E92F-AA36-0814-54B9-C5B4D47D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02229"/>
            <a:ext cx="8324850" cy="508292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400" dirty="0"/>
              <a:t>今すぐできること</a:t>
            </a:r>
            <a:endParaRPr kumimoji="1" lang="en-US" altLang="ja-JP" sz="2400" dirty="0"/>
          </a:p>
          <a:p>
            <a:pPr lvl="1">
              <a:lnSpc>
                <a:spcPct val="130000"/>
              </a:lnSpc>
            </a:pPr>
            <a:r>
              <a:rPr kumimoji="1" lang="ja-JP" altLang="en-US" sz="2400" dirty="0"/>
              <a:t>カメラ環境の構築</a:t>
            </a:r>
            <a:endParaRPr kumimoji="1" lang="en-US" altLang="ja-JP" sz="2400" dirty="0"/>
          </a:p>
          <a:p>
            <a:pPr lvl="1">
              <a:lnSpc>
                <a:spcPct val="130000"/>
              </a:lnSpc>
            </a:pPr>
            <a:r>
              <a:rPr kumimoji="1" lang="ja-JP" altLang="en-US" sz="2400" dirty="0"/>
              <a:t>カメラフレームの作成</a:t>
            </a:r>
            <a:endParaRPr kumimoji="1" lang="en-US" altLang="ja-JP" sz="2400" dirty="0"/>
          </a:p>
          <a:p>
            <a:pPr>
              <a:lnSpc>
                <a:spcPct val="130000"/>
              </a:lnSpc>
            </a:pPr>
            <a:r>
              <a:rPr lang="ja-JP" altLang="en-US" sz="2400" dirty="0"/>
              <a:t>カメラが届いてからすること</a:t>
            </a:r>
            <a:endParaRPr lang="en-US" altLang="ja-JP" sz="2400" dirty="0"/>
          </a:p>
          <a:p>
            <a:pPr lvl="1">
              <a:lnSpc>
                <a:spcPct val="130000"/>
              </a:lnSpc>
            </a:pPr>
            <a:r>
              <a:rPr kumimoji="1" lang="ja-JP" altLang="en-US" sz="2400" dirty="0"/>
              <a:t>カメラの試運転</a:t>
            </a:r>
            <a:endParaRPr kumimoji="1" lang="en-US" altLang="ja-JP" sz="2400" dirty="0"/>
          </a:p>
          <a:p>
            <a:pPr lvl="1">
              <a:lnSpc>
                <a:spcPct val="130000"/>
              </a:lnSpc>
            </a:pPr>
            <a:r>
              <a:rPr lang="en-US" altLang="ja-JP" sz="2400" dirty="0"/>
              <a:t>Git</a:t>
            </a:r>
            <a:r>
              <a:rPr lang="ja-JP" altLang="en-US" sz="2400" dirty="0"/>
              <a:t>のプログラムの試運転</a:t>
            </a:r>
            <a:endParaRPr lang="en-US" altLang="ja-JP" sz="2400" dirty="0"/>
          </a:p>
          <a:p>
            <a:pPr>
              <a:lnSpc>
                <a:spcPct val="130000"/>
              </a:lnSpc>
            </a:pPr>
            <a:r>
              <a:rPr kumimoji="1" lang="ja-JP" altLang="en-US" sz="2400" dirty="0"/>
              <a:t>プログラムが動いてからすること</a:t>
            </a:r>
            <a:endParaRPr kumimoji="1" lang="en-US" altLang="ja-JP" sz="2400" dirty="0"/>
          </a:p>
          <a:p>
            <a:pPr lvl="1">
              <a:lnSpc>
                <a:spcPct val="130000"/>
              </a:lnSpc>
            </a:pPr>
            <a:r>
              <a:rPr lang="ja-JP" altLang="en-US" sz="2400" dirty="0"/>
              <a:t>リアルタイム化</a:t>
            </a:r>
            <a:endParaRPr lang="en-US" altLang="ja-JP" sz="2400" dirty="0"/>
          </a:p>
          <a:p>
            <a:pPr lvl="1">
              <a:lnSpc>
                <a:spcPct val="130000"/>
              </a:lnSpc>
            </a:pPr>
            <a:r>
              <a:rPr kumimoji="1" lang="en-US" altLang="ja-JP" sz="2400" dirty="0"/>
              <a:t>SLAM</a:t>
            </a:r>
            <a:r>
              <a:rPr kumimoji="1" lang="ja-JP" altLang="en-US" sz="2400" dirty="0"/>
              <a:t>とのつなぎ合わせ</a:t>
            </a:r>
            <a:endParaRPr kumimoji="1" lang="en-US" altLang="ja-JP" sz="2400" dirty="0"/>
          </a:p>
          <a:p>
            <a:pPr>
              <a:lnSpc>
                <a:spcPct val="130000"/>
              </a:lnSpc>
            </a:pPr>
            <a:endParaRPr kumimoji="1" lang="en-US" altLang="ja-JP" sz="2400" dirty="0"/>
          </a:p>
          <a:p>
            <a:pPr lvl="1">
              <a:lnSpc>
                <a:spcPct val="130000"/>
              </a:lnSpc>
            </a:pPr>
            <a:endParaRPr kumimoji="1" lang="ja-JP" altLang="en-US" sz="2400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425BEA8-D2B5-4CBF-71ED-704C33444D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これから取り組む内容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1BD5C27-5DAF-89C3-94CA-31A62344DA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9100" y="818126"/>
            <a:ext cx="8324850" cy="938213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カメラが届くまでの下準備を済ませる</a:t>
            </a:r>
          </a:p>
        </p:txBody>
      </p:sp>
    </p:spTree>
    <p:extLst>
      <p:ext uri="{BB962C8B-B14F-4D97-AF65-F5344CB8AC3E}">
        <p14:creationId xmlns:p14="http://schemas.microsoft.com/office/powerpoint/2010/main" val="282370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8332</TotalTime>
  <Words>817</Words>
  <Application>Microsoft Office PowerPoint</Application>
  <PresentationFormat>画面に合わせる (4:3)</PresentationFormat>
  <Paragraphs>103</Paragraphs>
  <Slides>14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游ゴシック</vt:lpstr>
      <vt:lpstr>游ゴシック Medium</vt:lpstr>
      <vt:lpstr>Arial</vt:lpstr>
      <vt:lpstr>Cambria Math</vt:lpstr>
      <vt:lpstr>Segoe UI</vt:lpstr>
      <vt:lpstr>Wingdings</vt:lpstr>
      <vt:lpstr>研究発表スライドマスタ</vt:lpstr>
      <vt:lpstr>RGB魚眼カメラで 360度パノラマ深さ画像作成</vt:lpstr>
      <vt:lpstr>PowerPoint プレゼンテーション</vt:lpstr>
      <vt:lpstr>PowerPoint プレゼンテーション</vt:lpstr>
      <vt:lpstr>4つの魚眼カメラを四方に配置する</vt:lpstr>
      <vt:lpstr>球面のまま処理したらいい</vt:lpstr>
      <vt:lpstr>PowerPoint プレゼンテーション</vt:lpstr>
      <vt:lpstr>PowerPoint プレゼンテーション</vt:lpstr>
      <vt:lpstr>候補の中から最もそれらしい深さを選ぶ</vt:lpstr>
      <vt:lpstr>視差の大きいカメラを選ぶ</vt:lpstr>
      <vt:lpstr>PowerPoint プレゼンテーション</vt:lpstr>
      <vt:lpstr>低解像度の(エッジの強い)画像を混ぜなおすと 解像度を変えずにエッジを保持しながら滑らかになる</vt:lpstr>
      <vt:lpstr>O(n)で非常に軽量</vt:lpstr>
      <vt:lpstr>仮想的な中心を決めて再生成</vt:lpstr>
      <vt:lpstr>カメラが届くまでの下準備を済ませる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82</cp:revision>
  <cp:lastPrinted>2025-06-25T19:59:32Z</cp:lastPrinted>
  <dcterms:created xsi:type="dcterms:W3CDTF">2025-05-30T07:34:26Z</dcterms:created>
  <dcterms:modified xsi:type="dcterms:W3CDTF">2025-06-25T20:23:26Z</dcterms:modified>
</cp:coreProperties>
</file>