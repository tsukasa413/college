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35_64BDA342.xml" ContentType="application/vnd.ms-powerpoint.comments+xml"/>
  <Override PartName="/ppt/notesSlides/notesSlide3.xml" ContentType="application/vnd.openxmlformats-officedocument.presentationml.notesSlide+xml"/>
  <Override PartName="/ppt/comments/modernComment_174_87C725B0.xml" ContentType="application/vnd.ms-powerpoint.comments+xml"/>
  <Override PartName="/ppt/comments/modernComment_176_492A7126.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58_89B66B0E.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48_EAB327B4.xml" ContentType="application/vnd.ms-powerpoint.comments+xml"/>
  <Override PartName="/ppt/notesSlides/notesSlide10.xml" ContentType="application/vnd.openxmlformats-officedocument.presentationml.notesSlide+xml"/>
  <Override PartName="/ppt/comments/modernComment_178_DA20843.xml" ContentType="application/vnd.ms-powerpoint.comments+xml"/>
  <Override PartName="/ppt/comments/modernComment_175_5315C675.xml" ContentType="application/vnd.ms-powerpoint.comments+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309" r:id="rId3"/>
    <p:sldId id="372" r:id="rId4"/>
    <p:sldId id="374" r:id="rId5"/>
    <p:sldId id="260" r:id="rId6"/>
    <p:sldId id="344" r:id="rId7"/>
    <p:sldId id="348" r:id="rId8"/>
    <p:sldId id="346" r:id="rId9"/>
    <p:sldId id="315" r:id="rId10"/>
    <p:sldId id="328" r:id="rId11"/>
    <p:sldId id="376" r:id="rId12"/>
    <p:sldId id="373" r:id="rId13"/>
    <p:sldId id="375" r:id="rId14"/>
    <p:sldId id="257" r:id="rId15"/>
  </p:sldIdLst>
  <p:sldSz cx="9144000" cy="6858000" type="screen4x3"/>
  <p:notesSz cx="10234613" cy="71040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 userDrawn="1">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EC8412-AD84-0A78-8251-FC4504913E02}" name="MOTONAKA,Kimiko" initials="M" userId="S::t160023@kansai-u.ac.jp::897d5cb8-2d17-4737-95d7-f2391470152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99" autoAdjust="0"/>
    <p:restoredTop sz="77758" autoAdjust="0"/>
  </p:normalViewPr>
  <p:slideViewPr>
    <p:cSldViewPr snapToGrid="0" showGuides="1">
      <p:cViewPr varScale="1">
        <p:scale>
          <a:sx n="58" d="100"/>
          <a:sy n="58" d="100"/>
        </p:scale>
        <p:origin x="807" y="30"/>
      </p:cViewPr>
      <p:guideLst>
        <p:guide orient="horz" pos="21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modernComment_135_64BDA342.xml><?xml version="1.0" encoding="utf-8"?>
<p188:cmLst xmlns:a="http://schemas.openxmlformats.org/drawingml/2006/main" xmlns:r="http://schemas.openxmlformats.org/officeDocument/2006/relationships" xmlns:p188="http://schemas.microsoft.com/office/powerpoint/2018/8/main">
  <p188:cm id="{284893B9-E79D-47DD-AB58-6B8F7B3E09E3}" authorId="{FCEC8412-AD84-0A78-8251-FC4504913E02}" created="2025-12-23T14:47:45.317">
    <ac:txMkLst xmlns:ac="http://schemas.microsoft.com/office/drawing/2013/main/command">
      <pc:docMk xmlns:pc="http://schemas.microsoft.com/office/powerpoint/2013/main/command"/>
      <pc:sldMk xmlns:pc="http://schemas.microsoft.com/office/powerpoint/2013/main/command" cId="1690149698" sldId="309"/>
      <ac:spMk id="5" creationId="{ED82B357-73D7-9F47-2F89-84F6C0670149}"/>
      <ac:txMk cp="40" len="4">
        <ac:context len="45" hash="2542007916"/>
      </ac:txMk>
    </ac:txMkLst>
    <p188:pos x="7250017" y="727726"/>
    <p188:txBody>
      <a:bodyPr/>
      <a:lstStyle/>
      <a:p>
        <a:r>
          <a:rPr lang="ja-JP" altLang="en-US"/>
          <a:t>動かない→動けない，に変更しました</a:t>
        </a:r>
      </a:p>
    </p188:txBody>
  </p188:cm>
</p188:cmLst>
</file>

<file path=ppt/comments/modernComment_148_EAB327B4.xml><?xml version="1.0" encoding="utf-8"?>
<p188:cmLst xmlns:a="http://schemas.openxmlformats.org/drawingml/2006/main" xmlns:r="http://schemas.openxmlformats.org/officeDocument/2006/relationships" xmlns:p188="http://schemas.microsoft.com/office/powerpoint/2018/8/main">
  <p188:cm id="{1C798653-1E3E-4828-9616-4F6113F2B3A2}" authorId="{FCEC8412-AD84-0A78-8251-FC4504913E02}" created="2025-12-23T15:22:27.277">
    <ac:txMkLst xmlns:ac="http://schemas.microsoft.com/office/drawing/2013/main/command">
      <pc:docMk xmlns:pc="http://schemas.microsoft.com/office/powerpoint/2013/main/command"/>
      <pc:sldMk xmlns:pc="http://schemas.microsoft.com/office/powerpoint/2013/main/command" cId="3937609652" sldId="328"/>
      <ac:spMk id="4" creationId="{257036E6-703D-079D-FA10-D1BEAFD93784}"/>
      <ac:txMk cp="0" len="7">
        <ac:context len="17" hash="2115104100"/>
      </ac:txMk>
    </ac:txMkLst>
    <p188:pos x="2894012" y="339727"/>
    <p188:txBody>
      <a:bodyPr/>
      <a:lstStyle/>
      <a:p>
        <a:r>
          <a:rPr lang="ja-JP" altLang="en-US"/>
          <a:t>先行研究の→深度推定手法の，に変更しました</a:t>
        </a:r>
      </a:p>
    </p188:txBody>
  </p188:cm>
</p188:cmLst>
</file>

<file path=ppt/comments/modernComment_158_89B66B0E.xml><?xml version="1.0" encoding="utf-8"?>
<p188:cmLst xmlns:a="http://schemas.openxmlformats.org/drawingml/2006/main" xmlns:r="http://schemas.openxmlformats.org/officeDocument/2006/relationships" xmlns:p188="http://schemas.microsoft.com/office/powerpoint/2018/8/main">
  <p188:cm id="{7EF9EF83-8AEF-431A-BAD1-43E374399FA3}" authorId="{FCEC8412-AD84-0A78-8251-FC4504913E02}" created="2025-12-23T15:00:25.784">
    <ac:txMkLst xmlns:ac="http://schemas.microsoft.com/office/drawing/2013/main/command">
      <pc:docMk xmlns:pc="http://schemas.microsoft.com/office/powerpoint/2013/main/command"/>
      <pc:sldMk xmlns:pc="http://schemas.microsoft.com/office/powerpoint/2013/main/command" cId="2310433550" sldId="344"/>
      <ac:spMk id="2" creationId="{27D065F1-4917-1D97-DBC3-1EBED70D449F}"/>
      <ac:txMk cp="0" len="7">
        <ac:context len="8" hash="1247947545"/>
      </ac:txMk>
    </ac:txMkLst>
    <p188:pos x="4202112" y="444500"/>
    <p188:txBody>
      <a:bodyPr/>
      <a:lstStyle/>
      <a:p>
        <a:r>
          <a:rPr lang="ja-JP" altLang="en-US"/>
          <a:t>ここまでの単語に合わせて，深度を取得する原理→深度推定の原理，に変更しました．</a:t>
        </a:r>
      </a:p>
    </p188:txBody>
  </p188:cm>
</p188:cmLst>
</file>

<file path=ppt/comments/modernComment_174_87C725B0.xml><?xml version="1.0" encoding="utf-8"?>
<p188:cmLst xmlns:a="http://schemas.openxmlformats.org/drawingml/2006/main" xmlns:r="http://schemas.openxmlformats.org/officeDocument/2006/relationships" xmlns:p188="http://schemas.microsoft.com/office/powerpoint/2018/8/main">
  <p188:cm id="{D4639D10-EB2F-4EA1-8591-BA8299BAF13A}" authorId="{FCEC8412-AD84-0A78-8251-FC4504913E02}" created="2025-12-23T14:48:35.036">
    <ac:txMkLst xmlns:ac="http://schemas.microsoft.com/office/drawing/2013/main/command">
      <pc:docMk xmlns:pc="http://schemas.microsoft.com/office/powerpoint/2013/main/command"/>
      <pc:sldMk xmlns:pc="http://schemas.microsoft.com/office/powerpoint/2013/main/command" cId="2277975472" sldId="372"/>
      <ac:spMk id="3" creationId="{CABBF77B-2F1C-672B-3C07-8469F85AFBEA}"/>
      <ac:txMk cp="0" len="6">
        <ac:context len="23" hash="3396031775"/>
      </ac:txMk>
    </ac:txMkLst>
    <p188:pos x="2271712" y="354012"/>
    <p188:txBody>
      <a:bodyPr/>
      <a:lstStyle/>
      <a:p>
        <a:r>
          <a:rPr lang="ja-JP" altLang="en-US"/>
          <a:t>カメラ画像から→カメラ画像の，に変更しました</a:t>
        </a:r>
      </a:p>
    </p188:txBody>
  </p188:cm>
  <p188:cm id="{9D2C072A-C03E-4A07-9D0D-ED476B1C0F8F}" authorId="{FCEC8412-AD84-0A78-8251-FC4504913E02}" created="2025-12-23T14:51:54.415">
    <ac:txMkLst xmlns:ac="http://schemas.microsoft.com/office/drawing/2013/main/command">
      <pc:docMk xmlns:pc="http://schemas.microsoft.com/office/powerpoint/2013/main/command"/>
      <pc:sldMk xmlns:pc="http://schemas.microsoft.com/office/powerpoint/2013/main/command" cId="2277975472" sldId="372"/>
      <ac:spMk id="3" creationId="{CABBF77B-2F1C-672B-3C07-8469F85AFBEA}"/>
      <ac:txMk cp="14" len="8">
        <ac:context len="23" hash="3396031775"/>
      </ac:txMk>
    </ac:txMkLst>
    <p188:pos x="7671752" y="298132"/>
    <p188:txBody>
      <a:bodyPr/>
      <a:lstStyle/>
      <a:p>
        <a:r>
          <a:rPr lang="ja-JP" altLang="en-US"/>
          <a:t>で推定するSLAM→を用いたSLAM，に変更しました</a:t>
        </a:r>
      </a:p>
    </p188:txBody>
  </p188:cm>
  <p188:cm id="{06B902ED-8F05-4F24-96BA-D31418C9FE4A}" authorId="{FCEC8412-AD84-0A78-8251-FC4504913E02}" created="2025-12-23T14:52:23.026">
    <ac:deMkLst xmlns:ac="http://schemas.microsoft.com/office/drawing/2013/main/command">
      <pc:docMk xmlns:pc="http://schemas.microsoft.com/office/powerpoint/2013/main/command"/>
      <pc:sldMk xmlns:pc="http://schemas.microsoft.com/office/powerpoint/2013/main/command" cId="2277975472" sldId="372"/>
      <ac:spMk id="5" creationId="{4D755735-3F2B-9F34-8531-E311FA0E7CDC}"/>
    </ac:deMkLst>
    <p188:txBody>
      <a:bodyPr/>
      <a:lstStyle/>
      <a:p>
        <a:r>
          <a:rPr lang="ja-JP" altLang="en-US"/>
          <a:t>真っ黒で読みづらかったので枠付けました．気に入らんかったら外したりデザイン変えたりしてください</a:t>
        </a:r>
      </a:p>
    </p188:txBody>
  </p188:cm>
</p188:cmLst>
</file>

<file path=ppt/comments/modernComment_175_5315C675.xml><?xml version="1.0" encoding="utf-8"?>
<p188:cmLst xmlns:a="http://schemas.openxmlformats.org/drawingml/2006/main" xmlns:r="http://schemas.openxmlformats.org/officeDocument/2006/relationships" xmlns:p188="http://schemas.microsoft.com/office/powerpoint/2018/8/main">
  <p188:cm id="{C5EC0F32-DB27-4C14-BA07-1959D74A8C3D}" authorId="{FCEC8412-AD84-0A78-8251-FC4504913E02}" created="2025-12-23T15:20:08.414">
    <ac:txMkLst xmlns:ac="http://schemas.microsoft.com/office/drawing/2013/main/command">
      <pc:docMk xmlns:pc="http://schemas.microsoft.com/office/powerpoint/2013/main/command"/>
      <pc:sldMk xmlns:pc="http://schemas.microsoft.com/office/powerpoint/2013/main/command" cId="1393935989" sldId="373"/>
      <ac:spMk id="3" creationId="{60D7BBC3-AE0C-5D51-1200-946D2898C809}"/>
      <ac:txMk cp="31" len="6">
        <ac:context len="88" hash="1347019769"/>
      </ac:txMk>
    </ac:txMkLst>
    <p188:pos x="6450012" y="1266827"/>
    <p188:txBody>
      <a:bodyPr/>
      <a:lstStyle/>
      <a:p>
        <a:r>
          <a:rPr lang="ja-JP" altLang="en-US"/>
          <a:t>先行研究→深度推定手法，に変更しました</a:t>
        </a:r>
      </a:p>
    </p188:txBody>
  </p188:cm>
  <p188:cm id="{2A63FF18-8B69-4C27-859A-3BAE9E1A305E}" authorId="{FCEC8412-AD84-0A78-8251-FC4504913E02}" created="2025-12-23T15:20:37.423">
    <ac:txMkLst xmlns:ac="http://schemas.microsoft.com/office/drawing/2013/main/command">
      <pc:docMk xmlns:pc="http://schemas.microsoft.com/office/powerpoint/2013/main/command"/>
      <pc:sldMk xmlns:pc="http://schemas.microsoft.com/office/powerpoint/2013/main/command" cId="1393935989" sldId="373"/>
      <ac:spMk id="3" creationId="{60D7BBC3-AE0C-5D51-1200-946D2898C809}"/>
      <ac:txMk cp="44" len="42">
        <ac:context len="88" hash="1347019769"/>
      </ac:txMk>
    </ac:txMkLst>
    <p188:pos x="7935912" y="2320927"/>
    <p188:txBody>
      <a:bodyPr/>
      <a:lstStyle/>
      <a:p>
        <a:r>
          <a:rPr lang="ja-JP" altLang="en-US"/>
          <a:t>最終目的を改めて提示するよう変更しました
</a:t>
        </a:r>
      </a:p>
    </p188:txBody>
  </p188:cm>
</p188:cmLst>
</file>

<file path=ppt/comments/modernComment_176_492A7126.xml><?xml version="1.0" encoding="utf-8"?>
<p188:cmLst xmlns:a="http://schemas.openxmlformats.org/drawingml/2006/main" xmlns:r="http://schemas.openxmlformats.org/officeDocument/2006/relationships" xmlns:p188="http://schemas.microsoft.com/office/powerpoint/2018/8/main">
  <p188:cm id="{1BA75BA7-1CDE-4120-8250-8EA4D6688FED}" authorId="{FCEC8412-AD84-0A78-8251-FC4504913E02}" created="2025-12-23T14:55:47.582">
    <ac:txMkLst xmlns:ac="http://schemas.microsoft.com/office/drawing/2013/main/command">
      <pc:docMk xmlns:pc="http://schemas.microsoft.com/office/powerpoint/2013/main/command"/>
      <pc:sldMk xmlns:pc="http://schemas.microsoft.com/office/powerpoint/2013/main/command" cId="1227518246" sldId="374"/>
      <ac:spMk id="3" creationId="{E410165F-F59A-5633-01A5-879C1D9387F6}"/>
      <ac:txMk cp="0" len="7">
        <ac:context len="70" hash="1696857295"/>
      </ac:txMk>
    </ac:txMkLst>
    <p188:pos x="3833824" y="467477"/>
    <p188:txBody>
      <a:bodyPr/>
      <a:lstStyle/>
      <a:p>
        <a:r>
          <a:rPr lang="ja-JP" altLang="en-US"/>
          <a:t>下の文に合わせて，直接法Visual SLAM→直接法に基づく～，に変更しました</a:t>
        </a:r>
      </a:p>
    </p188:txBody>
  </p188:cm>
</p188:cmLst>
</file>

<file path=ppt/comments/modernComment_178_DA20843.xml><?xml version="1.0" encoding="utf-8"?>
<p188:cmLst xmlns:a="http://schemas.openxmlformats.org/drawingml/2006/main" xmlns:r="http://schemas.openxmlformats.org/officeDocument/2006/relationships" xmlns:p188="http://schemas.microsoft.com/office/powerpoint/2018/8/main">
  <p188:cm id="{0269A19F-A0F0-4CB2-B9F3-5A805FB351E5}" authorId="{FCEC8412-AD84-0A78-8251-FC4504913E02}" created="2025-12-23T15:07:16.564">
    <pc:sldMkLst xmlns:pc="http://schemas.microsoft.com/office/powerpoint/2013/main/command">
      <pc:docMk/>
      <pc:sldMk cId="228722755" sldId="376"/>
    </pc:sldMkLst>
    <p188:txBody>
      <a:bodyPr/>
      <a:lstStyle/>
      <a:p>
        <a:r>
          <a:rPr lang="ja-JP" altLang="en-US"/>
          <a:t>SLAM→Visual SLAM，に変更しました</a:t>
        </a:r>
      </a:p>
    </p188:txBody>
  </p188:cm>
  <p188:cm id="{3706670B-8294-47B5-9E16-7F7335286D8A}" authorId="{FCEC8412-AD84-0A78-8251-FC4504913E02}" created="2025-12-23T15:19:12.525">
    <ac:deMkLst xmlns:ac="http://schemas.microsoft.com/office/drawing/2013/main/command">
      <pc:docMk xmlns:pc="http://schemas.microsoft.com/office/powerpoint/2013/main/command"/>
      <pc:sldMk xmlns:pc="http://schemas.microsoft.com/office/powerpoint/2013/main/command" cId="228722755" sldId="376"/>
      <ac:spMk id="3" creationId="{B0BBB777-0AC5-6E11-4E59-2741CC80FAB5}"/>
    </ac:deMkLst>
    <p188:txBody>
      <a:bodyPr/>
      <a:lstStyle/>
      <a:p>
        <a:r>
          <a:rPr lang="ja-JP" altLang="en-US"/>
          <a:t>行間調節しました</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4434999" cy="356437"/>
          </a:xfrm>
          <a:prstGeom prst="rect">
            <a:avLst/>
          </a:prstGeom>
        </p:spPr>
        <p:txBody>
          <a:bodyPr vert="horz" lIns="99075" tIns="49538" rIns="99075" bIns="49538" rtlCol="0"/>
          <a:lstStyle>
            <a:lvl1pPr algn="l">
              <a:defRPr sz="1300"/>
            </a:lvl1pPr>
          </a:lstStyle>
          <a:p>
            <a:endParaRPr kumimoji="1" lang="ja-JP" altLang="en-US"/>
          </a:p>
        </p:txBody>
      </p:sp>
      <p:sp>
        <p:nvSpPr>
          <p:cNvPr id="3" name="日付プレースホルダー 2"/>
          <p:cNvSpPr>
            <a:spLocks noGrp="1"/>
          </p:cNvSpPr>
          <p:nvPr>
            <p:ph type="dt" idx="1"/>
          </p:nvPr>
        </p:nvSpPr>
        <p:spPr>
          <a:xfrm>
            <a:off x="5797246" y="0"/>
            <a:ext cx="4434999" cy="356437"/>
          </a:xfrm>
          <a:prstGeom prst="rect">
            <a:avLst/>
          </a:prstGeom>
        </p:spPr>
        <p:txBody>
          <a:bodyPr vert="horz" lIns="99075" tIns="49538" rIns="99075" bIns="49538" rtlCol="0"/>
          <a:lstStyle>
            <a:lvl1pPr algn="r">
              <a:defRPr sz="1300"/>
            </a:lvl1pPr>
          </a:lstStyle>
          <a:p>
            <a:fld id="{2B37D1C6-C1CD-455D-BE18-CACF56AF0CED}" type="datetimeFigureOut">
              <a:rPr kumimoji="1" lang="ja-JP" altLang="en-US" smtClean="0"/>
              <a:t>2025/12/24</a:t>
            </a:fld>
            <a:endParaRPr kumimoji="1" lang="ja-JP" altLang="en-US"/>
          </a:p>
        </p:txBody>
      </p:sp>
      <p:sp>
        <p:nvSpPr>
          <p:cNvPr id="4" name="スライド イメージ プレースホルダー 3"/>
          <p:cNvSpPr>
            <a:spLocks noGrp="1" noRot="1" noChangeAspect="1"/>
          </p:cNvSpPr>
          <p:nvPr>
            <p:ph type="sldImg" idx="2"/>
          </p:nvPr>
        </p:nvSpPr>
        <p:spPr>
          <a:xfrm>
            <a:off x="3517900" y="887413"/>
            <a:ext cx="3198813" cy="2398712"/>
          </a:xfrm>
          <a:prstGeom prst="rect">
            <a:avLst/>
          </a:prstGeom>
          <a:noFill/>
          <a:ln w="12700">
            <a:solidFill>
              <a:prstClr val="black"/>
            </a:solidFill>
          </a:ln>
        </p:spPr>
        <p:txBody>
          <a:bodyPr vert="horz" lIns="99075" tIns="49538" rIns="99075" bIns="49538" rtlCol="0" anchor="ctr"/>
          <a:lstStyle/>
          <a:p>
            <a:endParaRPr lang="ja-JP" altLang="en-US"/>
          </a:p>
        </p:txBody>
      </p:sp>
      <p:sp>
        <p:nvSpPr>
          <p:cNvPr id="5" name="ノート プレースホルダー 4"/>
          <p:cNvSpPr>
            <a:spLocks noGrp="1"/>
          </p:cNvSpPr>
          <p:nvPr>
            <p:ph type="body" sz="quarter" idx="3"/>
          </p:nvPr>
        </p:nvSpPr>
        <p:spPr>
          <a:xfrm>
            <a:off x="1023462" y="3418830"/>
            <a:ext cx="8187690" cy="2797225"/>
          </a:xfrm>
          <a:prstGeom prst="rect">
            <a:avLst/>
          </a:prstGeom>
        </p:spPr>
        <p:txBody>
          <a:bodyPr vert="horz" lIns="99075" tIns="49538" rIns="99075" bIns="49538"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747628"/>
            <a:ext cx="4434999" cy="356436"/>
          </a:xfrm>
          <a:prstGeom prst="rect">
            <a:avLst/>
          </a:prstGeom>
        </p:spPr>
        <p:txBody>
          <a:bodyPr vert="horz" lIns="99075" tIns="49538" rIns="99075" bIns="49538" rtlCol="0" anchor="b"/>
          <a:lstStyle>
            <a:lvl1pPr algn="l">
              <a:defRPr sz="1300"/>
            </a:lvl1pPr>
          </a:lstStyle>
          <a:p>
            <a:endParaRPr kumimoji="1" lang="ja-JP" altLang="en-US"/>
          </a:p>
        </p:txBody>
      </p:sp>
      <p:sp>
        <p:nvSpPr>
          <p:cNvPr id="7" name="スライド番号プレースホルダー 6"/>
          <p:cNvSpPr>
            <a:spLocks noGrp="1"/>
          </p:cNvSpPr>
          <p:nvPr>
            <p:ph type="sldNum" sz="quarter" idx="5"/>
          </p:nvPr>
        </p:nvSpPr>
        <p:spPr>
          <a:xfrm>
            <a:off x="5797246" y="6747628"/>
            <a:ext cx="4434999" cy="356436"/>
          </a:xfrm>
          <a:prstGeom prst="rect">
            <a:avLst/>
          </a:prstGeom>
        </p:spPr>
        <p:txBody>
          <a:bodyPr vert="horz" lIns="99075" tIns="49538" rIns="99075" bIns="49538" rtlCol="0" anchor="b"/>
          <a:lstStyle>
            <a:lvl1pPr algn="r">
              <a:defRPr sz="1300"/>
            </a:lvl1pPr>
          </a:lstStyle>
          <a:p>
            <a:fld id="{4E170B34-5CB9-4F28-95F7-58933E9937F4}" type="slidenum">
              <a:rPr kumimoji="1" lang="ja-JP" altLang="en-US" smtClean="0"/>
              <a:t>‹#›</a:t>
            </a:fld>
            <a:endParaRPr kumimoji="1" lang="ja-JP" altLang="en-US"/>
          </a:p>
        </p:txBody>
      </p:sp>
    </p:spTree>
    <p:extLst>
      <p:ext uri="{BB962C8B-B14F-4D97-AF65-F5344CB8AC3E}">
        <p14:creationId xmlns:p14="http://schemas.microsoft.com/office/powerpoint/2010/main" val="202775596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システム制御工学室の髙岸司です．</a:t>
            </a:r>
            <a:br>
              <a:rPr kumimoji="1" lang="en-US" altLang="ja-JP" dirty="0"/>
            </a:br>
            <a:r>
              <a:rPr lang="en-US" altLang="ja-JP" sz="1300" dirty="0"/>
              <a:t>4</a:t>
            </a:r>
            <a:r>
              <a:rPr lang="ja-JP" altLang="en-US" sz="1300" dirty="0"/>
              <a:t>つの魚眼カメラで生成したパノラマ深さ画像を用いた</a:t>
            </a:r>
            <a:r>
              <a:rPr lang="en-US" altLang="ja-JP" sz="1300" dirty="0"/>
              <a:t>SLAM</a:t>
            </a:r>
            <a:r>
              <a:rPr lang="ja-JP" altLang="en-US" sz="1300" dirty="0"/>
              <a:t>に関する研究について説明します．</a:t>
            </a:r>
            <a:endParaRPr kumimoji="1" lang="ja-JP" altLang="en-US" dirty="0"/>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1</a:t>
            </a:fld>
            <a:endParaRPr kumimoji="1" lang="ja-JP" altLang="en-US"/>
          </a:p>
        </p:txBody>
      </p:sp>
    </p:spTree>
    <p:extLst>
      <p:ext uri="{BB962C8B-B14F-4D97-AF65-F5344CB8AC3E}">
        <p14:creationId xmlns:p14="http://schemas.microsoft.com/office/powerpoint/2010/main" val="1699329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SLAM</a:t>
            </a:r>
            <a:r>
              <a:rPr kumimoji="1" lang="ja-JP" altLang="en-US" dirty="0"/>
              <a:t>とは先ほど申し上げた通り未知環境下で自己位置推定と地図作成を同時に行う技術です．</a:t>
            </a:r>
            <a:br>
              <a:rPr kumimoji="1" lang="en-US" altLang="ja-JP" dirty="0"/>
            </a:br>
            <a:r>
              <a:rPr kumimoji="1" lang="ja-JP" altLang="en-US" dirty="0"/>
              <a:t>端的に言うと自分がどこにいるかを認識するための技術になります．</a:t>
            </a:r>
            <a:endParaRPr kumimoji="1" lang="en-US" altLang="ja-JP" dirty="0"/>
          </a:p>
          <a:p>
            <a:r>
              <a:rPr kumimoji="1" lang="en-US" altLang="ja-JP" dirty="0"/>
              <a:t>SLAM</a:t>
            </a:r>
            <a:r>
              <a:rPr kumimoji="1" lang="ja-JP" altLang="en-US" dirty="0"/>
              <a:t>の技術は切り分けると</a:t>
            </a:r>
            <a:r>
              <a:rPr kumimoji="1" lang="en-US" altLang="ja-JP" dirty="0"/>
              <a:t>3</a:t>
            </a:r>
            <a:r>
              <a:rPr kumimoji="1" lang="ja-JP" altLang="en-US" dirty="0"/>
              <a:t>つに分かれます．</a:t>
            </a:r>
            <a:endParaRPr kumimoji="1" lang="en-US" altLang="ja-JP" dirty="0"/>
          </a:p>
          <a:p>
            <a:r>
              <a:rPr kumimoji="1" lang="ja-JP" altLang="en-US" dirty="0"/>
              <a:t>まず最初にセンサで観測することで周囲の環境を把握します．未知環境では人は周りを見渡しながら次の行動をとると思いますが，ロボットにとってはこれが周囲を見渡すことにあたります．</a:t>
            </a:r>
            <a:endParaRPr kumimoji="1" lang="en-US" altLang="ja-JP" dirty="0"/>
          </a:p>
          <a:p>
            <a:r>
              <a:rPr kumimoji="1" lang="ja-JP" altLang="en-US" dirty="0"/>
              <a:t>次に観測して蓄積された情報を元につなぎ合わせて地図を作成します．</a:t>
            </a:r>
            <a:br>
              <a:rPr kumimoji="1" lang="en-US" altLang="ja-JP" dirty="0"/>
            </a:br>
            <a:r>
              <a:rPr kumimoji="1" lang="ja-JP" altLang="en-US" dirty="0"/>
              <a:t>最後に自身が作成した地図において自分がどこにいるかを推定します．</a:t>
            </a:r>
            <a:endParaRPr kumimoji="1" lang="en-US" altLang="ja-JP" dirty="0"/>
          </a:p>
          <a:p>
            <a:r>
              <a:rPr kumimoji="1" lang="ja-JP" altLang="en-US" dirty="0"/>
              <a:t>これら</a:t>
            </a:r>
            <a:r>
              <a:rPr kumimoji="1" lang="en-US" altLang="ja-JP" dirty="0"/>
              <a:t>3</a:t>
            </a:r>
            <a:r>
              <a:rPr kumimoji="1" lang="ja-JP" altLang="en-US" dirty="0"/>
              <a:t>つを同時並行で行い，リアルタイムで自分がどこにいるかを認識する技術が</a:t>
            </a:r>
            <a:r>
              <a:rPr kumimoji="1" lang="en-US" altLang="ja-JP" dirty="0"/>
              <a:t>SLAM</a:t>
            </a:r>
            <a:r>
              <a:rPr kumimoji="1" lang="ja-JP" altLang="en-US" dirty="0"/>
              <a:t>になります．</a:t>
            </a:r>
            <a:endParaRPr kumimoji="1" lang="en-US" altLang="ja-JP" dirty="0"/>
          </a:p>
          <a:p>
            <a:r>
              <a:rPr kumimoji="1" lang="ja-JP" altLang="en-US" dirty="0"/>
              <a:t>私はこのセンサで観測するという部分を工夫しようと考えております．</a:t>
            </a:r>
            <a:endParaRPr kumimoji="1" lang="en-US" altLang="ja-JP" dirty="0"/>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2</a:t>
            </a:fld>
            <a:endParaRPr kumimoji="1" lang="ja-JP" altLang="en-US"/>
          </a:p>
        </p:txBody>
      </p:sp>
    </p:spTree>
    <p:extLst>
      <p:ext uri="{BB962C8B-B14F-4D97-AF65-F5344CB8AC3E}">
        <p14:creationId xmlns:p14="http://schemas.microsoft.com/office/powerpoint/2010/main" val="3639439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3</a:t>
            </a:fld>
            <a:endParaRPr kumimoji="1" lang="ja-JP" altLang="en-US"/>
          </a:p>
        </p:txBody>
      </p:sp>
    </p:spTree>
    <p:extLst>
      <p:ext uri="{BB962C8B-B14F-4D97-AF65-F5344CB8AC3E}">
        <p14:creationId xmlns:p14="http://schemas.microsoft.com/office/powerpoint/2010/main" val="6326181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defTabSz="990752">
              <a:defRPr/>
            </a:pPr>
            <a:r>
              <a:rPr kumimoji="1" lang="ja-JP" altLang="en-US" dirty="0"/>
              <a:t>今回使用するハードウェア構成について説明します．</a:t>
            </a:r>
            <a:br>
              <a:rPr kumimoji="1" lang="en-US" altLang="ja-JP" dirty="0"/>
            </a:br>
            <a:r>
              <a:rPr kumimoji="1" lang="ja-JP" altLang="en-US" dirty="0"/>
              <a:t>大きく</a:t>
            </a:r>
            <a:r>
              <a:rPr kumimoji="1" lang="en-US" altLang="ja-JP" dirty="0"/>
              <a:t>3</a:t>
            </a:r>
            <a:r>
              <a:rPr kumimoji="1" lang="ja-JP" altLang="en-US" dirty="0"/>
              <a:t>つのパーツに分かれており，一つ目が</a:t>
            </a:r>
            <a:r>
              <a:rPr kumimoji="1" lang="en-US" altLang="ja-JP" dirty="0" err="1"/>
              <a:t>JetsonAGXOrin</a:t>
            </a:r>
            <a:r>
              <a:rPr kumimoji="1" lang="ja-JP" altLang="en-US" dirty="0"/>
              <a:t>．</a:t>
            </a:r>
            <a:br>
              <a:rPr kumimoji="1" lang="en-US" altLang="ja-JP" dirty="0"/>
            </a:br>
            <a:r>
              <a:rPr lang="ja-JP" altLang="en-US" dirty="0"/>
              <a:t>小型で高性能な組み込み</a:t>
            </a:r>
            <a:r>
              <a:rPr lang="en-US" altLang="ja-JP" dirty="0"/>
              <a:t>AI</a:t>
            </a:r>
            <a:r>
              <a:rPr lang="ja-JP" altLang="en-US" dirty="0"/>
              <a:t>コンピューティングプラットフォームです．</a:t>
            </a:r>
            <a:endParaRPr lang="en-US" altLang="ja-JP" dirty="0"/>
          </a:p>
          <a:p>
            <a:pPr defTabSz="990752">
              <a:defRPr/>
            </a:pPr>
            <a:r>
              <a:rPr lang="ja-JP" altLang="en-US" dirty="0"/>
              <a:t>二つ目が魚眼カメラ．約</a:t>
            </a:r>
            <a:r>
              <a:rPr lang="en-US" altLang="ja-JP" dirty="0"/>
              <a:t>220°</a:t>
            </a:r>
            <a:r>
              <a:rPr lang="ja-JP" altLang="en-US" dirty="0"/>
              <a:t>の視野角を持ち，上段</a:t>
            </a:r>
            <a:r>
              <a:rPr lang="en-US" altLang="ja-JP" dirty="0"/>
              <a:t>2</a:t>
            </a:r>
            <a:r>
              <a:rPr lang="ja-JP" altLang="en-US" dirty="0"/>
              <a:t>つ下段</a:t>
            </a:r>
            <a:r>
              <a:rPr lang="en-US" altLang="ja-JP" dirty="0"/>
              <a:t>2</a:t>
            </a:r>
            <a:r>
              <a:rPr lang="ja-JP" altLang="en-US" dirty="0"/>
              <a:t>つに四方に向くように配置します．</a:t>
            </a:r>
            <a:endParaRPr lang="en-US" altLang="ja-JP" dirty="0"/>
          </a:p>
          <a:p>
            <a:pPr defTabSz="990752">
              <a:defRPr/>
            </a:pPr>
            <a:r>
              <a:rPr lang="en-US" altLang="ja-JP" dirty="0"/>
              <a:t>3</a:t>
            </a:r>
            <a:r>
              <a:rPr lang="ja-JP" altLang="en-US" dirty="0"/>
              <a:t>つ目がカメラを固定するためのカメラフレームです．これは</a:t>
            </a:r>
            <a:r>
              <a:rPr lang="en-US" altLang="ja-JP" dirty="0"/>
              <a:t>3D</a:t>
            </a:r>
            <a:r>
              <a:rPr lang="ja-JP" altLang="en-US" dirty="0"/>
              <a:t>プリンターで作成しました．</a:t>
            </a:r>
            <a:endParaRPr lang="en-US" altLang="ja-JP" dirty="0"/>
          </a:p>
          <a:p>
            <a:pPr defTabSz="990752">
              <a:defRPr/>
            </a:pPr>
            <a:r>
              <a:rPr lang="ja-JP" altLang="en-US" dirty="0"/>
              <a:t>これら</a:t>
            </a:r>
            <a:r>
              <a:rPr lang="en-US" altLang="ja-JP" dirty="0"/>
              <a:t>3</a:t>
            </a:r>
            <a:r>
              <a:rPr lang="ja-JP" altLang="en-US" dirty="0"/>
              <a:t>つを組み立てて画像のようなハードウェアを構成します．</a:t>
            </a:r>
            <a:endParaRPr lang="en-US" altLang="ja-JP" dirty="0"/>
          </a:p>
          <a:p>
            <a:pPr defTabSz="990752">
              <a:defRPr/>
            </a:pPr>
            <a:endParaRPr lang="en-US" altLang="ja-JP" dirty="0"/>
          </a:p>
          <a:p>
            <a:pPr defTabSz="990752">
              <a:defRPr/>
            </a:pPr>
            <a:endParaRPr lang="en-US" altLang="ja-JP" dirty="0"/>
          </a:p>
          <a:p>
            <a:pPr defTabSz="990752">
              <a:defRPr/>
            </a:pPr>
            <a:endParaRPr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5</a:t>
            </a:fld>
            <a:endParaRPr kumimoji="1" lang="ja-JP" altLang="en-US"/>
          </a:p>
        </p:txBody>
      </p:sp>
    </p:spTree>
    <p:extLst>
      <p:ext uri="{BB962C8B-B14F-4D97-AF65-F5344CB8AC3E}">
        <p14:creationId xmlns:p14="http://schemas.microsoft.com/office/powerpoint/2010/main" val="33022781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4CA3C-3033-E12E-5E03-0DD9963C0C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6D531D-971B-8142-91A8-4B568BFC2523}"/>
              </a:ext>
            </a:extLst>
          </p:cNvPr>
          <p:cNvSpPr>
            <a:spLocks noGrp="1" noRot="1" noChangeAspect="1"/>
          </p:cNvSpPr>
          <p:nvPr>
            <p:ph type="sldImg"/>
          </p:nvPr>
        </p:nvSpPr>
        <p:spPr>
          <a:xfrm>
            <a:off x="3517900" y="887413"/>
            <a:ext cx="3198813" cy="2398712"/>
          </a:xfrm>
        </p:spPr>
      </p:sp>
      <p:sp>
        <p:nvSpPr>
          <p:cNvPr id="3" name="ノート プレースホルダー 2">
            <a:extLst>
              <a:ext uri="{FF2B5EF4-FFF2-40B4-BE49-F238E27FC236}">
                <a16:creationId xmlns:a16="http://schemas.microsoft.com/office/drawing/2014/main" id="{ACADABB5-62B1-1B69-25B9-4289CD8024E3}"/>
              </a:ext>
            </a:extLst>
          </p:cNvPr>
          <p:cNvSpPr>
            <a:spLocks noGrp="1"/>
          </p:cNvSpPr>
          <p:nvPr>
            <p:ph type="body" idx="1"/>
          </p:nvPr>
        </p:nvSpPr>
        <p:spPr/>
        <p:txBody>
          <a:bodyPr/>
          <a:lstStyle/>
          <a:p>
            <a:r>
              <a:rPr kumimoji="1" lang="ja-JP" altLang="en-US" dirty="0"/>
              <a:t>構築するプログラムのアルゴリズムについて改めて説明させていただきます．</a:t>
            </a:r>
            <a:endParaRPr kumimoji="1" lang="en-US" altLang="ja-JP" dirty="0"/>
          </a:p>
          <a:p>
            <a:r>
              <a:rPr kumimoji="1" lang="ja-JP" altLang="en-US" dirty="0"/>
              <a:t>こちらは先ほど説明したハードウェアを表した図です．</a:t>
            </a:r>
            <a:endParaRPr kumimoji="1" lang="en-US" altLang="ja-JP" dirty="0"/>
          </a:p>
          <a:p>
            <a:r>
              <a:rPr kumimoji="1" lang="ja-JP" altLang="en-US" dirty="0"/>
              <a:t>この扇形が魚眼カメラを表していて，かつその魚眼レンズの視野を表しています．</a:t>
            </a:r>
            <a:endParaRPr kumimoji="1" lang="en-US" altLang="ja-JP" dirty="0"/>
          </a:p>
          <a:p>
            <a:r>
              <a:rPr kumimoji="1" lang="ja-JP" altLang="en-US" dirty="0"/>
              <a:t>この画像は実際に研究室を撮影した写真です．</a:t>
            </a:r>
            <a:endParaRPr kumimoji="1" lang="en-US" altLang="ja-JP" dirty="0"/>
          </a:p>
          <a:p>
            <a:r>
              <a:rPr kumimoji="1" lang="ja-JP" altLang="en-US" dirty="0"/>
              <a:t>ある画像の深度を取得するためには二つのカメラに写っている必要があります．</a:t>
            </a:r>
            <a:endParaRPr kumimoji="1" lang="en-US" altLang="ja-JP" dirty="0"/>
          </a:p>
          <a:p>
            <a:r>
              <a:rPr kumimoji="1" lang="ja-JP" altLang="en-US" dirty="0"/>
              <a:t>今回青のカメラを基準カメラ，赤のカメラを補助カメラとして説明していきます．</a:t>
            </a:r>
            <a:endParaRPr kumimoji="1" lang="en-US" altLang="ja-JP" dirty="0"/>
          </a:p>
        </p:txBody>
      </p:sp>
      <p:sp>
        <p:nvSpPr>
          <p:cNvPr id="4" name="スライド番号プレースホルダー 3">
            <a:extLst>
              <a:ext uri="{FF2B5EF4-FFF2-40B4-BE49-F238E27FC236}">
                <a16:creationId xmlns:a16="http://schemas.microsoft.com/office/drawing/2014/main" id="{60C3BE54-0EF0-4F98-62EC-8D0DE4CD2CBA}"/>
              </a:ext>
            </a:extLst>
          </p:cNvPr>
          <p:cNvSpPr>
            <a:spLocks noGrp="1"/>
          </p:cNvSpPr>
          <p:nvPr>
            <p:ph type="sldNum" sz="quarter" idx="5"/>
          </p:nvPr>
        </p:nvSpPr>
        <p:spPr/>
        <p:txBody>
          <a:bodyPr/>
          <a:lstStyle/>
          <a:p>
            <a:fld id="{DA21F1EB-BD56-49F9-AE01-F1F4E146A1A8}" type="slidenum">
              <a:rPr kumimoji="1" lang="ja-JP" altLang="en-US" smtClean="0"/>
              <a:t>6</a:t>
            </a:fld>
            <a:endParaRPr kumimoji="1" lang="ja-JP" altLang="en-US"/>
          </a:p>
        </p:txBody>
      </p:sp>
    </p:spTree>
    <p:extLst>
      <p:ext uri="{BB962C8B-B14F-4D97-AF65-F5344CB8AC3E}">
        <p14:creationId xmlns:p14="http://schemas.microsoft.com/office/powerpoint/2010/main" val="36314461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6DB98-0111-B6CE-297D-CA405E15F3D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116DC9D-7315-8FC3-29D8-2E5D4C923C3B}"/>
              </a:ext>
            </a:extLst>
          </p:cNvPr>
          <p:cNvSpPr>
            <a:spLocks noGrp="1" noRot="1" noChangeAspect="1"/>
          </p:cNvSpPr>
          <p:nvPr>
            <p:ph type="sldImg"/>
          </p:nvPr>
        </p:nvSpPr>
        <p:spPr>
          <a:xfrm>
            <a:off x="3517900" y="887413"/>
            <a:ext cx="3198813" cy="2398712"/>
          </a:xfrm>
        </p:spPr>
      </p:sp>
      <p:sp>
        <p:nvSpPr>
          <p:cNvPr id="3" name="ノート プレースホルダー 2">
            <a:extLst>
              <a:ext uri="{FF2B5EF4-FFF2-40B4-BE49-F238E27FC236}">
                <a16:creationId xmlns:a16="http://schemas.microsoft.com/office/drawing/2014/main" id="{98958E96-45E3-6F81-3647-021F63A930B8}"/>
              </a:ext>
            </a:extLst>
          </p:cNvPr>
          <p:cNvSpPr>
            <a:spLocks noGrp="1"/>
          </p:cNvSpPr>
          <p:nvPr>
            <p:ph type="body" idx="1"/>
          </p:nvPr>
        </p:nvSpPr>
        <p:spPr/>
        <p:txBody>
          <a:bodyPr/>
          <a:lstStyle/>
          <a:p>
            <a:r>
              <a:rPr kumimoji="1" lang="ja-JP" altLang="en-US" dirty="0"/>
              <a:t>基準カメラの画像をご覧ください．</a:t>
            </a:r>
            <a:endParaRPr kumimoji="1" lang="en-US" altLang="ja-JP" dirty="0"/>
          </a:p>
          <a:p>
            <a:r>
              <a:rPr kumimoji="1" lang="ja-JP" altLang="en-US" dirty="0"/>
              <a:t>今回この青点の深度について考えていきます．</a:t>
            </a:r>
            <a:endParaRPr kumimoji="1" lang="en-US" altLang="ja-JP" dirty="0"/>
          </a:p>
          <a:p>
            <a:r>
              <a:rPr kumimoji="1" lang="ja-JP" altLang="en-US" dirty="0"/>
              <a:t>この図はハードウェアと映っている僕の配置を表した図です．</a:t>
            </a:r>
            <a:endParaRPr kumimoji="1" lang="en-US" altLang="ja-JP" dirty="0"/>
          </a:p>
          <a:p>
            <a:r>
              <a:rPr kumimoji="1" lang="ja-JP" altLang="en-US" dirty="0"/>
              <a:t>ここで魚眼カメラのピクセルの捉え方について説明します．</a:t>
            </a:r>
            <a:endParaRPr kumimoji="1" lang="en-US" altLang="ja-JP" dirty="0"/>
          </a:p>
          <a:p>
            <a:r>
              <a:rPr kumimoji="1" lang="ja-JP" altLang="en-US" dirty="0"/>
              <a:t>一般的なカメラは平面に投影されてるため</a:t>
            </a:r>
            <a:r>
              <a:rPr kumimoji="1" lang="en-US" altLang="ja-JP" dirty="0" err="1"/>
              <a:t>xy</a:t>
            </a:r>
            <a:r>
              <a:rPr kumimoji="1" lang="ja-JP" altLang="en-US" dirty="0"/>
              <a:t>平面で考えることが多いですが，魚眼カメラは球面に投影されているため極座標的にとらえられます．</a:t>
            </a:r>
            <a:endParaRPr kumimoji="1" lang="en-US" altLang="ja-JP" dirty="0"/>
          </a:p>
          <a:p>
            <a:r>
              <a:rPr kumimoji="1" lang="ja-JP" altLang="en-US" dirty="0"/>
              <a:t>よってそのピクセルの位置はカメラから見た方向ベクトルとなります．</a:t>
            </a:r>
            <a:endParaRPr kumimoji="1" lang="en-US" altLang="ja-JP" dirty="0"/>
          </a:p>
          <a:p>
            <a:r>
              <a:rPr kumimoji="1" lang="ja-JP" altLang="en-US" dirty="0"/>
              <a:t>ただ，カラー画像だけでは青点の方向にいる僕までの距離を推定することはできません．</a:t>
            </a:r>
            <a:endParaRPr kumimoji="1" lang="en-US" altLang="ja-JP" dirty="0"/>
          </a:p>
          <a:p>
            <a:r>
              <a:rPr kumimoji="1" lang="ja-JP" altLang="en-US" dirty="0"/>
              <a:t>この青い点線上のどこに僕がいるかわからないのです．</a:t>
            </a:r>
            <a:endParaRPr kumimoji="1" lang="en-US" altLang="ja-JP" dirty="0"/>
          </a:p>
          <a:p>
            <a:r>
              <a:rPr kumimoji="1" lang="ja-JP" altLang="en-US" dirty="0"/>
              <a:t>ここで深度を仮定して補助カメラから見るとどこに見えるかを考えてみます</a:t>
            </a:r>
          </a:p>
        </p:txBody>
      </p:sp>
      <p:sp>
        <p:nvSpPr>
          <p:cNvPr id="4" name="スライド番号プレースホルダー 3">
            <a:extLst>
              <a:ext uri="{FF2B5EF4-FFF2-40B4-BE49-F238E27FC236}">
                <a16:creationId xmlns:a16="http://schemas.microsoft.com/office/drawing/2014/main" id="{5A0DE83B-CC64-C431-3BF7-EB7054C74135}"/>
              </a:ext>
            </a:extLst>
          </p:cNvPr>
          <p:cNvSpPr>
            <a:spLocks noGrp="1"/>
          </p:cNvSpPr>
          <p:nvPr>
            <p:ph type="sldNum" sz="quarter" idx="5"/>
          </p:nvPr>
        </p:nvSpPr>
        <p:spPr/>
        <p:txBody>
          <a:bodyPr/>
          <a:lstStyle/>
          <a:p>
            <a:fld id="{DA21F1EB-BD56-49F9-AE01-F1F4E146A1A8}" type="slidenum">
              <a:rPr kumimoji="1" lang="ja-JP" altLang="en-US" smtClean="0"/>
              <a:t>7</a:t>
            </a:fld>
            <a:endParaRPr kumimoji="1" lang="ja-JP" altLang="en-US"/>
          </a:p>
        </p:txBody>
      </p:sp>
    </p:spTree>
    <p:extLst>
      <p:ext uri="{BB962C8B-B14F-4D97-AF65-F5344CB8AC3E}">
        <p14:creationId xmlns:p14="http://schemas.microsoft.com/office/powerpoint/2010/main" val="1996045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7C1C6-76FF-E0E7-153E-3AF98EBC240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0FB478-1775-BC1D-A0AA-3FB524B9D456}"/>
              </a:ext>
            </a:extLst>
          </p:cNvPr>
          <p:cNvSpPr>
            <a:spLocks noGrp="1" noRot="1" noChangeAspect="1"/>
          </p:cNvSpPr>
          <p:nvPr>
            <p:ph type="sldImg"/>
          </p:nvPr>
        </p:nvSpPr>
        <p:spPr>
          <a:xfrm>
            <a:off x="3517900" y="887413"/>
            <a:ext cx="3198813" cy="2398712"/>
          </a:xfrm>
        </p:spPr>
      </p:sp>
      <p:sp>
        <p:nvSpPr>
          <p:cNvPr id="3" name="ノート プレースホルダー 2">
            <a:extLst>
              <a:ext uri="{FF2B5EF4-FFF2-40B4-BE49-F238E27FC236}">
                <a16:creationId xmlns:a16="http://schemas.microsoft.com/office/drawing/2014/main" id="{ED0FD9F8-F865-C9C7-0222-33E226843D83}"/>
              </a:ext>
            </a:extLst>
          </p:cNvPr>
          <p:cNvSpPr>
            <a:spLocks noGrp="1"/>
          </p:cNvSpPr>
          <p:nvPr>
            <p:ph type="body" idx="1"/>
          </p:nvPr>
        </p:nvSpPr>
        <p:spPr/>
        <p:txBody>
          <a:bodyPr/>
          <a:lstStyle/>
          <a:p>
            <a:r>
              <a:rPr kumimoji="1" lang="ja-JP" altLang="en-US" dirty="0"/>
              <a:t>例えば図の赤点のように基準カメラから近いところにいた場合，補助カメラに投影されるであろう場所は本来より左側となります．</a:t>
            </a:r>
            <a:endParaRPr kumimoji="1" lang="en-US" altLang="ja-JP" dirty="0"/>
          </a:p>
          <a:p>
            <a:r>
              <a:rPr kumimoji="1" lang="ja-JP" altLang="en-US" dirty="0"/>
              <a:t>このように深さを変化させると，補助カメラに投影される赤点の位置は大きく変わります．</a:t>
            </a:r>
            <a:endParaRPr kumimoji="1" lang="en-US" altLang="ja-JP" dirty="0"/>
          </a:p>
          <a:p>
            <a:r>
              <a:rPr kumimoji="1" lang="ja-JP" altLang="en-US" dirty="0"/>
              <a:t>つまり，正しい距離であれば補助カメラに再投影された赤点の色情報と基準カメラに投影されている青点の色情報は近しいものとなるはずです．</a:t>
            </a:r>
          </a:p>
        </p:txBody>
      </p:sp>
      <p:sp>
        <p:nvSpPr>
          <p:cNvPr id="4" name="スライド番号プレースホルダー 3">
            <a:extLst>
              <a:ext uri="{FF2B5EF4-FFF2-40B4-BE49-F238E27FC236}">
                <a16:creationId xmlns:a16="http://schemas.microsoft.com/office/drawing/2014/main" id="{E3D52460-D832-AF42-F64D-A10FA9A2DBA3}"/>
              </a:ext>
            </a:extLst>
          </p:cNvPr>
          <p:cNvSpPr>
            <a:spLocks noGrp="1"/>
          </p:cNvSpPr>
          <p:nvPr>
            <p:ph type="sldNum" sz="quarter" idx="5"/>
          </p:nvPr>
        </p:nvSpPr>
        <p:spPr/>
        <p:txBody>
          <a:bodyPr/>
          <a:lstStyle/>
          <a:p>
            <a:fld id="{DA21F1EB-BD56-49F9-AE01-F1F4E146A1A8}" type="slidenum">
              <a:rPr kumimoji="1" lang="ja-JP" altLang="en-US" smtClean="0"/>
              <a:t>8</a:t>
            </a:fld>
            <a:endParaRPr kumimoji="1" lang="ja-JP" altLang="en-US"/>
          </a:p>
        </p:txBody>
      </p:sp>
    </p:spTree>
    <p:extLst>
      <p:ext uri="{BB962C8B-B14F-4D97-AF65-F5344CB8AC3E}">
        <p14:creationId xmlns:p14="http://schemas.microsoft.com/office/powerpoint/2010/main" val="720786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BDF73-36F2-2794-78ED-AA547D0E1CD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06A3719-28A8-DC5B-48C7-E53416E96B35}"/>
              </a:ext>
            </a:extLst>
          </p:cNvPr>
          <p:cNvSpPr>
            <a:spLocks noGrp="1" noRot="1" noChangeAspect="1"/>
          </p:cNvSpPr>
          <p:nvPr>
            <p:ph type="sldImg"/>
          </p:nvPr>
        </p:nvSpPr>
        <p:spPr>
          <a:xfrm>
            <a:off x="3517900" y="887413"/>
            <a:ext cx="3198813" cy="2398712"/>
          </a:xfrm>
        </p:spPr>
      </p:sp>
      <p:sp>
        <p:nvSpPr>
          <p:cNvPr id="3" name="ノート プレースホルダー 2">
            <a:extLst>
              <a:ext uri="{FF2B5EF4-FFF2-40B4-BE49-F238E27FC236}">
                <a16:creationId xmlns:a16="http://schemas.microsoft.com/office/drawing/2014/main" id="{47DDD6DC-920D-1089-D966-8ABFB478E2BE}"/>
              </a:ext>
            </a:extLst>
          </p:cNvPr>
          <p:cNvSpPr>
            <a:spLocks noGrp="1"/>
          </p:cNvSpPr>
          <p:nvPr>
            <p:ph type="body" idx="1"/>
          </p:nvPr>
        </p:nvSpPr>
        <p:spPr/>
        <p:txBody>
          <a:bodyPr/>
          <a:lstStyle/>
          <a:p>
            <a:r>
              <a:rPr kumimoji="1" lang="ja-JP" altLang="en-US" dirty="0"/>
              <a:t>灰色のオブジェクトは適当に配置した障害物で，図のように周囲が長方形の壁で囲われたような状況に関して考えます．</a:t>
            </a:r>
            <a:endParaRPr kumimoji="1" lang="en-US" altLang="ja-JP" dirty="0"/>
          </a:p>
          <a:p>
            <a:r>
              <a:rPr kumimoji="1" lang="ja-JP" altLang="en-US" dirty="0"/>
              <a:t>まず深度の候補をいくつか作ります</a:t>
            </a:r>
          </a:p>
          <a:p>
            <a:r>
              <a:rPr kumimoji="1" lang="ja-JP" altLang="en-US" dirty="0"/>
              <a:t>次に補助カメラを選び，各深さに対して再投影の座標を計算します．</a:t>
            </a:r>
            <a:endParaRPr kumimoji="1" lang="en-US" altLang="ja-JP" dirty="0"/>
          </a:p>
          <a:p>
            <a:r>
              <a:rPr kumimoji="1" lang="ja-JP" altLang="en-US" dirty="0"/>
              <a:t>そして実際の色と比較して類似度を表すマッチングコストという指標を計算します．</a:t>
            </a:r>
            <a:endParaRPr kumimoji="1" lang="en-US" altLang="ja-JP" dirty="0"/>
          </a:p>
          <a:p>
            <a:r>
              <a:rPr kumimoji="1" lang="ja-JP" altLang="en-US" dirty="0"/>
              <a:t>最後にマッチングコストから最適な深さを推定します．</a:t>
            </a:r>
            <a:endParaRPr kumimoji="1" lang="en-US" altLang="ja-JP" dirty="0"/>
          </a:p>
          <a:p>
            <a:r>
              <a:rPr kumimoji="1" lang="ja-JP" altLang="en-US" dirty="0"/>
              <a:t>これを全ピクセルに対して行うことで基準カメラのカラー画像を深さ画像に変換することが出来ます</a:t>
            </a:r>
            <a:endParaRPr kumimoji="1" lang="en-US" altLang="ja-JP" dirty="0"/>
          </a:p>
          <a:p>
            <a:r>
              <a:rPr kumimoji="1" lang="ja-JP" altLang="en-US" dirty="0"/>
              <a:t>これを各カメラに対して行います．</a:t>
            </a:r>
            <a:endParaRPr kumimoji="1" lang="en-US" altLang="ja-JP" dirty="0"/>
          </a:p>
          <a:p>
            <a:r>
              <a:rPr kumimoji="1" lang="ja-JP" altLang="en-US" dirty="0"/>
              <a:t>次に</a:t>
            </a:r>
            <a:r>
              <a:rPr kumimoji="1" lang="en-US" altLang="ja-JP" dirty="0"/>
              <a:t>4</a:t>
            </a:r>
            <a:r>
              <a:rPr kumimoji="1" lang="ja-JP" altLang="en-US" dirty="0"/>
              <a:t>つの魚眼カメラから得た深さ情報を統合する方法について説明します．</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604F99C8-0305-37CD-6DC2-43EC3FE8667E}"/>
              </a:ext>
            </a:extLst>
          </p:cNvPr>
          <p:cNvSpPr>
            <a:spLocks noGrp="1"/>
          </p:cNvSpPr>
          <p:nvPr>
            <p:ph type="sldNum" sz="quarter" idx="5"/>
          </p:nvPr>
        </p:nvSpPr>
        <p:spPr/>
        <p:txBody>
          <a:bodyPr/>
          <a:lstStyle/>
          <a:p>
            <a:fld id="{DA21F1EB-BD56-49F9-AE01-F1F4E146A1A8}" type="slidenum">
              <a:rPr kumimoji="1" lang="ja-JP" altLang="en-US" smtClean="0"/>
              <a:t>9</a:t>
            </a:fld>
            <a:endParaRPr kumimoji="1" lang="ja-JP" altLang="en-US"/>
          </a:p>
        </p:txBody>
      </p:sp>
    </p:spTree>
    <p:extLst>
      <p:ext uri="{BB962C8B-B14F-4D97-AF65-F5344CB8AC3E}">
        <p14:creationId xmlns:p14="http://schemas.microsoft.com/office/powerpoint/2010/main" val="20567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DA21F1EB-BD56-49F9-AE01-F1F4E146A1A8}" type="slidenum">
              <a:rPr kumimoji="1" lang="ja-JP" altLang="en-US" smtClean="0"/>
              <a:t>10</a:t>
            </a:fld>
            <a:endParaRPr kumimoji="1" lang="ja-JP" altLang="en-US"/>
          </a:p>
        </p:txBody>
      </p:sp>
    </p:spTree>
    <p:extLst>
      <p:ext uri="{BB962C8B-B14F-4D97-AF65-F5344CB8AC3E}">
        <p14:creationId xmlns:p14="http://schemas.microsoft.com/office/powerpoint/2010/main" val="21828875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11</a:t>
            </a:fld>
            <a:endParaRPr kumimoji="1" lang="ja-JP" altLang="en-US"/>
          </a:p>
        </p:txBody>
      </p:sp>
    </p:spTree>
    <p:extLst>
      <p:ext uri="{BB962C8B-B14F-4D97-AF65-F5344CB8AC3E}">
        <p14:creationId xmlns:p14="http://schemas.microsoft.com/office/powerpoint/2010/main" val="20118532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SLAM</a:t>
            </a:r>
            <a:r>
              <a:rPr kumimoji="1" lang="ja-JP" altLang="en-US" dirty="0"/>
              <a:t>は未知環境でのロボットの自律移動や</a:t>
            </a:r>
            <a:r>
              <a:rPr kumimoji="1" lang="en-US" altLang="ja-JP" dirty="0"/>
              <a:t>XR/AR</a:t>
            </a:r>
            <a:r>
              <a:rPr kumimoji="1" lang="ja-JP" altLang="en-US" dirty="0"/>
              <a:t>に用いられる技術です．</a:t>
            </a:r>
            <a:endParaRPr kumimoji="1" lang="en-US" altLang="ja-JP" dirty="0"/>
          </a:p>
          <a:p>
            <a:r>
              <a:rPr kumimoji="1" lang="ja-JP" altLang="en-US" dirty="0"/>
              <a:t>使うセンサによって従来は大きく</a:t>
            </a:r>
            <a:r>
              <a:rPr kumimoji="1" lang="en-US" altLang="ja-JP" dirty="0"/>
              <a:t>2</a:t>
            </a:r>
            <a:r>
              <a:rPr kumimoji="1" lang="ja-JP" altLang="en-US" dirty="0"/>
              <a:t>つの方法が主流でした．</a:t>
            </a:r>
            <a:endParaRPr kumimoji="1" lang="en-US" altLang="ja-JP" dirty="0"/>
          </a:p>
          <a:p>
            <a:r>
              <a:rPr kumimoji="1" lang="ja-JP" altLang="en-US" dirty="0"/>
              <a:t>一つ目は</a:t>
            </a:r>
            <a:r>
              <a:rPr kumimoji="1" lang="en-US" altLang="ja-JP" dirty="0"/>
              <a:t>LIDAR-SLAM</a:t>
            </a:r>
            <a:r>
              <a:rPr kumimoji="1" lang="ja-JP" altLang="en-US" dirty="0"/>
              <a:t>です．</a:t>
            </a:r>
          </a:p>
          <a:p>
            <a:r>
              <a:rPr kumimoji="1" lang="ja-JP" altLang="en-US" dirty="0"/>
              <a:t>この方法は比較的高性能ですが，この</a:t>
            </a:r>
            <a:r>
              <a:rPr kumimoji="1" lang="en-US" altLang="ja-JP" dirty="0"/>
              <a:t>LIDAR</a:t>
            </a:r>
            <a:r>
              <a:rPr kumimoji="1" lang="ja-JP" altLang="en-US" dirty="0"/>
              <a:t>というセンサが高価で重いため設置自由度が低く，また消費電力が高いのもデメリットです．</a:t>
            </a:r>
            <a:endParaRPr kumimoji="1" lang="en-US" altLang="ja-JP" dirty="0"/>
          </a:p>
          <a:p>
            <a:r>
              <a:rPr kumimoji="1" lang="ja-JP" altLang="en-US" dirty="0"/>
              <a:t>二つ目は単眼</a:t>
            </a:r>
            <a:r>
              <a:rPr kumimoji="1" lang="en-US" altLang="ja-JP" dirty="0"/>
              <a:t>/</a:t>
            </a:r>
            <a:r>
              <a:rPr kumimoji="1" lang="ja-JP" altLang="en-US" dirty="0"/>
              <a:t>ステレオカメラ</a:t>
            </a:r>
            <a:r>
              <a:rPr kumimoji="1" lang="en-US" altLang="ja-JP" dirty="0"/>
              <a:t>SLAM</a:t>
            </a:r>
            <a:r>
              <a:rPr kumimoji="1" lang="ja-JP" altLang="en-US" dirty="0"/>
              <a:t>です．</a:t>
            </a:r>
            <a:endParaRPr kumimoji="1" lang="en-US" altLang="ja-JP" dirty="0"/>
          </a:p>
          <a:p>
            <a:pPr defTabSz="990752">
              <a:defRPr/>
            </a:pPr>
            <a:r>
              <a:rPr kumimoji="1" lang="ja-JP" altLang="en-US" dirty="0"/>
              <a:t>このセンサは</a:t>
            </a:r>
            <a:r>
              <a:rPr lang="ja-JP" altLang="en-US" dirty="0"/>
              <a:t>安価で軽量，設置自由度が高い</a:t>
            </a:r>
            <a:r>
              <a:rPr kumimoji="1" lang="ja-JP" altLang="en-US" dirty="0"/>
              <a:t>ですが，</a:t>
            </a:r>
            <a:r>
              <a:rPr lang="ja-JP" altLang="en-US" dirty="0">
                <a:solidFill>
                  <a:srgbClr val="FF0000"/>
                </a:solidFill>
              </a:rPr>
              <a:t>視野が狭く特徴点が少ない環境で精度が低下します．</a:t>
            </a:r>
            <a:endParaRPr lang="en-US" altLang="ja-JP" dirty="0">
              <a:solidFill>
                <a:srgbClr val="FF0000"/>
              </a:solidFill>
            </a:endParaRPr>
          </a:p>
          <a:p>
            <a:pPr defTabSz="990752">
              <a:defRPr/>
            </a:pPr>
            <a:r>
              <a:rPr lang="ja-JP" altLang="en-US" dirty="0">
                <a:solidFill>
                  <a:srgbClr val="FF0000"/>
                </a:solidFill>
              </a:rPr>
              <a:t>この二つ目の手法のデメリットを解決するため，私は超広角カメラによる精度の高い</a:t>
            </a:r>
            <a:r>
              <a:rPr lang="en-US" altLang="ja-JP" dirty="0">
                <a:solidFill>
                  <a:srgbClr val="FF0000"/>
                </a:solidFill>
              </a:rPr>
              <a:t>SLAM</a:t>
            </a:r>
            <a:r>
              <a:rPr lang="ja-JP" altLang="en-US" dirty="0">
                <a:solidFill>
                  <a:srgbClr val="FF0000"/>
                </a:solidFill>
              </a:rPr>
              <a:t>を目標とします．</a:t>
            </a:r>
            <a:endParaRPr lang="en-US" altLang="ja-JP" dirty="0">
              <a:solidFill>
                <a:srgbClr val="FF0000"/>
              </a:solidFill>
            </a:endParaRPr>
          </a:p>
          <a:p>
            <a:pPr defTabSz="990752">
              <a:defRPr/>
            </a:pPr>
            <a:r>
              <a:rPr lang="ja-JP" altLang="en-US" dirty="0">
                <a:solidFill>
                  <a:srgbClr val="FF0000"/>
                </a:solidFill>
              </a:rPr>
              <a:t>それでは，次のスライドでは</a:t>
            </a:r>
            <a:r>
              <a:rPr lang="en-US" altLang="ja-JP" dirty="0">
                <a:solidFill>
                  <a:srgbClr val="FF0000"/>
                </a:solidFill>
              </a:rPr>
              <a:t>SLAM</a:t>
            </a:r>
            <a:r>
              <a:rPr lang="ja-JP" altLang="en-US" dirty="0">
                <a:solidFill>
                  <a:srgbClr val="FF0000"/>
                </a:solidFill>
              </a:rPr>
              <a:t>の説明させていただきます．</a:t>
            </a:r>
            <a:endParaRPr lang="en-US" altLang="ja-JP" dirty="0"/>
          </a:p>
        </p:txBody>
      </p:sp>
      <p:sp>
        <p:nvSpPr>
          <p:cNvPr id="4" name="スライド番号プレースホルダー 3"/>
          <p:cNvSpPr>
            <a:spLocks noGrp="1"/>
          </p:cNvSpPr>
          <p:nvPr>
            <p:ph type="sldNum" sz="quarter" idx="5"/>
          </p:nvPr>
        </p:nvSpPr>
        <p:spPr/>
        <p:txBody>
          <a:bodyPr/>
          <a:lstStyle/>
          <a:p>
            <a:fld id="{4E170B34-5CB9-4F28-95F7-58933E9937F4}" type="slidenum">
              <a:rPr kumimoji="1" lang="ja-JP" altLang="en-US" smtClean="0"/>
              <a:t>14</a:t>
            </a:fld>
            <a:endParaRPr kumimoji="1" lang="ja-JP" altLang="en-US"/>
          </a:p>
        </p:txBody>
      </p:sp>
    </p:spTree>
    <p:extLst>
      <p:ext uri="{BB962C8B-B14F-4D97-AF65-F5344CB8AC3E}">
        <p14:creationId xmlns:p14="http://schemas.microsoft.com/office/powerpoint/2010/main" val="3733362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1">
                <a:latin typeface="+mn-ea"/>
                <a:ea typeface="+mn-ea"/>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2D8215A1-5493-4817-8D2A-8297ED30F9FA}" type="datetime1">
              <a:rPr kumimoji="1" lang="ja-JP" altLang="en-US" smtClean="0"/>
              <a:t>2025/12/24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a:solidFill>
                  <a:schemeClr val="bg2">
                    <a:lumMod val="75000"/>
                  </a:schemeClr>
                </a:solidFill>
              </a:defRPr>
            </a:lvl1pPr>
          </a:lstStyle>
          <a:p>
            <a:fld id="{673BA9A0-D382-41FB-AB73-7841F3556B1B}" type="slidenum">
              <a:rPr kumimoji="1" lang="ja-JP" altLang="en-US" smtClean="0"/>
              <a:pPr/>
              <a:t>‹#›</a:t>
            </a:fld>
            <a:endParaRPr kumimoji="1" lang="ja-JP" altLang="en-US" dirty="0"/>
          </a:p>
        </p:txBody>
      </p:sp>
    </p:spTree>
    <p:extLst>
      <p:ext uri="{BB962C8B-B14F-4D97-AF65-F5344CB8AC3E}">
        <p14:creationId xmlns:p14="http://schemas.microsoft.com/office/powerpoint/2010/main" val="2846637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0FF70FD-4300-ED9A-8308-03BD04CAED81}"/>
              </a:ext>
            </a:extLst>
          </p:cNvPr>
          <p:cNvSpPr/>
          <p:nvPr userDrawn="1"/>
        </p:nvSpPr>
        <p:spPr>
          <a:xfrm>
            <a:off x="0" y="6744"/>
            <a:ext cx="9144000" cy="12616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 name="Title 1"/>
          <p:cNvSpPr>
            <a:spLocks noGrp="1"/>
          </p:cNvSpPr>
          <p:nvPr>
            <p:ph type="title"/>
          </p:nvPr>
        </p:nvSpPr>
        <p:spPr>
          <a:xfrm>
            <a:off x="395288" y="368300"/>
            <a:ext cx="8120062" cy="900114"/>
          </a:xfrm>
        </p:spPr>
        <p:txBody>
          <a:bodyPr/>
          <a:lstStyle>
            <a:lvl1pPr>
              <a:defRPr b="1">
                <a:solidFill>
                  <a:schemeClr val="bg1"/>
                </a:solidFill>
                <a:latin typeface="+mn-ea"/>
                <a:ea typeface="+mn-ea"/>
              </a:defRPr>
            </a:lvl1pPr>
          </a:lstStyle>
          <a:p>
            <a:r>
              <a:rPr lang="ja-JP" altLang="en-US" dirty="0"/>
              <a:t>マスター タイトルの書式設定</a:t>
            </a:r>
            <a:endParaRPr lang="en-US" dirty="0"/>
          </a:p>
        </p:txBody>
      </p:sp>
      <p:sp>
        <p:nvSpPr>
          <p:cNvPr id="3" name="Content Placeholder 2"/>
          <p:cNvSpPr>
            <a:spLocks noGrp="1"/>
          </p:cNvSpPr>
          <p:nvPr>
            <p:ph idx="1"/>
          </p:nvPr>
        </p:nvSpPr>
        <p:spPr/>
        <p:txBody>
          <a:bodyPr/>
          <a:lstStyle>
            <a:lvl1pPr>
              <a:defRPr b="1">
                <a:latin typeface="+mn-ea"/>
                <a:ea typeface="+mn-ea"/>
              </a:defRPr>
            </a:lvl1pPr>
            <a:lvl2pPr>
              <a:defRPr b="1">
                <a:latin typeface="+mn-ea"/>
                <a:ea typeface="+mn-ea"/>
              </a:defRPr>
            </a:lvl2pPr>
            <a:lvl3pPr>
              <a:defRPr sz="2400" b="1">
                <a:latin typeface="+mn-ea"/>
                <a:ea typeface="+mn-ea"/>
              </a:defRPr>
            </a:lvl3pPr>
            <a:lvl4pPr>
              <a:defRPr sz="2400" b="1">
                <a:latin typeface="+mn-ea"/>
                <a:ea typeface="+mn-ea"/>
              </a:defRPr>
            </a:lvl4pPr>
            <a:lvl5pPr>
              <a:defRPr sz="2400" b="1">
                <a:latin typeface="+mn-ea"/>
                <a:ea typeface="+mn-ea"/>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07B50341-56BB-43CE-B960-C2DCE68D0398}" type="datetime1">
              <a:rPr kumimoji="1" lang="ja-JP" altLang="en-US" smtClean="0"/>
              <a:t>2025/12/24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8" name="Slide Number Placeholder 5">
            <a:extLst>
              <a:ext uri="{FF2B5EF4-FFF2-40B4-BE49-F238E27FC236}">
                <a16:creationId xmlns:a16="http://schemas.microsoft.com/office/drawing/2014/main" id="{5BAA78B1-1F1C-67E5-BFD6-951C98B12DF4}"/>
              </a:ext>
            </a:extLst>
          </p:cNvPr>
          <p:cNvSpPr>
            <a:spLocks noGrp="1"/>
          </p:cNvSpPr>
          <p:nvPr>
            <p:ph type="sldNum" sz="quarter" idx="12"/>
          </p:nvPr>
        </p:nvSpPr>
        <p:spPr>
          <a:xfrm>
            <a:off x="6997700" y="361948"/>
            <a:ext cx="2057400" cy="365125"/>
          </a:xfrm>
        </p:spPr>
        <p:txBody>
          <a:bodyPr/>
          <a:lstStyle>
            <a:lvl1pPr>
              <a:defRPr>
                <a:solidFill>
                  <a:schemeClr val="bg2">
                    <a:lumMod val="90000"/>
                  </a:schemeClr>
                </a:solidFill>
              </a:defRPr>
            </a:lvl1pPr>
          </a:lstStyle>
          <a:p>
            <a:fld id="{673BA9A0-D382-41FB-AB73-7841F3556B1B}" type="slidenum">
              <a:rPr kumimoji="1" lang="ja-JP" altLang="en-US" smtClean="0"/>
              <a:pPr/>
              <a:t>‹#›</a:t>
            </a:fld>
            <a:endParaRPr kumimoji="1" lang="ja-JP" altLang="en-US" dirty="0"/>
          </a:p>
        </p:txBody>
      </p:sp>
    </p:spTree>
    <p:extLst>
      <p:ext uri="{BB962C8B-B14F-4D97-AF65-F5344CB8AC3E}">
        <p14:creationId xmlns:p14="http://schemas.microsoft.com/office/powerpoint/2010/main" val="125741238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dirty="0"/>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dirty="0"/>
              <a:t>マスター テキストの書式設定</a:t>
            </a:r>
          </a:p>
        </p:txBody>
      </p:sp>
      <p:sp>
        <p:nvSpPr>
          <p:cNvPr id="4" name="Date Placeholder 3"/>
          <p:cNvSpPr>
            <a:spLocks noGrp="1"/>
          </p:cNvSpPr>
          <p:nvPr>
            <p:ph type="dt" sz="half" idx="10"/>
          </p:nvPr>
        </p:nvSpPr>
        <p:spPr/>
        <p:txBody>
          <a:bodyPr/>
          <a:lstStyle/>
          <a:p>
            <a:fld id="{12E356C9-4C4B-4DD9-B094-9C03179085A4}" type="datetime1">
              <a:rPr kumimoji="1" lang="ja-JP" altLang="en-US" smtClean="0"/>
              <a:t>2025/12/24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3769711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48E2A95E-679E-737D-43C3-314A376FE702}"/>
              </a:ext>
            </a:extLst>
          </p:cNvPr>
          <p:cNvSpPr/>
          <p:nvPr userDrawn="1"/>
        </p:nvSpPr>
        <p:spPr>
          <a:xfrm>
            <a:off x="0" y="0"/>
            <a:ext cx="9144000" cy="12684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 name="Title 1"/>
          <p:cNvSpPr>
            <a:spLocks noGrp="1"/>
          </p:cNvSpPr>
          <p:nvPr>
            <p:ph type="title"/>
          </p:nvPr>
        </p:nvSpPr>
        <p:spPr>
          <a:xfrm>
            <a:off x="395288" y="368300"/>
            <a:ext cx="8120062" cy="900113"/>
          </a:xfrm>
        </p:spPr>
        <p:txBody>
          <a:bodyPr/>
          <a:lstStyle>
            <a:lvl1pPr>
              <a:defRPr b="1">
                <a:solidFill>
                  <a:schemeClr val="bg1"/>
                </a:solidFill>
              </a:defRPr>
            </a:lvl1pPr>
          </a:lstStyle>
          <a:p>
            <a:r>
              <a:rPr lang="ja-JP" altLang="en-US" dirty="0"/>
              <a:t>マスター タイトルの書式設定</a:t>
            </a:r>
            <a:endParaRPr lang="en-US" dirty="0"/>
          </a:p>
        </p:txBody>
      </p:sp>
      <p:sp>
        <p:nvSpPr>
          <p:cNvPr id="3" name="Content Placeholder 2"/>
          <p:cNvSpPr>
            <a:spLocks noGrp="1"/>
          </p:cNvSpPr>
          <p:nvPr>
            <p:ph sz="half" idx="1"/>
          </p:nvPr>
        </p:nvSpPr>
        <p:spPr>
          <a:xfrm>
            <a:off x="628650" y="1449387"/>
            <a:ext cx="3886200" cy="4727575"/>
          </a:xfrm>
        </p:spPr>
        <p:txBody>
          <a:bodyPr/>
          <a:lstStyle>
            <a:lvl2pPr>
              <a:defRPr sz="2400"/>
            </a:lvl2pPr>
            <a:lvl3pPr>
              <a:defRPr sz="2400"/>
            </a:lvl3pPr>
            <a:lvl4pPr>
              <a:defRPr sz="2400"/>
            </a:lvl4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Content Placeholder 3"/>
          <p:cNvSpPr>
            <a:spLocks noGrp="1"/>
          </p:cNvSpPr>
          <p:nvPr>
            <p:ph sz="half" idx="2"/>
          </p:nvPr>
        </p:nvSpPr>
        <p:spPr>
          <a:xfrm>
            <a:off x="4629150" y="1447799"/>
            <a:ext cx="3886200" cy="4729164"/>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Date Placeholder 4"/>
          <p:cNvSpPr>
            <a:spLocks noGrp="1"/>
          </p:cNvSpPr>
          <p:nvPr>
            <p:ph type="dt" sz="half" idx="10"/>
          </p:nvPr>
        </p:nvSpPr>
        <p:spPr/>
        <p:txBody>
          <a:bodyPr/>
          <a:lstStyle/>
          <a:p>
            <a:fld id="{51E8F200-0F58-45BE-A385-F0B3FB854076}" type="datetime1">
              <a:rPr kumimoji="1" lang="ja-JP" altLang="en-US" smtClean="0"/>
              <a:t>2025/12/24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lvl1pPr>
              <a:defRPr>
                <a:solidFill>
                  <a:schemeClr val="bg2">
                    <a:lumMod val="90000"/>
                  </a:schemeClr>
                </a:solidFill>
              </a:defRPr>
            </a:lvl1pPr>
          </a:lstStyle>
          <a:p>
            <a:fld id="{673BA9A0-D382-41FB-AB73-7841F3556B1B}" type="slidenum">
              <a:rPr kumimoji="1" lang="ja-JP" altLang="en-US" smtClean="0"/>
              <a:pPr/>
              <a:t>‹#›</a:t>
            </a:fld>
            <a:endParaRPr kumimoji="1" lang="ja-JP" altLang="en-US" dirty="0"/>
          </a:p>
        </p:txBody>
      </p:sp>
    </p:spTree>
    <p:extLst>
      <p:ext uri="{BB962C8B-B14F-4D97-AF65-F5344CB8AC3E}">
        <p14:creationId xmlns:p14="http://schemas.microsoft.com/office/powerpoint/2010/main" val="2451847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53440903-030B-EEC3-8A6B-A53E93DD63EC}"/>
              </a:ext>
            </a:extLst>
          </p:cNvPr>
          <p:cNvSpPr/>
          <p:nvPr userDrawn="1"/>
        </p:nvSpPr>
        <p:spPr>
          <a:xfrm>
            <a:off x="0" y="0"/>
            <a:ext cx="9144000" cy="12684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dirty="0"/>
          </a:p>
        </p:txBody>
      </p:sp>
      <p:sp>
        <p:nvSpPr>
          <p:cNvPr id="2" name="Title 1"/>
          <p:cNvSpPr>
            <a:spLocks noGrp="1"/>
          </p:cNvSpPr>
          <p:nvPr>
            <p:ph type="title"/>
          </p:nvPr>
        </p:nvSpPr>
        <p:spPr>
          <a:xfrm>
            <a:off x="395288" y="368299"/>
            <a:ext cx="8120062" cy="889003"/>
          </a:xfrm>
        </p:spPr>
        <p:txBody>
          <a:bodyPr/>
          <a:lstStyle>
            <a:lvl1pPr>
              <a:defRPr b="1">
                <a:solidFill>
                  <a:schemeClr val="bg1"/>
                </a:solidFill>
              </a:defRPr>
            </a:lvl1pPr>
          </a:lstStyle>
          <a:p>
            <a:r>
              <a:rPr lang="ja-JP" altLang="en-US" dirty="0"/>
              <a:t>マスター タイトルの書式設定</a:t>
            </a:r>
            <a:endParaRPr lang="en-US" dirty="0"/>
          </a:p>
        </p:txBody>
      </p:sp>
      <p:sp>
        <p:nvSpPr>
          <p:cNvPr id="3" name="Text Placeholder 2"/>
          <p:cNvSpPr>
            <a:spLocks noGrp="1"/>
          </p:cNvSpPr>
          <p:nvPr>
            <p:ph type="body" idx="1"/>
          </p:nvPr>
        </p:nvSpPr>
        <p:spPr>
          <a:xfrm>
            <a:off x="629842" y="1449389"/>
            <a:ext cx="3868340" cy="49371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dirty="0"/>
              <a:t>マスター テキストの書式設定</a:t>
            </a:r>
          </a:p>
        </p:txBody>
      </p:sp>
      <p:sp>
        <p:nvSpPr>
          <p:cNvPr id="4" name="Content Placeholder 3"/>
          <p:cNvSpPr>
            <a:spLocks noGrp="1"/>
          </p:cNvSpPr>
          <p:nvPr>
            <p:ph sz="half" idx="2"/>
          </p:nvPr>
        </p:nvSpPr>
        <p:spPr>
          <a:xfrm>
            <a:off x="629842" y="2019300"/>
            <a:ext cx="3868340" cy="4170363"/>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Text Placeholder 4"/>
          <p:cNvSpPr>
            <a:spLocks noGrp="1"/>
          </p:cNvSpPr>
          <p:nvPr>
            <p:ph type="body" sz="quarter" idx="3"/>
          </p:nvPr>
        </p:nvSpPr>
        <p:spPr>
          <a:xfrm>
            <a:off x="4629150" y="1449389"/>
            <a:ext cx="3887391" cy="49371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dirty="0"/>
              <a:t>マスター テキストの書式設定</a:t>
            </a:r>
          </a:p>
        </p:txBody>
      </p:sp>
      <p:sp>
        <p:nvSpPr>
          <p:cNvPr id="6" name="Content Placeholder 5"/>
          <p:cNvSpPr>
            <a:spLocks noGrp="1"/>
          </p:cNvSpPr>
          <p:nvPr>
            <p:ph sz="quarter" idx="4"/>
          </p:nvPr>
        </p:nvSpPr>
        <p:spPr>
          <a:xfrm>
            <a:off x="4629150" y="2019300"/>
            <a:ext cx="3887391" cy="4170363"/>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7" name="Date Placeholder 6"/>
          <p:cNvSpPr>
            <a:spLocks noGrp="1"/>
          </p:cNvSpPr>
          <p:nvPr>
            <p:ph type="dt" sz="half" idx="10"/>
          </p:nvPr>
        </p:nvSpPr>
        <p:spPr/>
        <p:txBody>
          <a:bodyPr/>
          <a:lstStyle/>
          <a:p>
            <a:fld id="{E12CD9C8-2732-4BDD-99D7-45669D759E5C}" type="datetime1">
              <a:rPr kumimoji="1" lang="ja-JP" altLang="en-US" smtClean="0"/>
              <a:t>2025/12/24</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lvl1pPr>
              <a:defRPr>
                <a:solidFill>
                  <a:schemeClr val="bg2">
                    <a:lumMod val="90000"/>
                  </a:schemeClr>
                </a:solidFill>
              </a:defRPr>
            </a:lvl1pPr>
          </a:lstStyle>
          <a:p>
            <a:fld id="{673BA9A0-D382-41FB-AB73-7841F3556B1B}" type="slidenum">
              <a:rPr kumimoji="1" lang="ja-JP" altLang="en-US" smtClean="0"/>
              <a:pPr/>
              <a:t>‹#›</a:t>
            </a:fld>
            <a:endParaRPr kumimoji="1" lang="ja-JP" altLang="en-US" dirty="0"/>
          </a:p>
        </p:txBody>
      </p:sp>
    </p:spTree>
    <p:extLst>
      <p:ext uri="{BB962C8B-B14F-4D97-AF65-F5344CB8AC3E}">
        <p14:creationId xmlns:p14="http://schemas.microsoft.com/office/powerpoint/2010/main" val="3961595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6407B1BD-5759-DD6F-13F5-0C0A358C0DA7}"/>
              </a:ext>
            </a:extLst>
          </p:cNvPr>
          <p:cNvSpPr/>
          <p:nvPr userDrawn="1"/>
        </p:nvSpPr>
        <p:spPr>
          <a:xfrm>
            <a:off x="0" y="0"/>
            <a:ext cx="9144000" cy="12684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 name="Title 1"/>
          <p:cNvSpPr>
            <a:spLocks noGrp="1"/>
          </p:cNvSpPr>
          <p:nvPr>
            <p:ph type="title"/>
          </p:nvPr>
        </p:nvSpPr>
        <p:spPr/>
        <p:txBody>
          <a:bodyPr/>
          <a:lstStyle>
            <a:lvl1pPr>
              <a:defRPr b="1">
                <a:solidFill>
                  <a:schemeClr val="bg1"/>
                </a:solidFill>
              </a:defRPr>
            </a:lvl1pPr>
          </a:lstStyle>
          <a:p>
            <a:r>
              <a:rPr lang="ja-JP" altLang="en-US" dirty="0"/>
              <a:t>マスター タイトルの書式設定</a:t>
            </a:r>
            <a:endParaRPr lang="en-US" dirty="0"/>
          </a:p>
        </p:txBody>
      </p:sp>
      <p:sp>
        <p:nvSpPr>
          <p:cNvPr id="3" name="Date Placeholder 2"/>
          <p:cNvSpPr>
            <a:spLocks noGrp="1"/>
          </p:cNvSpPr>
          <p:nvPr>
            <p:ph type="dt" sz="half" idx="10"/>
          </p:nvPr>
        </p:nvSpPr>
        <p:spPr/>
        <p:txBody>
          <a:bodyPr/>
          <a:lstStyle/>
          <a:p>
            <a:fld id="{8C99AE3E-1C1E-4B10-9F9E-C85E03497641}" type="datetime1">
              <a:rPr kumimoji="1" lang="ja-JP" altLang="en-US" smtClean="0"/>
              <a:t>2025/12/24</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lvl1pPr>
              <a:defRPr>
                <a:solidFill>
                  <a:schemeClr val="bg2">
                    <a:lumMod val="90000"/>
                  </a:schemeClr>
                </a:solidFill>
              </a:defRPr>
            </a:lvl1pPr>
          </a:lstStyle>
          <a:p>
            <a:fld id="{673BA9A0-D382-41FB-AB73-7841F3556B1B}" type="slidenum">
              <a:rPr kumimoji="1" lang="ja-JP" altLang="en-US" smtClean="0"/>
              <a:pPr/>
              <a:t>‹#›</a:t>
            </a:fld>
            <a:endParaRPr kumimoji="1" lang="ja-JP" altLang="en-US" dirty="0"/>
          </a:p>
        </p:txBody>
      </p:sp>
    </p:spTree>
    <p:extLst>
      <p:ext uri="{BB962C8B-B14F-4D97-AF65-F5344CB8AC3E}">
        <p14:creationId xmlns:p14="http://schemas.microsoft.com/office/powerpoint/2010/main" val="4277927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948811-F007-4E29-93D0-75187A250FE4}" type="datetime1">
              <a:rPr kumimoji="1" lang="ja-JP" altLang="en-US" smtClean="0"/>
              <a:t>2025/12/24</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2300306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029BC94-EF2B-4E2F-B3D2-31C51C465C19}" type="datetime1">
              <a:rPr kumimoji="1" lang="ja-JP" altLang="en-US" smtClean="0"/>
              <a:t>2025/12/24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4290994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D74271BC-3867-4732-89C1-669315061D60}" type="datetime1">
              <a:rPr kumimoji="1" lang="ja-JP" altLang="en-US" smtClean="0"/>
              <a:t>2025/12/24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2921878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FBB9DE8-644D-4017-B66D-219EB69E7A6C}" type="datetime1">
              <a:rPr kumimoji="1" lang="ja-JP" altLang="en-US" smtClean="0"/>
              <a:t>2025/12/24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2036855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00B1E0F-0B1D-42B3-993D-EC5DE150199C}" type="datetime1">
              <a:rPr kumimoji="1" lang="ja-JP" altLang="en-US" smtClean="0"/>
              <a:t>2025/12/24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38768280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CAD847-A269-5665-0E9B-7EB51C0105A9}"/>
              </a:ext>
            </a:extLst>
          </p:cNvPr>
          <p:cNvSpPr>
            <a:spLocks noGrp="1"/>
          </p:cNvSpPr>
          <p:nvPr>
            <p:ph type="ctrTitle"/>
          </p:nvPr>
        </p:nvSpPr>
        <p:spPr>
          <a:xfrm>
            <a:off x="1143000" y="1122363"/>
            <a:ext cx="6858000" cy="2387600"/>
          </a:xfrm>
        </p:spPr>
        <p:txBody>
          <a:bodyPr anchor="b"/>
          <a:lstStyle>
            <a:lvl1pPr algn="ctr">
              <a:defRPr sz="45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CC9EE38-A6A3-AB27-3FEC-E26B786B33A6}"/>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4813901-2359-F332-5049-F6A6D76AEB4B}"/>
              </a:ext>
            </a:extLst>
          </p:cNvPr>
          <p:cNvSpPr>
            <a:spLocks noGrp="1"/>
          </p:cNvSpPr>
          <p:nvPr>
            <p:ph type="dt" sz="half" idx="10"/>
          </p:nvPr>
        </p:nvSpPr>
        <p:spPr/>
        <p:txBody>
          <a:bodyPr/>
          <a:lstStyle/>
          <a:p>
            <a:fld id="{18810CFE-F222-4559-A768-CC5A26C0B246}" type="datetime1">
              <a:rPr kumimoji="1" lang="ja-JP" altLang="en-US" smtClean="0"/>
              <a:t>2025/12/24</a:t>
            </a:fld>
            <a:endParaRPr kumimoji="1" lang="ja-JP" altLang="en-US"/>
          </a:p>
        </p:txBody>
      </p:sp>
      <p:sp>
        <p:nvSpPr>
          <p:cNvPr id="5" name="フッター プレースホルダー 4">
            <a:extLst>
              <a:ext uri="{FF2B5EF4-FFF2-40B4-BE49-F238E27FC236}">
                <a16:creationId xmlns:a16="http://schemas.microsoft.com/office/drawing/2014/main" id="{E0FD32CE-CDA4-08AF-B25C-3CECEE70BC5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3CBFAF0-B444-CA38-B0CC-6521370138B1}"/>
              </a:ext>
            </a:extLst>
          </p:cNvPr>
          <p:cNvSpPr>
            <a:spLocks noGrp="1"/>
          </p:cNvSpPr>
          <p:nvPr>
            <p:ph type="sldNum" sz="quarter" idx="12"/>
          </p:nvPr>
        </p:nvSpPr>
        <p:spPr/>
        <p:txBody>
          <a:bodyPr/>
          <a:lstStyle/>
          <a:p>
            <a:fld id="{673BA9A0-D382-41FB-AB73-7841F3556B1B}" type="slidenum">
              <a:rPr kumimoji="1" lang="ja-JP" altLang="en-US" smtClean="0"/>
              <a:t>‹#›</a:t>
            </a:fld>
            <a:endParaRPr kumimoji="1" lang="ja-JP" altLang="en-US"/>
          </a:p>
        </p:txBody>
      </p:sp>
    </p:spTree>
    <p:extLst>
      <p:ext uri="{BB962C8B-B14F-4D97-AF65-F5344CB8AC3E}">
        <p14:creationId xmlns:p14="http://schemas.microsoft.com/office/powerpoint/2010/main" val="2663023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1188" y="361948"/>
            <a:ext cx="7904162" cy="906465"/>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611188" y="1450973"/>
            <a:ext cx="7904162" cy="4725990"/>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49099E-CA27-4256-B057-A4B9A0BDD2DF}" type="datetime1">
              <a:rPr kumimoji="1" lang="ja-JP" altLang="en-US" smtClean="0"/>
              <a:t>2025/12/24</a:t>
            </a:fld>
            <a:endParaRPr kumimoji="1" lang="ja-JP"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6997700" y="361948"/>
            <a:ext cx="2057400" cy="365125"/>
          </a:xfrm>
          <a:prstGeom prst="rect">
            <a:avLst/>
          </a:prstGeom>
        </p:spPr>
        <p:txBody>
          <a:bodyPr vert="horz" lIns="91440" tIns="45720" rIns="91440" bIns="45720" rtlCol="0" anchor="ctr"/>
          <a:lstStyle>
            <a:lvl1pPr algn="r">
              <a:defRPr sz="3200">
                <a:solidFill>
                  <a:schemeClr val="bg2">
                    <a:lumMod val="90000"/>
                  </a:schemeClr>
                </a:solidFill>
              </a:defRPr>
            </a:lvl1pPr>
          </a:lstStyle>
          <a:p>
            <a:fld id="{673BA9A0-D382-41FB-AB73-7841F3556B1B}" type="slidenum">
              <a:rPr kumimoji="1" lang="ja-JP" altLang="en-US" smtClean="0"/>
              <a:pPr/>
              <a:t>‹#›</a:t>
            </a:fld>
            <a:endParaRPr kumimoji="1" lang="ja-JP" altLang="en-US" dirty="0"/>
          </a:p>
        </p:txBody>
      </p:sp>
    </p:spTree>
    <p:extLst>
      <p:ext uri="{BB962C8B-B14F-4D97-AF65-F5344CB8AC3E}">
        <p14:creationId xmlns:p14="http://schemas.microsoft.com/office/powerpoint/2010/main" val="15382224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49" r:id="rId12"/>
  </p:sldLayoutIdLst>
  <p:hf hdr="0" ftr="0" dt="0"/>
  <p:txStyles>
    <p:titleStyle>
      <a:lvl1pPr algn="l" defTabSz="914400" rtl="0" eaLnBrk="1" latinLnBrk="0" hangingPunct="1">
        <a:lnSpc>
          <a:spcPct val="90000"/>
        </a:lnSpc>
        <a:spcBef>
          <a:spcPct val="0"/>
        </a:spcBef>
        <a:buNone/>
        <a:defRPr kumimoji="1" sz="4400" b="1"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n"/>
        <a:defRPr kumimoji="1" sz="2800" b="1"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b="1"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13" userDrawn="1">
          <p15:clr>
            <a:srgbClr val="F26B43"/>
          </p15:clr>
        </p15:guide>
        <p15:guide id="2" pos="2880" userDrawn="1">
          <p15:clr>
            <a:srgbClr val="F26B43"/>
          </p15:clr>
        </p15:guide>
        <p15:guide id="3" orient="horz" pos="799" userDrawn="1">
          <p15:clr>
            <a:srgbClr val="F26B43"/>
          </p15:clr>
        </p15:guide>
        <p15:guide id="4" pos="385" userDrawn="1">
          <p15:clr>
            <a:srgbClr val="F26B43"/>
          </p15:clr>
        </p15:guide>
        <p15:guide id="5" orient="horz" pos="3906" userDrawn="1">
          <p15:clr>
            <a:srgbClr val="F26B43"/>
          </p15:clr>
        </p15:guide>
        <p15:guide id="6" orient="horz" pos="232" userDrawn="1">
          <p15:clr>
            <a:srgbClr val="F26B43"/>
          </p15:clr>
        </p15:guide>
        <p15:guide id="7" pos="24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35_64BDA34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microsoft.com/office/2018/10/relationships/comments" Target="../comments/modernComment_174_87C725B0.xml"/><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microsoft.com/office/2018/10/relationships/comments" Target="../comments/modernComment_176_492A7126.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microsoft.com/office/2018/10/relationships/comments" Target="../comments/modernComment_158_89B66B0E.xml"/><Relationship Id="rId7"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3.jpeg"/><Relationship Id="rId3" Type="http://schemas.microsoft.com/office/2018/10/relationships/comments" Target="../comments/modernComment_148_EAB327B4.xml"/><Relationship Id="rId7"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8.jpg"/><Relationship Id="rId4" Type="http://schemas.openxmlformats.org/officeDocument/2006/relationships/image" Target="../media/image9.jpg"/><Relationship Id="rId9"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microsoft.com/office/2018/10/relationships/comments" Target="../comments/modernComment_178_DA20843.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microsoft.com/office/2018/10/relationships/comments" Target="../comments/modernComment_175_5315C67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0468BA-F33E-09BB-5F97-940FDF5A097A}"/>
              </a:ext>
            </a:extLst>
          </p:cNvPr>
          <p:cNvSpPr>
            <a:spLocks noGrp="1"/>
          </p:cNvSpPr>
          <p:nvPr>
            <p:ph type="ctrTitle"/>
          </p:nvPr>
        </p:nvSpPr>
        <p:spPr>
          <a:xfrm>
            <a:off x="685800" y="1558970"/>
            <a:ext cx="7772400" cy="2387600"/>
          </a:xfrm>
        </p:spPr>
        <p:txBody>
          <a:bodyPr>
            <a:normAutofit/>
          </a:bodyPr>
          <a:lstStyle/>
          <a:p>
            <a:r>
              <a:rPr lang="en-US" altLang="ja-JP" sz="4800" dirty="0"/>
              <a:t>4</a:t>
            </a:r>
            <a:r>
              <a:rPr lang="ja-JP" altLang="en-US" sz="4800" dirty="0"/>
              <a:t>つの魚眼カメラを用いた</a:t>
            </a:r>
            <a:r>
              <a:rPr lang="en-US" altLang="ja-JP" sz="4800" dirty="0"/>
              <a:t>Visual-SLAM</a:t>
            </a:r>
            <a:r>
              <a:rPr lang="ja-JP" altLang="en-US" sz="4800" dirty="0"/>
              <a:t>に関する研究</a:t>
            </a:r>
            <a:endParaRPr kumimoji="1" lang="ja-JP" altLang="en-US" sz="4800" dirty="0"/>
          </a:p>
        </p:txBody>
      </p:sp>
      <p:sp>
        <p:nvSpPr>
          <p:cNvPr id="3" name="字幕 2">
            <a:extLst>
              <a:ext uri="{FF2B5EF4-FFF2-40B4-BE49-F238E27FC236}">
                <a16:creationId xmlns:a16="http://schemas.microsoft.com/office/drawing/2014/main" id="{FB77B5F5-22C9-1C15-1FE0-139EA0B0715C}"/>
              </a:ext>
            </a:extLst>
          </p:cNvPr>
          <p:cNvSpPr>
            <a:spLocks noGrp="1"/>
          </p:cNvSpPr>
          <p:nvPr>
            <p:ph type="subTitle" idx="1"/>
          </p:nvPr>
        </p:nvSpPr>
        <p:spPr>
          <a:xfrm>
            <a:off x="2797790" y="4577853"/>
            <a:ext cx="3555245" cy="1655762"/>
          </a:xfrm>
        </p:spPr>
        <p:txBody>
          <a:bodyPr/>
          <a:lstStyle/>
          <a:p>
            <a:pPr algn="l"/>
            <a:r>
              <a:rPr kumimoji="1" lang="ja-JP" altLang="en-US" dirty="0"/>
              <a:t>システム制御工学研究室</a:t>
            </a:r>
            <a:endParaRPr kumimoji="1" lang="en-US" altLang="ja-JP" dirty="0"/>
          </a:p>
          <a:p>
            <a:pPr algn="l"/>
            <a:r>
              <a:rPr lang="ja-JP" altLang="en-US" dirty="0"/>
              <a:t>学生氏名　髙岸 司</a:t>
            </a:r>
            <a:endParaRPr lang="en-US" altLang="ja-JP" dirty="0"/>
          </a:p>
          <a:p>
            <a:pPr algn="l"/>
            <a:r>
              <a:rPr kumimoji="1" lang="ja-JP" altLang="en-US" dirty="0"/>
              <a:t>指導教員</a:t>
            </a:r>
            <a:r>
              <a:rPr lang="ja-JP" altLang="en-US" dirty="0"/>
              <a:t>　本仲 君子</a:t>
            </a:r>
            <a:endParaRPr kumimoji="1" lang="ja-JP" altLang="en-US" dirty="0"/>
          </a:p>
        </p:txBody>
      </p:sp>
      <p:sp>
        <p:nvSpPr>
          <p:cNvPr id="4" name="スライド番号プレースホルダー 3">
            <a:extLst>
              <a:ext uri="{FF2B5EF4-FFF2-40B4-BE49-F238E27FC236}">
                <a16:creationId xmlns:a16="http://schemas.microsoft.com/office/drawing/2014/main" id="{A26F5F3A-96CD-BA77-1826-166EBFA2F415}"/>
              </a:ext>
            </a:extLst>
          </p:cNvPr>
          <p:cNvSpPr>
            <a:spLocks noGrp="1"/>
          </p:cNvSpPr>
          <p:nvPr>
            <p:ph type="sldNum" sz="quarter" idx="12"/>
          </p:nvPr>
        </p:nvSpPr>
        <p:spPr/>
        <p:txBody>
          <a:bodyPr/>
          <a:lstStyle/>
          <a:p>
            <a:fld id="{673BA9A0-D382-41FB-AB73-7841F3556B1B}" type="slidenum">
              <a:rPr kumimoji="1" lang="ja-JP" altLang="en-US" smtClean="0"/>
              <a:t>1</a:t>
            </a:fld>
            <a:endParaRPr kumimoji="1" lang="ja-JP" altLang="en-US"/>
          </a:p>
        </p:txBody>
      </p:sp>
    </p:spTree>
    <p:extLst>
      <p:ext uri="{BB962C8B-B14F-4D97-AF65-F5344CB8AC3E}">
        <p14:creationId xmlns:p14="http://schemas.microsoft.com/office/powerpoint/2010/main" val="3683096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095561-6141-9871-DA03-2A524883B14A}"/>
              </a:ext>
            </a:extLst>
          </p:cNvPr>
          <p:cNvSpPr>
            <a:spLocks noGrp="1"/>
          </p:cNvSpPr>
          <p:nvPr>
            <p:ph type="title"/>
          </p:nvPr>
        </p:nvSpPr>
        <p:spPr>
          <a:xfrm>
            <a:off x="395288" y="368300"/>
            <a:ext cx="8120062" cy="900114"/>
          </a:xfrm>
        </p:spPr>
        <p:txBody>
          <a:bodyPr>
            <a:normAutofit/>
          </a:bodyPr>
          <a:lstStyle/>
          <a:p>
            <a:r>
              <a:rPr kumimoji="1" lang="ja-JP" altLang="en-US" dirty="0"/>
              <a:t>背景</a:t>
            </a:r>
          </a:p>
        </p:txBody>
      </p:sp>
      <p:sp>
        <p:nvSpPr>
          <p:cNvPr id="3" name="コンテンツ プレースホルダー 2">
            <a:extLst>
              <a:ext uri="{FF2B5EF4-FFF2-40B4-BE49-F238E27FC236}">
                <a16:creationId xmlns:a16="http://schemas.microsoft.com/office/drawing/2014/main" id="{C0AF161B-55AE-B131-5D26-B8B97ECBFF29}"/>
              </a:ext>
            </a:extLst>
          </p:cNvPr>
          <p:cNvSpPr>
            <a:spLocks noGrp="1"/>
          </p:cNvSpPr>
          <p:nvPr>
            <p:ph idx="4294967295"/>
          </p:nvPr>
        </p:nvSpPr>
        <p:spPr>
          <a:xfrm>
            <a:off x="638885" y="2495785"/>
            <a:ext cx="2513747" cy="3863577"/>
          </a:xfrm>
        </p:spPr>
        <p:txBody>
          <a:bodyPr/>
          <a:lstStyle/>
          <a:p>
            <a:r>
              <a:rPr lang="ja-JP" altLang="en-US" sz="2400" b="1" dirty="0"/>
              <a:t>センサで観測</a:t>
            </a:r>
            <a:endParaRPr lang="en-US" altLang="ja-JP" sz="2400" b="1" dirty="0"/>
          </a:p>
          <a:p>
            <a:pPr marL="342892" lvl="1" indent="0">
              <a:buNone/>
            </a:pPr>
            <a:r>
              <a:rPr lang="ja-JP" altLang="en-US" sz="2200" dirty="0"/>
              <a:t>周囲の環境を</a:t>
            </a:r>
            <a:br>
              <a:rPr lang="en-US" altLang="ja-JP" sz="2200" dirty="0"/>
            </a:br>
            <a:r>
              <a:rPr lang="ja-JP" altLang="en-US" sz="2200" dirty="0"/>
              <a:t>把握する</a:t>
            </a:r>
            <a:endParaRPr lang="en-US" altLang="ja-JP" sz="2200" dirty="0"/>
          </a:p>
          <a:p>
            <a:pPr lvl="1"/>
            <a:endParaRPr lang="en-US" altLang="ja-JP" dirty="0"/>
          </a:p>
        </p:txBody>
      </p:sp>
      <p:sp>
        <p:nvSpPr>
          <p:cNvPr id="4" name="スライド番号プレースホルダー 3">
            <a:extLst>
              <a:ext uri="{FF2B5EF4-FFF2-40B4-BE49-F238E27FC236}">
                <a16:creationId xmlns:a16="http://schemas.microsoft.com/office/drawing/2014/main" id="{1E596246-4994-E686-DC23-C70B62969E57}"/>
              </a:ext>
            </a:extLst>
          </p:cNvPr>
          <p:cNvSpPr>
            <a:spLocks noGrp="1"/>
          </p:cNvSpPr>
          <p:nvPr>
            <p:ph type="sldNum" sz="quarter" idx="12"/>
          </p:nvPr>
        </p:nvSpPr>
        <p:spPr>
          <a:xfrm>
            <a:off x="7004736" y="361948"/>
            <a:ext cx="2057400" cy="365125"/>
          </a:xfrm>
        </p:spPr>
        <p:txBody>
          <a:bodyPr/>
          <a:lstStyle/>
          <a:p>
            <a:fld id="{36CC8B87-28FD-40C1-8BEA-A488324BDA2F}" type="slidenum">
              <a:rPr kumimoji="1" lang="ja-JP" altLang="en-US" smtClean="0"/>
              <a:t>2</a:t>
            </a:fld>
            <a:endParaRPr kumimoji="1" lang="ja-JP" altLang="en-US" dirty="0"/>
          </a:p>
        </p:txBody>
      </p:sp>
      <p:sp>
        <p:nvSpPr>
          <p:cNvPr id="7" name="コンテンツ プレースホルダー 2">
            <a:extLst>
              <a:ext uri="{FF2B5EF4-FFF2-40B4-BE49-F238E27FC236}">
                <a16:creationId xmlns:a16="http://schemas.microsoft.com/office/drawing/2014/main" id="{BB325A85-B012-14D1-80C5-2CD06730BA5B}"/>
              </a:ext>
            </a:extLst>
          </p:cNvPr>
          <p:cNvSpPr txBox="1">
            <a:spLocks/>
          </p:cNvSpPr>
          <p:nvPr/>
        </p:nvSpPr>
        <p:spPr>
          <a:xfrm>
            <a:off x="3354179" y="2493405"/>
            <a:ext cx="2513747" cy="3863577"/>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b="1" dirty="0"/>
              <a:t>地図の作成</a:t>
            </a:r>
            <a:endParaRPr lang="en-US" altLang="ja-JP" sz="2400" b="1" dirty="0"/>
          </a:p>
          <a:p>
            <a:pPr marL="342892" lvl="1" indent="0">
              <a:buNone/>
            </a:pPr>
            <a:r>
              <a:rPr lang="ja-JP" altLang="en-US" sz="2200" b="1" dirty="0"/>
              <a:t>情報を蓄積して</a:t>
            </a:r>
            <a:br>
              <a:rPr lang="en-US" altLang="ja-JP" sz="2200" b="1" dirty="0"/>
            </a:br>
            <a:r>
              <a:rPr lang="ja-JP" altLang="en-US" sz="2200" b="1" dirty="0"/>
              <a:t>整理する</a:t>
            </a:r>
            <a:endParaRPr lang="en-US" altLang="ja-JP" sz="2200" b="1" dirty="0"/>
          </a:p>
        </p:txBody>
      </p:sp>
      <p:sp>
        <p:nvSpPr>
          <p:cNvPr id="8" name="コンテンツ プレースホルダー 2">
            <a:extLst>
              <a:ext uri="{FF2B5EF4-FFF2-40B4-BE49-F238E27FC236}">
                <a16:creationId xmlns:a16="http://schemas.microsoft.com/office/drawing/2014/main" id="{392D1F7D-0D2F-121B-B950-C72A39F58C03}"/>
              </a:ext>
            </a:extLst>
          </p:cNvPr>
          <p:cNvSpPr txBox="1">
            <a:spLocks/>
          </p:cNvSpPr>
          <p:nvPr/>
        </p:nvSpPr>
        <p:spPr>
          <a:xfrm>
            <a:off x="6069471" y="2506609"/>
            <a:ext cx="2801574" cy="3863577"/>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b="1" dirty="0"/>
              <a:t>自己位置推定</a:t>
            </a:r>
            <a:endParaRPr lang="en-US" altLang="ja-JP" sz="2400" b="1" dirty="0"/>
          </a:p>
          <a:p>
            <a:pPr marL="342892" lvl="1" indent="0">
              <a:buNone/>
            </a:pPr>
            <a:r>
              <a:rPr lang="ja-JP" altLang="en-US" sz="2200" b="1" dirty="0"/>
              <a:t>自分が地図のどこにいるか考える</a:t>
            </a:r>
            <a:endParaRPr lang="en-US" altLang="ja-JP" sz="2200" b="1" dirty="0"/>
          </a:p>
        </p:txBody>
      </p:sp>
      <p:pic>
        <p:nvPicPr>
          <p:cNvPr id="10" name="図 9" descr="時計, 部屋 が含まれている画像&#10;&#10;AI によって生成されたコンテンツは間違っている可能性があります。">
            <a:extLst>
              <a:ext uri="{FF2B5EF4-FFF2-40B4-BE49-F238E27FC236}">
                <a16:creationId xmlns:a16="http://schemas.microsoft.com/office/drawing/2014/main" id="{C6A3346A-E407-03AB-66BA-44F6033C34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4978" y="3429000"/>
            <a:ext cx="2133187" cy="2133187"/>
          </a:xfrm>
          <a:prstGeom prst="rect">
            <a:avLst/>
          </a:prstGeom>
        </p:spPr>
      </p:pic>
      <p:pic>
        <p:nvPicPr>
          <p:cNvPr id="14" name="図 13" descr="おもちゃ, レゴ が含まれている画像&#10;&#10;AI によって生成されたコンテンツは間違っている可能性があります。">
            <a:extLst>
              <a:ext uri="{FF2B5EF4-FFF2-40B4-BE49-F238E27FC236}">
                <a16:creationId xmlns:a16="http://schemas.microsoft.com/office/drawing/2014/main" id="{EAE4A71C-B44C-AB58-4BC3-A41CDD0E56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08369" y="3429000"/>
            <a:ext cx="2160627" cy="2160627"/>
          </a:xfrm>
          <a:prstGeom prst="rect">
            <a:avLst/>
          </a:prstGeom>
        </p:spPr>
      </p:pic>
      <p:pic>
        <p:nvPicPr>
          <p:cNvPr id="17" name="図 16" descr="テーブル が含まれている画像&#10;&#10;AI によって生成されたコンテンツは間違っている可能性があります。">
            <a:extLst>
              <a:ext uri="{FF2B5EF4-FFF2-40B4-BE49-F238E27FC236}">
                <a16:creationId xmlns:a16="http://schemas.microsoft.com/office/drawing/2014/main" id="{00D0A744-0870-0293-AF41-1AC4FE09CBBD}"/>
              </a:ext>
            </a:extLst>
          </p:cNvPr>
          <p:cNvPicPr>
            <a:picLocks noChangeAspect="1"/>
          </p:cNvPicPr>
          <p:nvPr/>
        </p:nvPicPr>
        <p:blipFill>
          <a:blip r:embed="rId6">
            <a:extLst>
              <a:ext uri="{28A0092B-C50C-407E-A947-70E740481C1C}">
                <a14:useLocalDpi xmlns:a14="http://schemas.microsoft.com/office/drawing/2010/main" val="0"/>
              </a:ext>
            </a:extLst>
          </a:blip>
          <a:srcRect b="20335"/>
          <a:stretch/>
        </p:blipFill>
        <p:spPr>
          <a:xfrm>
            <a:off x="6122116" y="3485937"/>
            <a:ext cx="2216529" cy="1878512"/>
          </a:xfrm>
          <a:prstGeom prst="rect">
            <a:avLst/>
          </a:prstGeom>
        </p:spPr>
      </p:pic>
      <p:sp>
        <p:nvSpPr>
          <p:cNvPr id="5" name="コンテンツ プレースホルダー 2">
            <a:extLst>
              <a:ext uri="{FF2B5EF4-FFF2-40B4-BE49-F238E27FC236}">
                <a16:creationId xmlns:a16="http://schemas.microsoft.com/office/drawing/2014/main" id="{ED82B357-73D7-9F47-2F89-84F6C0670149}"/>
              </a:ext>
            </a:extLst>
          </p:cNvPr>
          <p:cNvSpPr>
            <a:spLocks noGrp="1"/>
          </p:cNvSpPr>
          <p:nvPr>
            <p:ph idx="1"/>
          </p:nvPr>
        </p:nvSpPr>
        <p:spPr>
          <a:xfrm>
            <a:off x="395383" y="1443974"/>
            <a:ext cx="8475662" cy="1016180"/>
          </a:xfrm>
        </p:spPr>
        <p:txBody>
          <a:bodyPr>
            <a:noAutofit/>
          </a:bodyPr>
          <a:lstStyle/>
          <a:p>
            <a:pPr marL="0" indent="0">
              <a:buNone/>
            </a:pPr>
            <a:r>
              <a:rPr lang="ja-JP" altLang="en-US" dirty="0"/>
              <a:t>ロボットや自動運転車は，今自分がどこにいるか，</a:t>
            </a:r>
            <a:br>
              <a:rPr lang="en-US" altLang="ja-JP" dirty="0"/>
            </a:br>
            <a:r>
              <a:rPr lang="ja-JP" altLang="en-US" dirty="0"/>
              <a:t>周囲がどんな環境かわからなければ動けない</a:t>
            </a:r>
            <a:endParaRPr lang="en-US" altLang="ja-JP" dirty="0"/>
          </a:p>
        </p:txBody>
      </p:sp>
      <p:sp>
        <p:nvSpPr>
          <p:cNvPr id="6" name="テキスト ボックス 5">
            <a:extLst>
              <a:ext uri="{FF2B5EF4-FFF2-40B4-BE49-F238E27FC236}">
                <a16:creationId xmlns:a16="http://schemas.microsoft.com/office/drawing/2014/main" id="{C7AFF14B-7A28-F0C7-5255-FBBA8BFB775D}"/>
              </a:ext>
            </a:extLst>
          </p:cNvPr>
          <p:cNvSpPr txBox="1"/>
          <p:nvPr/>
        </p:nvSpPr>
        <p:spPr>
          <a:xfrm>
            <a:off x="395288" y="5657475"/>
            <a:ext cx="8932253" cy="815160"/>
          </a:xfrm>
          <a:prstGeom prst="rect">
            <a:avLst/>
          </a:prstGeom>
          <a:noFill/>
        </p:spPr>
        <p:txBody>
          <a:bodyPr wrap="none" rtlCol="0">
            <a:spAutoFit/>
          </a:bodyPr>
          <a:lstStyle/>
          <a:p>
            <a:pPr marL="0" marR="0" lvl="0" indent="0" algn="l" defTabSz="914400" rtl="0" eaLnBrk="1" fontAlgn="auto" latinLnBrk="0" hangingPunct="1">
              <a:lnSpc>
                <a:spcPct val="90000"/>
              </a:lnSpc>
              <a:spcBef>
                <a:spcPts val="1000"/>
              </a:spcBef>
              <a:spcAft>
                <a:spcPts val="0"/>
              </a:spcAft>
              <a:buClrTx/>
              <a:buSzTx/>
              <a:buFont typeface="Wingdings" panose="05000000000000000000" pitchFamily="2" charset="2"/>
              <a:buNone/>
              <a:tabLst/>
              <a:defRPr/>
            </a:pPr>
            <a:r>
              <a:rPr kumimoji="1" lang="en-US" altLang="ja-JP"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SLAM</a:t>
            </a:r>
            <a:r>
              <a:rPr kumimoji="1" lang="ja-JP"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a:t>
            </a:r>
            <a:r>
              <a:rPr kumimoji="1" lang="en-US" altLang="ja-JP"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Simultaneous Localization and Mapping</a:t>
            </a:r>
            <a:r>
              <a:rPr kumimoji="1" lang="ja-JP"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a:t>
            </a:r>
            <a:br>
              <a:rPr kumimoji="1" lang="en-US" altLang="ja-JP" sz="24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br>
            <a:r>
              <a:rPr kumimoji="1" lang="en-US" altLang="ja-JP" sz="24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a:t>
            </a:r>
            <a:r>
              <a:rPr kumimoji="1" lang="ja-JP" altLang="en-US" sz="24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地図作成と自己位置推定を同時に行う技術</a:t>
            </a:r>
            <a:endParaRPr kumimoji="1" lang="en-US" altLang="ja-JP" sz="24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endParaRPr>
          </a:p>
        </p:txBody>
      </p:sp>
    </p:spTree>
    <p:extLst>
      <p:ext uri="{BB962C8B-B14F-4D97-AF65-F5344CB8AC3E}">
        <p14:creationId xmlns:p14="http://schemas.microsoft.com/office/powerpoint/2010/main" val="1690149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P spid="8" grpId="0"/>
      <p:bldP spid="6" grpId="0"/>
    </p:bldLst>
  </p:timing>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124568-1B7B-D03C-5DC6-08AD696BB38A}"/>
              </a:ext>
            </a:extLst>
          </p:cNvPr>
          <p:cNvSpPr>
            <a:spLocks noGrp="1"/>
          </p:cNvSpPr>
          <p:nvPr>
            <p:ph type="title"/>
          </p:nvPr>
        </p:nvSpPr>
        <p:spPr>
          <a:xfrm>
            <a:off x="395288" y="361947"/>
            <a:ext cx="8120062" cy="895355"/>
          </a:xfrm>
        </p:spPr>
        <p:txBody>
          <a:bodyPr/>
          <a:lstStyle/>
          <a:p>
            <a:r>
              <a:rPr lang="en-US" altLang="ja-JP" dirty="0"/>
              <a:t>Visual</a:t>
            </a:r>
            <a:r>
              <a:rPr lang="ja-JP" altLang="en-US" dirty="0"/>
              <a:t> </a:t>
            </a:r>
            <a:r>
              <a:rPr lang="en-US" altLang="ja-JP" dirty="0"/>
              <a:t>SLAM</a:t>
            </a:r>
            <a:endParaRPr kumimoji="1" lang="ja-JP" altLang="en-US" dirty="0"/>
          </a:p>
        </p:txBody>
      </p:sp>
      <p:sp>
        <p:nvSpPr>
          <p:cNvPr id="7" name="テキスト プレースホルダー 6">
            <a:extLst>
              <a:ext uri="{FF2B5EF4-FFF2-40B4-BE49-F238E27FC236}">
                <a16:creationId xmlns:a16="http://schemas.microsoft.com/office/drawing/2014/main" id="{6DD7D62F-8210-A0C1-CAB2-A87AE82C8C06}"/>
              </a:ext>
            </a:extLst>
          </p:cNvPr>
          <p:cNvSpPr>
            <a:spLocks noGrp="1"/>
          </p:cNvSpPr>
          <p:nvPr>
            <p:ph type="body" idx="1"/>
          </p:nvPr>
        </p:nvSpPr>
        <p:spPr>
          <a:xfrm>
            <a:off x="621604" y="2218943"/>
            <a:ext cx="3868340" cy="493711"/>
          </a:xfrm>
        </p:spPr>
        <p:txBody>
          <a:bodyPr>
            <a:normAutofit/>
          </a:bodyPr>
          <a:lstStyle/>
          <a:p>
            <a:r>
              <a:rPr lang="ja-JP" altLang="en-US" sz="2800" dirty="0">
                <a:solidFill>
                  <a:schemeClr val="accent1"/>
                </a:solidFill>
              </a:rPr>
              <a:t>特徴点ベース</a:t>
            </a:r>
            <a:endParaRPr lang="en-US" altLang="ja-JP" sz="2800" dirty="0">
              <a:solidFill>
                <a:schemeClr val="accent1"/>
              </a:solidFill>
            </a:endParaRPr>
          </a:p>
        </p:txBody>
      </p:sp>
      <p:sp>
        <p:nvSpPr>
          <p:cNvPr id="8" name="コンテンツ プレースホルダー 7">
            <a:extLst>
              <a:ext uri="{FF2B5EF4-FFF2-40B4-BE49-F238E27FC236}">
                <a16:creationId xmlns:a16="http://schemas.microsoft.com/office/drawing/2014/main" id="{50728AD5-B1C1-79BB-A8DA-CC3AA8AFF1BF}"/>
              </a:ext>
            </a:extLst>
          </p:cNvPr>
          <p:cNvSpPr>
            <a:spLocks noGrp="1"/>
          </p:cNvSpPr>
          <p:nvPr>
            <p:ph sz="half" idx="2"/>
          </p:nvPr>
        </p:nvSpPr>
        <p:spPr>
          <a:xfrm>
            <a:off x="621604" y="2861497"/>
            <a:ext cx="3868340" cy="3547367"/>
          </a:xfrm>
        </p:spPr>
        <p:txBody>
          <a:bodyPr>
            <a:normAutofit/>
          </a:bodyPr>
          <a:lstStyle/>
          <a:p>
            <a:pPr marL="0" indent="0">
              <a:buNone/>
            </a:pPr>
            <a:r>
              <a:rPr lang="ja-JP" altLang="en-US" sz="2400" dirty="0"/>
              <a:t>画像から抽出した特徴点を</a:t>
            </a:r>
            <a:br>
              <a:rPr lang="en-US" altLang="ja-JP" sz="2400" dirty="0"/>
            </a:br>
            <a:r>
              <a:rPr lang="ja-JP" altLang="en-US" sz="2400" dirty="0"/>
              <a:t>用いて推定</a:t>
            </a:r>
            <a:endParaRPr lang="en-US" altLang="ja-JP" sz="2400" dirty="0"/>
          </a:p>
          <a:p>
            <a:pPr>
              <a:buClr>
                <a:schemeClr val="accent1"/>
              </a:buClr>
            </a:pPr>
            <a:r>
              <a:rPr lang="ja-JP" altLang="en-US" sz="2400" dirty="0"/>
              <a:t>利点</a:t>
            </a:r>
            <a:endParaRPr lang="en-US" altLang="ja-JP" sz="2400" dirty="0"/>
          </a:p>
          <a:p>
            <a:pPr lvl="1"/>
            <a:r>
              <a:rPr lang="ja-JP" altLang="en-US" dirty="0"/>
              <a:t>計算が比較的軽く</a:t>
            </a:r>
            <a:br>
              <a:rPr lang="en-US" altLang="ja-JP" dirty="0"/>
            </a:br>
            <a:r>
              <a:rPr lang="ja-JP" altLang="en-US" dirty="0"/>
              <a:t>リアルタイム向き</a:t>
            </a:r>
            <a:endParaRPr lang="en-US" altLang="ja-JP" dirty="0"/>
          </a:p>
          <a:p>
            <a:pPr>
              <a:buClr>
                <a:schemeClr val="accent1"/>
              </a:buClr>
            </a:pPr>
            <a:r>
              <a:rPr lang="ja-JP" altLang="en-US" sz="2400" dirty="0"/>
              <a:t>欠点</a:t>
            </a:r>
            <a:endParaRPr lang="en-US" altLang="ja-JP" sz="2400" dirty="0"/>
          </a:p>
          <a:p>
            <a:pPr lvl="1"/>
            <a:r>
              <a:rPr lang="ja-JP" altLang="en-US" dirty="0"/>
              <a:t>特徴が少ない環境に</a:t>
            </a:r>
            <a:br>
              <a:rPr lang="en-US" altLang="ja-JP" dirty="0"/>
            </a:br>
            <a:r>
              <a:rPr lang="ja-JP" altLang="en-US" dirty="0"/>
              <a:t>弱い</a:t>
            </a:r>
            <a:endParaRPr lang="en-US" altLang="ja-JP" dirty="0"/>
          </a:p>
        </p:txBody>
      </p:sp>
      <p:sp>
        <p:nvSpPr>
          <p:cNvPr id="9" name="テキスト プレースホルダー 8">
            <a:extLst>
              <a:ext uri="{FF2B5EF4-FFF2-40B4-BE49-F238E27FC236}">
                <a16:creationId xmlns:a16="http://schemas.microsoft.com/office/drawing/2014/main" id="{FC73AB36-291D-15B8-7CB5-9440B3A54D4F}"/>
              </a:ext>
            </a:extLst>
          </p:cNvPr>
          <p:cNvSpPr>
            <a:spLocks noGrp="1"/>
          </p:cNvSpPr>
          <p:nvPr>
            <p:ph type="body" sz="quarter" idx="3"/>
          </p:nvPr>
        </p:nvSpPr>
        <p:spPr>
          <a:xfrm>
            <a:off x="4620912" y="2218943"/>
            <a:ext cx="3887391" cy="493711"/>
          </a:xfrm>
        </p:spPr>
        <p:txBody>
          <a:bodyPr>
            <a:normAutofit/>
          </a:bodyPr>
          <a:lstStyle/>
          <a:p>
            <a:r>
              <a:rPr lang="ja-JP" altLang="en-US" sz="2800" dirty="0">
                <a:solidFill>
                  <a:schemeClr val="accent1"/>
                </a:solidFill>
              </a:rPr>
              <a:t>直接法</a:t>
            </a:r>
          </a:p>
        </p:txBody>
      </p:sp>
      <p:sp>
        <p:nvSpPr>
          <p:cNvPr id="10" name="コンテンツ プレースホルダー 9">
            <a:extLst>
              <a:ext uri="{FF2B5EF4-FFF2-40B4-BE49-F238E27FC236}">
                <a16:creationId xmlns:a16="http://schemas.microsoft.com/office/drawing/2014/main" id="{240B12CD-6A81-F87F-BEA4-4DB1571B3301}"/>
              </a:ext>
            </a:extLst>
          </p:cNvPr>
          <p:cNvSpPr>
            <a:spLocks noGrp="1"/>
          </p:cNvSpPr>
          <p:nvPr>
            <p:ph sz="quarter" idx="4"/>
          </p:nvPr>
        </p:nvSpPr>
        <p:spPr>
          <a:xfrm>
            <a:off x="4620911" y="2861497"/>
            <a:ext cx="4083913" cy="3547368"/>
          </a:xfrm>
        </p:spPr>
        <p:txBody>
          <a:bodyPr>
            <a:noAutofit/>
          </a:bodyPr>
          <a:lstStyle/>
          <a:p>
            <a:pPr marL="0" indent="0">
              <a:buNone/>
            </a:pPr>
            <a:r>
              <a:rPr lang="ja-JP" altLang="en-US" sz="2400" dirty="0"/>
              <a:t>画素の輝度値を直接用いて</a:t>
            </a:r>
            <a:br>
              <a:rPr lang="en-US" altLang="ja-JP" sz="2400" dirty="0"/>
            </a:br>
            <a:r>
              <a:rPr lang="ja-JP" altLang="en-US" sz="2400" dirty="0"/>
              <a:t>推定</a:t>
            </a:r>
            <a:endParaRPr lang="en-US" altLang="ja-JP" sz="2400" dirty="0"/>
          </a:p>
          <a:p>
            <a:pPr>
              <a:buClr>
                <a:schemeClr val="accent1"/>
              </a:buClr>
            </a:pPr>
            <a:r>
              <a:rPr lang="ja-JP" altLang="en-US" sz="2400" dirty="0"/>
              <a:t>利点</a:t>
            </a:r>
            <a:endParaRPr lang="en-US" altLang="ja-JP" sz="2400" dirty="0"/>
          </a:p>
          <a:p>
            <a:pPr lvl="1"/>
            <a:r>
              <a:rPr lang="ja-JP" altLang="en-US" dirty="0"/>
              <a:t>特徴が少なくても動作</a:t>
            </a:r>
            <a:endParaRPr lang="en-US" altLang="ja-JP" dirty="0"/>
          </a:p>
          <a:p>
            <a:pPr lvl="1"/>
            <a:r>
              <a:rPr lang="ja-JP" altLang="en-US" dirty="0"/>
              <a:t>細かな動きを高精度に</a:t>
            </a:r>
            <a:br>
              <a:rPr lang="en-US" altLang="ja-JP" dirty="0"/>
            </a:br>
            <a:r>
              <a:rPr lang="ja-JP" altLang="en-US" dirty="0"/>
              <a:t>捉えられる</a:t>
            </a:r>
            <a:endParaRPr lang="en-US" altLang="ja-JP" dirty="0"/>
          </a:p>
          <a:p>
            <a:pPr>
              <a:buClr>
                <a:schemeClr val="accent1"/>
              </a:buClr>
            </a:pPr>
            <a:r>
              <a:rPr lang="ja-JP" altLang="en-US" sz="2400" dirty="0"/>
              <a:t>欠点</a:t>
            </a:r>
            <a:endParaRPr lang="en-US" altLang="ja-JP" sz="2400" dirty="0"/>
          </a:p>
          <a:p>
            <a:pPr lvl="1"/>
            <a:r>
              <a:rPr lang="ja-JP" altLang="en-US" dirty="0"/>
              <a:t>深度推定の計算負荷が</a:t>
            </a:r>
            <a:br>
              <a:rPr lang="en-US" altLang="ja-JP" dirty="0"/>
            </a:br>
            <a:r>
              <a:rPr lang="ja-JP" altLang="en-US" dirty="0"/>
              <a:t>高い</a:t>
            </a:r>
            <a:br>
              <a:rPr lang="en-US" altLang="ja-JP" dirty="0">
                <a:solidFill>
                  <a:srgbClr val="FF0000"/>
                </a:solidFill>
              </a:rPr>
            </a:br>
            <a:endParaRPr lang="ja-JP" altLang="en-US" b="0" dirty="0">
              <a:solidFill>
                <a:srgbClr val="FF0000"/>
              </a:solidFill>
            </a:endParaRPr>
          </a:p>
        </p:txBody>
      </p:sp>
      <p:sp>
        <p:nvSpPr>
          <p:cNvPr id="4" name="スライド番号プレースホルダー 3">
            <a:extLst>
              <a:ext uri="{FF2B5EF4-FFF2-40B4-BE49-F238E27FC236}">
                <a16:creationId xmlns:a16="http://schemas.microsoft.com/office/drawing/2014/main" id="{6A29713A-6B55-2DF2-4541-3CF1D814C036}"/>
              </a:ext>
            </a:extLst>
          </p:cNvPr>
          <p:cNvSpPr>
            <a:spLocks noGrp="1"/>
          </p:cNvSpPr>
          <p:nvPr>
            <p:ph type="sldNum" sz="quarter" idx="12"/>
          </p:nvPr>
        </p:nvSpPr>
        <p:spPr/>
        <p:txBody>
          <a:bodyPr/>
          <a:lstStyle/>
          <a:p>
            <a:fld id="{673BA9A0-D382-41FB-AB73-7841F3556B1B}" type="slidenum">
              <a:rPr kumimoji="1" lang="ja-JP" altLang="en-US" smtClean="0"/>
              <a:t>3</a:t>
            </a:fld>
            <a:endParaRPr kumimoji="1" lang="ja-JP" altLang="en-US" dirty="0"/>
          </a:p>
        </p:txBody>
      </p:sp>
      <p:sp>
        <p:nvSpPr>
          <p:cNvPr id="3" name="コンテンツ プレースホルダー 2">
            <a:extLst>
              <a:ext uri="{FF2B5EF4-FFF2-40B4-BE49-F238E27FC236}">
                <a16:creationId xmlns:a16="http://schemas.microsoft.com/office/drawing/2014/main" id="{CABBF77B-2F1C-672B-3C07-8469F85AFBEA}"/>
              </a:ext>
            </a:extLst>
          </p:cNvPr>
          <p:cNvSpPr txBox="1">
            <a:spLocks/>
          </p:cNvSpPr>
          <p:nvPr/>
        </p:nvSpPr>
        <p:spPr>
          <a:xfrm>
            <a:off x="395288" y="1449388"/>
            <a:ext cx="8880517" cy="493711"/>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Wingdings" panose="05000000000000000000" pitchFamily="2" charset="2"/>
              <a:buNone/>
              <a:defRPr kumimoji="1" sz="2400" b="1" kern="1200">
                <a:solidFill>
                  <a:schemeClr val="tx1"/>
                </a:solidFill>
                <a:latin typeface="+mn-ea"/>
                <a:ea typeface="+mn-ea"/>
                <a:cs typeface="+mn-cs"/>
              </a:defRPr>
            </a:lvl1pPr>
            <a:lvl2pPr marL="457200" indent="0" algn="l" defTabSz="914400" rtl="0" eaLnBrk="1" latinLnBrk="0" hangingPunct="1">
              <a:lnSpc>
                <a:spcPct val="90000"/>
              </a:lnSpc>
              <a:spcBef>
                <a:spcPts val="500"/>
              </a:spcBef>
              <a:buFont typeface="游ゴシック Medium" panose="020B0500000000000000" pitchFamily="50" charset="-128"/>
              <a:buNone/>
              <a:defRPr kumimoji="1" sz="2000" b="1" kern="1200">
                <a:solidFill>
                  <a:schemeClr val="tx1"/>
                </a:solidFill>
                <a:latin typeface="+mn-ea"/>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1800" b="1" kern="1200">
                <a:solidFill>
                  <a:schemeClr val="tx1"/>
                </a:solidFill>
                <a:latin typeface="+mn-ea"/>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600" b="1" kern="1200">
                <a:solidFill>
                  <a:schemeClr val="tx1"/>
                </a:solidFill>
                <a:latin typeface="+mn-ea"/>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600" b="1" kern="1200">
                <a:solidFill>
                  <a:schemeClr val="tx1"/>
                </a:solidFill>
                <a:latin typeface="+mn-ea"/>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kumimoji="1"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kumimoji="1"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kumimoji="1"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kumimoji="1" sz="1600" b="1" kern="1200">
                <a:solidFill>
                  <a:schemeClr val="tx1"/>
                </a:solidFill>
                <a:latin typeface="+mn-lt"/>
                <a:ea typeface="+mn-ea"/>
                <a:cs typeface="+mn-cs"/>
              </a:defRPr>
            </a:lvl9pPr>
          </a:lstStyle>
          <a:p>
            <a:r>
              <a:rPr lang="ja-JP" altLang="en-US" sz="2800" dirty="0"/>
              <a:t>カメラ画像の特徴点や画素情報を用いた</a:t>
            </a:r>
            <a:r>
              <a:rPr lang="en-US" altLang="ja-JP" sz="2800" dirty="0"/>
              <a:t>SLAM</a:t>
            </a:r>
          </a:p>
        </p:txBody>
      </p:sp>
      <p:sp>
        <p:nvSpPr>
          <p:cNvPr id="5" name="正方形/長方形 4">
            <a:extLst>
              <a:ext uri="{FF2B5EF4-FFF2-40B4-BE49-F238E27FC236}">
                <a16:creationId xmlns:a16="http://schemas.microsoft.com/office/drawing/2014/main" id="{4D755735-3F2B-9F34-8531-E311FA0E7CDC}"/>
              </a:ext>
            </a:extLst>
          </p:cNvPr>
          <p:cNvSpPr/>
          <p:nvPr/>
        </p:nvSpPr>
        <p:spPr>
          <a:xfrm>
            <a:off x="611188" y="2146300"/>
            <a:ext cx="3868340" cy="4181475"/>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C515B0A-9C58-4CDA-E424-3E37BD27259D}"/>
              </a:ext>
            </a:extLst>
          </p:cNvPr>
          <p:cNvSpPr/>
          <p:nvPr/>
        </p:nvSpPr>
        <p:spPr>
          <a:xfrm>
            <a:off x="4667251" y="2146300"/>
            <a:ext cx="3868340" cy="4181475"/>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DDB5BC1E-BF27-F03F-9738-1F3C5019F416}"/>
              </a:ext>
            </a:extLst>
          </p:cNvPr>
          <p:cNvCxnSpPr>
            <a:cxnSpLocks/>
          </p:cNvCxnSpPr>
          <p:nvPr/>
        </p:nvCxnSpPr>
        <p:spPr>
          <a:xfrm>
            <a:off x="611188" y="2712654"/>
            <a:ext cx="386834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6" name="直線コネクタ 15">
            <a:extLst>
              <a:ext uri="{FF2B5EF4-FFF2-40B4-BE49-F238E27FC236}">
                <a16:creationId xmlns:a16="http://schemas.microsoft.com/office/drawing/2014/main" id="{FD877247-C63D-E0AC-B48C-111B36AE242C}"/>
              </a:ext>
            </a:extLst>
          </p:cNvPr>
          <p:cNvCxnSpPr>
            <a:cxnSpLocks/>
          </p:cNvCxnSpPr>
          <p:nvPr/>
        </p:nvCxnSpPr>
        <p:spPr>
          <a:xfrm>
            <a:off x="4667251" y="2712654"/>
            <a:ext cx="386834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7975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xEl>
                                              <p:pRg st="4" end="4"/>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xEl>
                                              <p:pRg st="5" end="5"/>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uiExpand="1" build="p"/>
      <p:bldP spid="9" grpId="0" build="p"/>
      <p:bldP spid="10" grpId="0" uiExpand="1" build="p"/>
      <p:bldP spid="5" grpId="0" animBg="1"/>
      <p:bldP spid="6" grpId="0" animBg="1"/>
    </p:bldLst>
  </p:timing>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1C0DB2E-F783-2984-2159-FE625E520DDF}"/>
              </a:ext>
            </a:extLst>
          </p:cNvPr>
          <p:cNvSpPr>
            <a:spLocks noGrp="1"/>
          </p:cNvSpPr>
          <p:nvPr>
            <p:ph type="title"/>
          </p:nvPr>
        </p:nvSpPr>
        <p:spPr/>
        <p:txBody>
          <a:bodyPr/>
          <a:lstStyle/>
          <a:p>
            <a:r>
              <a:rPr kumimoji="1" lang="ja-JP" altLang="en-US" dirty="0"/>
              <a:t>課題と目的</a:t>
            </a:r>
          </a:p>
        </p:txBody>
      </p:sp>
      <p:sp>
        <p:nvSpPr>
          <p:cNvPr id="7" name="スライド番号プレースホルダー 6">
            <a:extLst>
              <a:ext uri="{FF2B5EF4-FFF2-40B4-BE49-F238E27FC236}">
                <a16:creationId xmlns:a16="http://schemas.microsoft.com/office/drawing/2014/main" id="{6A6B4646-C2B4-9F7E-2F74-5D6A012A82C6}"/>
              </a:ext>
            </a:extLst>
          </p:cNvPr>
          <p:cNvSpPr>
            <a:spLocks noGrp="1"/>
          </p:cNvSpPr>
          <p:nvPr>
            <p:ph type="sldNum" sz="quarter" idx="12"/>
          </p:nvPr>
        </p:nvSpPr>
        <p:spPr/>
        <p:txBody>
          <a:bodyPr/>
          <a:lstStyle/>
          <a:p>
            <a:fld id="{673BA9A0-D382-41FB-AB73-7841F3556B1B}" type="slidenum">
              <a:rPr kumimoji="1" lang="ja-JP" altLang="en-US" smtClean="0"/>
              <a:pPr/>
              <a:t>4</a:t>
            </a:fld>
            <a:endParaRPr kumimoji="1" lang="ja-JP" altLang="en-US" dirty="0"/>
          </a:p>
        </p:txBody>
      </p:sp>
      <p:sp>
        <p:nvSpPr>
          <p:cNvPr id="9" name="四角形: 角を丸くする 8">
            <a:extLst>
              <a:ext uri="{FF2B5EF4-FFF2-40B4-BE49-F238E27FC236}">
                <a16:creationId xmlns:a16="http://schemas.microsoft.com/office/drawing/2014/main" id="{A263331B-DC0E-F8D3-87A2-8E00CC02D982}"/>
              </a:ext>
            </a:extLst>
          </p:cNvPr>
          <p:cNvSpPr/>
          <p:nvPr/>
        </p:nvSpPr>
        <p:spPr>
          <a:xfrm>
            <a:off x="492760" y="4445711"/>
            <a:ext cx="8158480" cy="1874520"/>
          </a:xfrm>
          <a:prstGeom prst="round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b="1" dirty="0">
                <a:solidFill>
                  <a:schemeClr val="tx1"/>
                </a:solidFill>
              </a:rPr>
              <a:t>GPU</a:t>
            </a:r>
            <a:r>
              <a:rPr lang="ja-JP" altLang="en-US" sz="2800" b="1" dirty="0">
                <a:solidFill>
                  <a:schemeClr val="tx1"/>
                </a:solidFill>
              </a:rPr>
              <a:t>並列処理が可能な深度推定手法を</a:t>
            </a:r>
            <a:br>
              <a:rPr lang="en-US" altLang="ja-JP" sz="2800" b="1" dirty="0">
                <a:solidFill>
                  <a:schemeClr val="tx1"/>
                </a:solidFill>
              </a:rPr>
            </a:br>
            <a:r>
              <a:rPr lang="ja-JP" altLang="en-US" sz="2800" b="1" dirty="0">
                <a:solidFill>
                  <a:schemeClr val="tx1"/>
                </a:solidFill>
              </a:rPr>
              <a:t>導入することで直接法に基づく</a:t>
            </a:r>
            <a:r>
              <a:rPr lang="en-US" altLang="ja-JP" sz="2800" b="1" dirty="0">
                <a:solidFill>
                  <a:schemeClr val="tx1"/>
                </a:solidFill>
              </a:rPr>
              <a:t>Visual-SLAM</a:t>
            </a:r>
            <a:r>
              <a:rPr lang="ja-JP" altLang="en-US" sz="2800" b="1" dirty="0">
                <a:solidFill>
                  <a:schemeClr val="tx1"/>
                </a:solidFill>
              </a:rPr>
              <a:t>の</a:t>
            </a:r>
            <a:br>
              <a:rPr lang="en-US" altLang="ja-JP" sz="2800" b="1" dirty="0">
                <a:solidFill>
                  <a:schemeClr val="tx1"/>
                </a:solidFill>
              </a:rPr>
            </a:br>
            <a:r>
              <a:rPr lang="ja-JP" altLang="en-US" sz="2800" b="1" dirty="0">
                <a:solidFill>
                  <a:schemeClr val="tx1"/>
                </a:solidFill>
              </a:rPr>
              <a:t>リアルタイム化を目指す</a:t>
            </a:r>
          </a:p>
        </p:txBody>
      </p:sp>
      <p:sp>
        <p:nvSpPr>
          <p:cNvPr id="3" name="四角形: 角を丸くする 2">
            <a:extLst>
              <a:ext uri="{FF2B5EF4-FFF2-40B4-BE49-F238E27FC236}">
                <a16:creationId xmlns:a16="http://schemas.microsoft.com/office/drawing/2014/main" id="{E410165F-F59A-5633-01A5-879C1D9387F6}"/>
              </a:ext>
            </a:extLst>
          </p:cNvPr>
          <p:cNvSpPr/>
          <p:nvPr/>
        </p:nvSpPr>
        <p:spPr>
          <a:xfrm>
            <a:off x="496876" y="1640723"/>
            <a:ext cx="8158480" cy="2049830"/>
          </a:xfrm>
          <a:prstGeom prst="round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800" b="1" dirty="0">
                <a:solidFill>
                  <a:schemeClr val="tx1"/>
                </a:solidFill>
              </a:rPr>
              <a:t>直接法に基づく</a:t>
            </a:r>
            <a:r>
              <a:rPr lang="en-US" altLang="ja-JP" sz="2800" b="1" dirty="0">
                <a:solidFill>
                  <a:schemeClr val="tx1"/>
                </a:solidFill>
              </a:rPr>
              <a:t>Visual SLAM</a:t>
            </a:r>
            <a:r>
              <a:rPr lang="ja-JP" altLang="en-US" sz="2800" b="1" dirty="0">
                <a:solidFill>
                  <a:schemeClr val="tx1"/>
                </a:solidFill>
              </a:rPr>
              <a:t>は，</a:t>
            </a:r>
            <a:br>
              <a:rPr lang="en-US" altLang="ja-JP" sz="2800" b="1" dirty="0">
                <a:solidFill>
                  <a:schemeClr val="tx1"/>
                </a:solidFill>
              </a:rPr>
            </a:br>
            <a:r>
              <a:rPr lang="ja-JP" altLang="en-US" sz="2800" b="1" dirty="0">
                <a:solidFill>
                  <a:srgbClr val="FF0000"/>
                </a:solidFill>
              </a:rPr>
              <a:t>高精度</a:t>
            </a:r>
            <a:r>
              <a:rPr lang="ja-JP" altLang="en-US" sz="2800" b="1" dirty="0">
                <a:solidFill>
                  <a:schemeClr val="tx1"/>
                </a:solidFill>
              </a:rPr>
              <a:t>な自己位置推定が可能である一方，</a:t>
            </a:r>
            <a:br>
              <a:rPr lang="ja-JP" altLang="en-US" sz="2800" b="1" dirty="0">
                <a:solidFill>
                  <a:schemeClr val="tx1"/>
                </a:solidFill>
              </a:rPr>
            </a:br>
            <a:r>
              <a:rPr lang="ja-JP" altLang="en-US" sz="2800" b="1" dirty="0">
                <a:solidFill>
                  <a:schemeClr val="tx1"/>
                </a:solidFill>
              </a:rPr>
              <a:t>深度推定に高い計算負荷を要する為</a:t>
            </a:r>
            <a:endParaRPr lang="en-US" altLang="ja-JP" sz="2800" b="1" dirty="0">
              <a:solidFill>
                <a:schemeClr val="tx1"/>
              </a:solidFill>
            </a:endParaRPr>
          </a:p>
          <a:p>
            <a:pPr algn="ctr"/>
            <a:r>
              <a:rPr lang="ja-JP" altLang="en-US" sz="2800" b="1" dirty="0">
                <a:solidFill>
                  <a:srgbClr val="FF0000"/>
                </a:solidFill>
              </a:rPr>
              <a:t>リアルタイム化に不向き</a:t>
            </a:r>
          </a:p>
        </p:txBody>
      </p:sp>
      <p:sp>
        <p:nvSpPr>
          <p:cNvPr id="4" name="矢印: 下 3">
            <a:extLst>
              <a:ext uri="{FF2B5EF4-FFF2-40B4-BE49-F238E27FC236}">
                <a16:creationId xmlns:a16="http://schemas.microsoft.com/office/drawing/2014/main" id="{0A2E2870-271C-9B21-989E-04196DA61940}"/>
              </a:ext>
            </a:extLst>
          </p:cNvPr>
          <p:cNvSpPr/>
          <p:nvPr/>
        </p:nvSpPr>
        <p:spPr>
          <a:xfrm>
            <a:off x="4162342" y="3771569"/>
            <a:ext cx="819315" cy="593125"/>
          </a:xfrm>
          <a:prstGeom prst="down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27518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 grpId="0" animBg="1"/>
    </p:bldLst>
  </p:timing>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図 15" descr="カメラ, 屋内, プロジェクター, 座る が含まれている画像&#10;&#10;AI によって生成されたコンテンツは間違っている可能性があります。">
            <a:extLst>
              <a:ext uri="{FF2B5EF4-FFF2-40B4-BE49-F238E27FC236}">
                <a16:creationId xmlns:a16="http://schemas.microsoft.com/office/drawing/2014/main" id="{EDB81130-C2C0-4A36-66CB-9E12A97CF1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4676" y="1562986"/>
            <a:ext cx="3164377" cy="4580238"/>
          </a:xfrm>
          <a:prstGeom prst="rect">
            <a:avLst/>
          </a:prstGeom>
        </p:spPr>
      </p:pic>
      <p:sp>
        <p:nvSpPr>
          <p:cNvPr id="2" name="タイトル 1">
            <a:extLst>
              <a:ext uri="{FF2B5EF4-FFF2-40B4-BE49-F238E27FC236}">
                <a16:creationId xmlns:a16="http://schemas.microsoft.com/office/drawing/2014/main" id="{435B0217-AEAB-2091-AC1D-8AD8B64B440A}"/>
              </a:ext>
            </a:extLst>
          </p:cNvPr>
          <p:cNvSpPr>
            <a:spLocks noGrp="1"/>
          </p:cNvSpPr>
          <p:nvPr>
            <p:ph type="title"/>
          </p:nvPr>
        </p:nvSpPr>
        <p:spPr/>
        <p:txBody>
          <a:bodyPr>
            <a:normAutofit/>
          </a:bodyPr>
          <a:lstStyle/>
          <a:p>
            <a:r>
              <a:rPr lang="ja-JP" altLang="en-US" dirty="0"/>
              <a:t>ハードウェア構成</a:t>
            </a:r>
            <a:endParaRPr kumimoji="1" lang="ja-JP" altLang="en-US" dirty="0"/>
          </a:p>
        </p:txBody>
      </p:sp>
      <p:sp>
        <p:nvSpPr>
          <p:cNvPr id="3" name="コンテンツ プレースホルダー 2">
            <a:extLst>
              <a:ext uri="{FF2B5EF4-FFF2-40B4-BE49-F238E27FC236}">
                <a16:creationId xmlns:a16="http://schemas.microsoft.com/office/drawing/2014/main" id="{2912CE58-DC6D-E37F-433E-2A344E12DA65}"/>
              </a:ext>
            </a:extLst>
          </p:cNvPr>
          <p:cNvSpPr>
            <a:spLocks noGrp="1"/>
          </p:cNvSpPr>
          <p:nvPr>
            <p:ph idx="1"/>
          </p:nvPr>
        </p:nvSpPr>
        <p:spPr>
          <a:xfrm>
            <a:off x="619919" y="5016234"/>
            <a:ext cx="7904162" cy="1253295"/>
          </a:xfrm>
        </p:spPr>
        <p:txBody>
          <a:bodyPr>
            <a:normAutofit/>
          </a:bodyPr>
          <a:lstStyle/>
          <a:p>
            <a:pPr>
              <a:lnSpc>
                <a:spcPct val="100000"/>
              </a:lnSpc>
            </a:pPr>
            <a:r>
              <a:rPr lang="ja-JP" altLang="en-US" dirty="0"/>
              <a:t>カメラフレーム</a:t>
            </a:r>
            <a:endParaRPr lang="en-US" altLang="ja-JP" dirty="0"/>
          </a:p>
          <a:p>
            <a:pPr lvl="1">
              <a:lnSpc>
                <a:spcPct val="100000"/>
              </a:lnSpc>
            </a:pPr>
            <a:r>
              <a:rPr lang="en-US" altLang="ja-JP" dirty="0"/>
              <a:t>3D</a:t>
            </a:r>
            <a:r>
              <a:rPr lang="ja-JP" altLang="en-US" dirty="0"/>
              <a:t>プリンターで作成</a:t>
            </a:r>
            <a:endParaRPr lang="en-US" altLang="ja-JP" dirty="0"/>
          </a:p>
        </p:txBody>
      </p:sp>
      <p:sp>
        <p:nvSpPr>
          <p:cNvPr id="4" name="スライド番号プレースホルダー 3">
            <a:extLst>
              <a:ext uri="{FF2B5EF4-FFF2-40B4-BE49-F238E27FC236}">
                <a16:creationId xmlns:a16="http://schemas.microsoft.com/office/drawing/2014/main" id="{E828B81A-0DE4-FB4F-17BD-84F5FDF3BDC9}"/>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5</a:t>
            </a:fld>
            <a:endParaRPr kumimoji="1" lang="ja-JP" altLang="en-US" dirty="0"/>
          </a:p>
        </p:txBody>
      </p:sp>
      <p:pic>
        <p:nvPicPr>
          <p:cNvPr id="9" name="図 8" descr="座る, コンピュータ が含まれている画像&#10;&#10;AI によって生成されたコンテンツは間違っている可能性があります。">
            <a:extLst>
              <a:ext uri="{FF2B5EF4-FFF2-40B4-BE49-F238E27FC236}">
                <a16:creationId xmlns:a16="http://schemas.microsoft.com/office/drawing/2014/main" id="{A55BC63D-C7E7-7D84-5FA9-40BF652AD7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4645" y="1439888"/>
            <a:ext cx="1965669" cy="1970139"/>
          </a:xfrm>
          <a:prstGeom prst="rect">
            <a:avLst/>
          </a:prstGeom>
        </p:spPr>
      </p:pic>
      <p:sp>
        <p:nvSpPr>
          <p:cNvPr id="6" name="コンテンツ プレースホルダー 2">
            <a:extLst>
              <a:ext uri="{FF2B5EF4-FFF2-40B4-BE49-F238E27FC236}">
                <a16:creationId xmlns:a16="http://schemas.microsoft.com/office/drawing/2014/main" id="{90F5A91B-FFA9-A8A9-8A10-591BC768FB10}"/>
              </a:ext>
            </a:extLst>
          </p:cNvPr>
          <p:cNvSpPr txBox="1">
            <a:spLocks/>
          </p:cNvSpPr>
          <p:nvPr/>
        </p:nvSpPr>
        <p:spPr>
          <a:xfrm>
            <a:off x="619919" y="1435741"/>
            <a:ext cx="7904162" cy="17086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800" b="1"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b="1"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dirty="0"/>
              <a:t>Jetson AGX Orin</a:t>
            </a:r>
          </a:p>
          <a:p>
            <a:pPr lvl="1">
              <a:lnSpc>
                <a:spcPct val="100000"/>
              </a:lnSpc>
            </a:pPr>
            <a:r>
              <a:rPr lang="ja-JP" altLang="en-US" dirty="0"/>
              <a:t>小型で高性能な組み込み</a:t>
            </a:r>
            <a:br>
              <a:rPr lang="en-US" altLang="ja-JP" dirty="0"/>
            </a:br>
            <a:r>
              <a:rPr lang="en-US" altLang="ja-JP" dirty="0"/>
              <a:t>AI</a:t>
            </a:r>
            <a:r>
              <a:rPr lang="ja-JP" altLang="en-US" dirty="0"/>
              <a:t>コンピューティング</a:t>
            </a:r>
            <a:br>
              <a:rPr lang="en-US" altLang="ja-JP" dirty="0"/>
            </a:br>
            <a:r>
              <a:rPr lang="ja-JP" altLang="en-US" dirty="0"/>
              <a:t>プラットフォーム</a:t>
            </a:r>
            <a:endParaRPr lang="en-US" altLang="ja-JP" dirty="0"/>
          </a:p>
        </p:txBody>
      </p:sp>
      <p:sp>
        <p:nvSpPr>
          <p:cNvPr id="8" name="コンテンツ プレースホルダー 2">
            <a:extLst>
              <a:ext uri="{FF2B5EF4-FFF2-40B4-BE49-F238E27FC236}">
                <a16:creationId xmlns:a16="http://schemas.microsoft.com/office/drawing/2014/main" id="{C43BD384-9524-BB9A-40E5-C427A8BDC381}"/>
              </a:ext>
            </a:extLst>
          </p:cNvPr>
          <p:cNvSpPr txBox="1">
            <a:spLocks/>
          </p:cNvSpPr>
          <p:nvPr/>
        </p:nvSpPr>
        <p:spPr>
          <a:xfrm>
            <a:off x="619919" y="3203102"/>
            <a:ext cx="7904162" cy="17721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800" b="1"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b="1"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ja-JP" altLang="en-US" dirty="0"/>
              <a:t>魚眼カメラ</a:t>
            </a:r>
            <a:endParaRPr lang="en-US" altLang="ja-JP" dirty="0"/>
          </a:p>
          <a:p>
            <a:pPr lvl="1">
              <a:lnSpc>
                <a:spcPct val="100000"/>
              </a:lnSpc>
            </a:pPr>
            <a:r>
              <a:rPr lang="ja-JP" altLang="en-US" dirty="0"/>
              <a:t>約</a:t>
            </a:r>
            <a:r>
              <a:rPr lang="en-US" altLang="ja-JP" dirty="0"/>
              <a:t>220°</a:t>
            </a:r>
            <a:r>
              <a:rPr lang="ja-JP" altLang="en-US" dirty="0"/>
              <a:t>の視野角を持つ</a:t>
            </a:r>
            <a:endParaRPr lang="en-US" altLang="ja-JP" dirty="0"/>
          </a:p>
          <a:p>
            <a:pPr lvl="1">
              <a:lnSpc>
                <a:spcPct val="100000"/>
              </a:lnSpc>
            </a:pPr>
            <a:r>
              <a:rPr lang="ja-JP" altLang="en-US" dirty="0"/>
              <a:t>上段</a:t>
            </a:r>
            <a:r>
              <a:rPr lang="en-US" altLang="ja-JP" dirty="0"/>
              <a:t>2</a:t>
            </a:r>
            <a:r>
              <a:rPr lang="ja-JP" altLang="en-US" dirty="0"/>
              <a:t>つ下段</a:t>
            </a:r>
            <a:r>
              <a:rPr lang="en-US" altLang="ja-JP" dirty="0"/>
              <a:t>2</a:t>
            </a:r>
            <a:r>
              <a:rPr lang="ja-JP" altLang="en-US" dirty="0"/>
              <a:t>つ</a:t>
            </a:r>
            <a:br>
              <a:rPr lang="en-US" altLang="ja-JP" dirty="0"/>
            </a:br>
            <a:r>
              <a:rPr lang="ja-JP" altLang="en-US" dirty="0"/>
              <a:t>四方に向くように配置</a:t>
            </a:r>
            <a:endParaRPr lang="en-US" altLang="ja-JP" dirty="0"/>
          </a:p>
          <a:p>
            <a:pPr lvl="1">
              <a:lnSpc>
                <a:spcPct val="100000"/>
              </a:lnSpc>
            </a:pPr>
            <a:endParaRPr lang="ja-JP" altLang="en-US" dirty="0"/>
          </a:p>
        </p:txBody>
      </p:sp>
      <p:pic>
        <p:nvPicPr>
          <p:cNvPr id="10" name="図 9" descr="屋内, 座る, 金属, 鏡 が含まれている画像&#10;&#10;AI によって生成されたコンテンツは間違っている可能性があります。">
            <a:extLst>
              <a:ext uri="{FF2B5EF4-FFF2-40B4-BE49-F238E27FC236}">
                <a16:creationId xmlns:a16="http://schemas.microsoft.com/office/drawing/2014/main" id="{02611340-A88B-6D49-F078-B69B3B92D7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04645" y="5146764"/>
            <a:ext cx="1965670" cy="1284909"/>
          </a:xfrm>
          <a:prstGeom prst="rect">
            <a:avLst/>
          </a:prstGeom>
        </p:spPr>
      </p:pic>
      <p:pic>
        <p:nvPicPr>
          <p:cNvPr id="14" name="図 13" descr="電子機器の部品&#10;&#10;AI によって生成されたコンテンツは間違っている可能性があります。">
            <a:extLst>
              <a:ext uri="{FF2B5EF4-FFF2-40B4-BE49-F238E27FC236}">
                <a16:creationId xmlns:a16="http://schemas.microsoft.com/office/drawing/2014/main" id="{7C9A0C5B-A686-6AE2-6834-62009B83C9A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04646" y="3374576"/>
            <a:ext cx="1965669" cy="1772189"/>
          </a:xfrm>
          <a:prstGeom prst="rect">
            <a:avLst/>
          </a:prstGeom>
        </p:spPr>
      </p:pic>
    </p:spTree>
    <p:extLst>
      <p:ext uri="{BB962C8B-B14F-4D97-AF65-F5344CB8AC3E}">
        <p14:creationId xmlns:p14="http://schemas.microsoft.com/office/powerpoint/2010/main" val="2029674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14"/>
                                        </p:tgtEl>
                                      </p:cBhvr>
                                    </p:animEffect>
                                    <p:set>
                                      <p:cBhvr>
                                        <p:cTn id="10" dur="1" fill="hold">
                                          <p:stCondLst>
                                            <p:cond delay="499"/>
                                          </p:stCondLst>
                                        </p:cTn>
                                        <p:tgtEl>
                                          <p:spTgt spid="14"/>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10"/>
                                        </p:tgtEl>
                                      </p:cBhvr>
                                    </p:animEffect>
                                    <p:set>
                                      <p:cBhvr>
                                        <p:cTn id="13" dur="1" fill="hold">
                                          <p:stCondLst>
                                            <p:cond delay="499"/>
                                          </p:stCondLst>
                                        </p:cTn>
                                        <p:tgtEl>
                                          <p:spTgt spid="10"/>
                                        </p:tgtEl>
                                        <p:attrNameLst>
                                          <p:attrName>style.visibility</p:attrName>
                                        </p:attrNameLst>
                                      </p:cBhvr>
                                      <p:to>
                                        <p:strVal val="hidden"/>
                                      </p:to>
                                    </p:set>
                                  </p:childTnLst>
                                </p:cTn>
                              </p:par>
                              <p:par>
                                <p:cTn id="14" presetID="10" presetClass="entr" presetSubtype="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7EACB-E4E8-4F06-A9D8-EB6B2844DEED}"/>
            </a:ext>
          </a:extLst>
        </p:cNvPr>
        <p:cNvGrpSpPr/>
        <p:nvPr/>
      </p:nvGrpSpPr>
      <p:grpSpPr>
        <a:xfrm>
          <a:off x="0" y="0"/>
          <a:ext cx="0" cy="0"/>
          <a:chOff x="0" y="0"/>
          <a:chExt cx="0" cy="0"/>
        </a:xfrm>
      </p:grpSpPr>
      <p:sp>
        <p:nvSpPr>
          <p:cNvPr id="22" name="吹き出し: 四角形 21">
            <a:extLst>
              <a:ext uri="{FF2B5EF4-FFF2-40B4-BE49-F238E27FC236}">
                <a16:creationId xmlns:a16="http://schemas.microsoft.com/office/drawing/2014/main" id="{D85B1BAC-C225-B639-1B93-D46E44D130B7}"/>
              </a:ext>
            </a:extLst>
          </p:cNvPr>
          <p:cNvSpPr/>
          <p:nvPr/>
        </p:nvSpPr>
        <p:spPr>
          <a:xfrm>
            <a:off x="1025193" y="1602678"/>
            <a:ext cx="3197784" cy="1798753"/>
          </a:xfrm>
          <a:prstGeom prst="wedgeRectCallout">
            <a:avLst>
              <a:gd name="adj1" fmla="val 43088"/>
              <a:gd name="adj2" fmla="val 64283"/>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吹き出し: 四角形 41">
            <a:extLst>
              <a:ext uri="{FF2B5EF4-FFF2-40B4-BE49-F238E27FC236}">
                <a16:creationId xmlns:a16="http://schemas.microsoft.com/office/drawing/2014/main" id="{94589DFB-ACCC-A37A-8322-6346AB037A01}"/>
              </a:ext>
            </a:extLst>
          </p:cNvPr>
          <p:cNvSpPr/>
          <p:nvPr/>
        </p:nvSpPr>
        <p:spPr>
          <a:xfrm flipV="1">
            <a:off x="4861316" y="4021721"/>
            <a:ext cx="3197783" cy="1790768"/>
          </a:xfrm>
          <a:prstGeom prst="wedgeRectCallout">
            <a:avLst>
              <a:gd name="adj1" fmla="val -40102"/>
              <a:gd name="adj2" fmla="val 64274"/>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descr="屋内, 鏡, 眺め, 反射 が含まれている画像&#10;&#10;AI によって生成されたコンテンツは間違っている可能性があります。">
            <a:extLst>
              <a:ext uri="{FF2B5EF4-FFF2-40B4-BE49-F238E27FC236}">
                <a16:creationId xmlns:a16="http://schemas.microsoft.com/office/drawing/2014/main" id="{622B6672-08AE-2D5A-B111-3C8772803C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61316" y="4013734"/>
            <a:ext cx="3197784" cy="1798755"/>
          </a:xfrm>
          <a:prstGeom prst="rect">
            <a:avLst/>
          </a:prstGeom>
        </p:spPr>
      </p:pic>
      <p:pic>
        <p:nvPicPr>
          <p:cNvPr id="44" name="図 43" descr="屋内, 鏡, 眺め, 座る が含まれている画像&#10;&#10;AI によって生成されたコンテンツは間違っている可能性があります。">
            <a:extLst>
              <a:ext uri="{FF2B5EF4-FFF2-40B4-BE49-F238E27FC236}">
                <a16:creationId xmlns:a16="http://schemas.microsoft.com/office/drawing/2014/main" id="{4F49059C-8CC3-0C0A-6DCD-1004F43BBA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1671" y="4013735"/>
            <a:ext cx="3197786" cy="1798755"/>
          </a:xfrm>
          <a:prstGeom prst="rect">
            <a:avLst/>
          </a:prstGeom>
        </p:spPr>
      </p:pic>
      <p:pic>
        <p:nvPicPr>
          <p:cNvPr id="45" name="図 44" descr="屋内, 鏡, 眺め, 反射 が含まれている画像&#10;&#10;AI によって生成されたコンテンツは間違っている可能性があります。">
            <a:extLst>
              <a:ext uri="{FF2B5EF4-FFF2-40B4-BE49-F238E27FC236}">
                <a16:creationId xmlns:a16="http://schemas.microsoft.com/office/drawing/2014/main" id="{BF829582-299D-DCE1-7F5E-BB23BE67063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5191" y="1621656"/>
            <a:ext cx="3197786" cy="1804637"/>
          </a:xfrm>
          <a:prstGeom prst="rect">
            <a:avLst/>
          </a:prstGeom>
        </p:spPr>
      </p:pic>
      <p:sp>
        <p:nvSpPr>
          <p:cNvPr id="14" name="吹き出し: 四角形 13">
            <a:extLst>
              <a:ext uri="{FF2B5EF4-FFF2-40B4-BE49-F238E27FC236}">
                <a16:creationId xmlns:a16="http://schemas.microsoft.com/office/drawing/2014/main" id="{9B37554D-EF59-A458-A25C-6DD3DE1D9CE5}"/>
              </a:ext>
            </a:extLst>
          </p:cNvPr>
          <p:cNvSpPr/>
          <p:nvPr/>
        </p:nvSpPr>
        <p:spPr>
          <a:xfrm>
            <a:off x="4861316" y="1602678"/>
            <a:ext cx="3197783" cy="1798753"/>
          </a:xfrm>
          <a:prstGeom prst="wedgeRectCallout">
            <a:avLst>
              <a:gd name="adj1" fmla="val -57857"/>
              <a:gd name="adj2" fmla="val 33958"/>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1" name="図 40" descr="屋内, 眺め, 鏡, 座る が含まれている画像&#10;&#10;AI によって生成されたコンテンツは間違っている可能性があります。">
            <a:extLst>
              <a:ext uri="{FF2B5EF4-FFF2-40B4-BE49-F238E27FC236}">
                <a16:creationId xmlns:a16="http://schemas.microsoft.com/office/drawing/2014/main" id="{31034760-19F0-AAB0-EBBE-C4A81BE9905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61317" y="1600777"/>
            <a:ext cx="3197783" cy="1798755"/>
          </a:xfrm>
          <a:prstGeom prst="rect">
            <a:avLst/>
          </a:prstGeom>
        </p:spPr>
      </p:pic>
      <p:sp>
        <p:nvSpPr>
          <p:cNvPr id="39" name="部分円 38">
            <a:extLst>
              <a:ext uri="{FF2B5EF4-FFF2-40B4-BE49-F238E27FC236}">
                <a16:creationId xmlns:a16="http://schemas.microsoft.com/office/drawing/2014/main" id="{D4CDC5C6-9748-D17F-EFA9-2A4E2D91064F}"/>
              </a:ext>
            </a:extLst>
          </p:cNvPr>
          <p:cNvSpPr/>
          <p:nvPr/>
        </p:nvSpPr>
        <p:spPr>
          <a:xfrm rot="5400000">
            <a:off x="4679056" y="3496701"/>
            <a:ext cx="476962" cy="467119"/>
          </a:xfrm>
          <a:prstGeom prst="pie">
            <a:avLst>
              <a:gd name="adj1" fmla="val 8998221"/>
              <a:gd name="adj2" fmla="val 1857598"/>
            </a:avLst>
          </a:prstGeom>
          <a:noFill/>
          <a:ln>
            <a:solidFill>
              <a:srgbClr val="FF000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38" name="部分円 37">
            <a:extLst>
              <a:ext uri="{FF2B5EF4-FFF2-40B4-BE49-F238E27FC236}">
                <a16:creationId xmlns:a16="http://schemas.microsoft.com/office/drawing/2014/main" id="{33F4AB8B-A8C1-D7B4-E30C-9B6B6097B927}"/>
              </a:ext>
            </a:extLst>
          </p:cNvPr>
          <p:cNvSpPr/>
          <p:nvPr/>
        </p:nvSpPr>
        <p:spPr>
          <a:xfrm rot="21447112">
            <a:off x="4352087" y="3144661"/>
            <a:ext cx="465848" cy="478263"/>
          </a:xfrm>
          <a:prstGeom prst="pie">
            <a:avLst>
              <a:gd name="adj1" fmla="val 8998221"/>
              <a:gd name="adj2" fmla="val 1857598"/>
            </a:avLst>
          </a:prstGeom>
          <a:noFill/>
          <a:ln>
            <a:solidFill>
              <a:srgbClr val="0070C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17" name="吹き出し: 四角形 16">
            <a:extLst>
              <a:ext uri="{FF2B5EF4-FFF2-40B4-BE49-F238E27FC236}">
                <a16:creationId xmlns:a16="http://schemas.microsoft.com/office/drawing/2014/main" id="{0E3644CB-9B43-B0DA-8924-C6ECBA2CF993}"/>
              </a:ext>
            </a:extLst>
          </p:cNvPr>
          <p:cNvSpPr/>
          <p:nvPr/>
        </p:nvSpPr>
        <p:spPr>
          <a:xfrm flipV="1">
            <a:off x="1051670" y="4017733"/>
            <a:ext cx="3197786" cy="1790769"/>
          </a:xfrm>
          <a:prstGeom prst="wedgeRectCallout">
            <a:avLst>
              <a:gd name="adj1" fmla="val 55714"/>
              <a:gd name="adj2" fmla="val 35619"/>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吹き出し: 四角形 15">
            <a:extLst>
              <a:ext uri="{FF2B5EF4-FFF2-40B4-BE49-F238E27FC236}">
                <a16:creationId xmlns:a16="http://schemas.microsoft.com/office/drawing/2014/main" id="{F499DC48-E240-D503-146D-1AB0D80A494A}"/>
              </a:ext>
            </a:extLst>
          </p:cNvPr>
          <p:cNvSpPr/>
          <p:nvPr/>
        </p:nvSpPr>
        <p:spPr>
          <a:xfrm flipV="1">
            <a:off x="4861316" y="4017735"/>
            <a:ext cx="3197783" cy="1798755"/>
          </a:xfrm>
          <a:prstGeom prst="wedgeRectCallout">
            <a:avLst>
              <a:gd name="adj1" fmla="val -40102"/>
              <a:gd name="adj2" fmla="val 64274"/>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27D065F1-4917-1D97-DBC3-1EBED70D449F}"/>
              </a:ext>
            </a:extLst>
          </p:cNvPr>
          <p:cNvSpPr>
            <a:spLocks noGrp="1"/>
          </p:cNvSpPr>
          <p:nvPr>
            <p:ph type="title"/>
          </p:nvPr>
        </p:nvSpPr>
        <p:spPr/>
        <p:txBody>
          <a:bodyPr>
            <a:normAutofit/>
          </a:bodyPr>
          <a:lstStyle/>
          <a:p>
            <a:r>
              <a:rPr kumimoji="1" lang="ja-JP" altLang="en-US" dirty="0"/>
              <a:t>深度推定の原理</a:t>
            </a:r>
          </a:p>
        </p:txBody>
      </p:sp>
      <p:sp>
        <p:nvSpPr>
          <p:cNvPr id="4" name="スライド番号プレースホルダー 3">
            <a:extLst>
              <a:ext uri="{FF2B5EF4-FFF2-40B4-BE49-F238E27FC236}">
                <a16:creationId xmlns:a16="http://schemas.microsoft.com/office/drawing/2014/main" id="{E40AEA2C-4CD3-668D-CF7F-70E6CD55A30D}"/>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6</a:t>
            </a:fld>
            <a:endParaRPr kumimoji="1" lang="ja-JP" altLang="en-US" dirty="0"/>
          </a:p>
        </p:txBody>
      </p:sp>
      <p:sp>
        <p:nvSpPr>
          <p:cNvPr id="5" name="部分円 4">
            <a:extLst>
              <a:ext uri="{FF2B5EF4-FFF2-40B4-BE49-F238E27FC236}">
                <a16:creationId xmlns:a16="http://schemas.microsoft.com/office/drawing/2014/main" id="{AB22D8BA-C0C8-5721-20B5-516EFD2126CC}"/>
              </a:ext>
            </a:extLst>
          </p:cNvPr>
          <p:cNvSpPr/>
          <p:nvPr/>
        </p:nvSpPr>
        <p:spPr>
          <a:xfrm rot="21447112">
            <a:off x="4352088" y="3144661"/>
            <a:ext cx="465848" cy="478263"/>
          </a:xfrm>
          <a:prstGeom prst="pie">
            <a:avLst>
              <a:gd name="adj1" fmla="val 8998221"/>
              <a:gd name="adj2" fmla="val 1857598"/>
            </a:avLst>
          </a:prstGeom>
          <a:noFill/>
          <a:ln>
            <a:solidFill>
              <a:schemeClr val="tx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6" name="部分円 5">
            <a:extLst>
              <a:ext uri="{FF2B5EF4-FFF2-40B4-BE49-F238E27FC236}">
                <a16:creationId xmlns:a16="http://schemas.microsoft.com/office/drawing/2014/main" id="{B3DFBCA2-00C1-45E4-26F1-B2595D087FA1}"/>
              </a:ext>
            </a:extLst>
          </p:cNvPr>
          <p:cNvSpPr/>
          <p:nvPr/>
        </p:nvSpPr>
        <p:spPr>
          <a:xfrm rot="5400000">
            <a:off x="4679056" y="3496701"/>
            <a:ext cx="476962" cy="467119"/>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7" name="部分円 6">
            <a:extLst>
              <a:ext uri="{FF2B5EF4-FFF2-40B4-BE49-F238E27FC236}">
                <a16:creationId xmlns:a16="http://schemas.microsoft.com/office/drawing/2014/main" id="{35D7A86E-4C57-80A1-5B57-C10764EC4C74}"/>
              </a:ext>
            </a:extLst>
          </p:cNvPr>
          <p:cNvSpPr/>
          <p:nvPr/>
        </p:nvSpPr>
        <p:spPr>
          <a:xfrm rot="16200000">
            <a:off x="4009115" y="3496701"/>
            <a:ext cx="476962" cy="467120"/>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8" name="ひし形 7">
            <a:extLst>
              <a:ext uri="{FF2B5EF4-FFF2-40B4-BE49-F238E27FC236}">
                <a16:creationId xmlns:a16="http://schemas.microsoft.com/office/drawing/2014/main" id="{3098C9AE-EF6D-FAC4-2AFF-2E442333E516}"/>
              </a:ext>
            </a:extLst>
          </p:cNvPr>
          <p:cNvSpPr/>
          <p:nvPr/>
        </p:nvSpPr>
        <p:spPr>
          <a:xfrm>
            <a:off x="4257377" y="3394809"/>
            <a:ext cx="655272" cy="670904"/>
          </a:xfrm>
          <a:prstGeom prst="diamond">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9" name="部分円 8">
            <a:extLst>
              <a:ext uri="{FF2B5EF4-FFF2-40B4-BE49-F238E27FC236}">
                <a16:creationId xmlns:a16="http://schemas.microsoft.com/office/drawing/2014/main" id="{7D03A6BF-5577-98B1-E263-F2BB58D8A66D}"/>
              </a:ext>
            </a:extLst>
          </p:cNvPr>
          <p:cNvSpPr/>
          <p:nvPr/>
        </p:nvSpPr>
        <p:spPr>
          <a:xfrm rot="10800000">
            <a:off x="4353456" y="3829608"/>
            <a:ext cx="465848" cy="47826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pic>
        <p:nvPicPr>
          <p:cNvPr id="18" name="図 17" descr="屋内, 鏡, 眺め, 反射 が含まれている画像&#10;&#10;AI によって生成されたコンテンツは間違っている可能性があります。">
            <a:extLst>
              <a:ext uri="{FF2B5EF4-FFF2-40B4-BE49-F238E27FC236}">
                <a16:creationId xmlns:a16="http://schemas.microsoft.com/office/drawing/2014/main" id="{E32FB9F8-A5CE-CF8D-0581-67F1C00535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61316" y="4009748"/>
            <a:ext cx="3197784" cy="1798755"/>
          </a:xfrm>
          <a:prstGeom prst="rect">
            <a:avLst/>
          </a:prstGeom>
        </p:spPr>
      </p:pic>
      <p:pic>
        <p:nvPicPr>
          <p:cNvPr id="3" name="図 2" descr="屋内, 鏡, 眺め, 座る が含まれている画像&#10;&#10;AI によって生成されたコンテンツは間違っている可能性があります。">
            <a:extLst>
              <a:ext uri="{FF2B5EF4-FFF2-40B4-BE49-F238E27FC236}">
                <a16:creationId xmlns:a16="http://schemas.microsoft.com/office/drawing/2014/main" id="{5056A2E9-A1AC-42F2-F03C-F22CC2A55D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1671" y="4009749"/>
            <a:ext cx="3197786" cy="1798755"/>
          </a:xfrm>
          <a:prstGeom prst="rect">
            <a:avLst/>
          </a:prstGeom>
        </p:spPr>
      </p:pic>
    </p:spTree>
    <p:extLst>
      <p:ext uri="{BB962C8B-B14F-4D97-AF65-F5344CB8AC3E}">
        <p14:creationId xmlns:p14="http://schemas.microsoft.com/office/powerpoint/2010/main" val="2310433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38" grpId="0" animBg="1"/>
      <p:bldP spid="5" grpId="0" animBg="1"/>
      <p:bldP spid="6" grpId="0" animBg="1"/>
    </p:bldLst>
  </p:timing>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2AAA2-49D1-6EDF-0D0A-007ADDE23E63}"/>
            </a:ext>
          </a:extLst>
        </p:cNvPr>
        <p:cNvGrpSpPr/>
        <p:nvPr/>
      </p:nvGrpSpPr>
      <p:grpSpPr>
        <a:xfrm>
          <a:off x="0" y="0"/>
          <a:ext cx="0" cy="0"/>
          <a:chOff x="0" y="0"/>
          <a:chExt cx="0" cy="0"/>
        </a:xfrm>
      </p:grpSpPr>
      <p:sp>
        <p:nvSpPr>
          <p:cNvPr id="3" name="吹き出し: 四角形 2">
            <a:extLst>
              <a:ext uri="{FF2B5EF4-FFF2-40B4-BE49-F238E27FC236}">
                <a16:creationId xmlns:a16="http://schemas.microsoft.com/office/drawing/2014/main" id="{C204E26D-89DA-C227-82F4-A083EC806DF3}"/>
              </a:ext>
            </a:extLst>
          </p:cNvPr>
          <p:cNvSpPr/>
          <p:nvPr/>
        </p:nvSpPr>
        <p:spPr>
          <a:xfrm>
            <a:off x="628649" y="1672405"/>
            <a:ext cx="3171417" cy="1691678"/>
          </a:xfrm>
          <a:prstGeom prst="wedgeRectCallout">
            <a:avLst>
              <a:gd name="adj1" fmla="val 67631"/>
              <a:gd name="adj2" fmla="val 51138"/>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1" name="図 10" descr="屋内, 鏡, 眺め, 反射 が含まれている画像&#10;&#10;AI によって生成されたコンテンツは間違っている可能性があります。">
            <a:extLst>
              <a:ext uri="{FF2B5EF4-FFF2-40B4-BE49-F238E27FC236}">
                <a16:creationId xmlns:a16="http://schemas.microsoft.com/office/drawing/2014/main" id="{05400096-4116-3865-CB7B-053778856C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5191" y="1621656"/>
            <a:ext cx="3197786" cy="1804637"/>
          </a:xfrm>
          <a:prstGeom prst="rect">
            <a:avLst/>
          </a:prstGeom>
        </p:spPr>
      </p:pic>
      <p:sp>
        <p:nvSpPr>
          <p:cNvPr id="12" name="吹き出し: 四角形 11">
            <a:extLst>
              <a:ext uri="{FF2B5EF4-FFF2-40B4-BE49-F238E27FC236}">
                <a16:creationId xmlns:a16="http://schemas.microsoft.com/office/drawing/2014/main" id="{BCCF19B2-B3CA-7C57-B9D2-FCB7E48C3BEF}"/>
              </a:ext>
            </a:extLst>
          </p:cNvPr>
          <p:cNvSpPr/>
          <p:nvPr/>
        </p:nvSpPr>
        <p:spPr>
          <a:xfrm>
            <a:off x="4861316" y="1602678"/>
            <a:ext cx="3197783" cy="1798753"/>
          </a:xfrm>
          <a:prstGeom prst="wedgeRectCallout">
            <a:avLst>
              <a:gd name="adj1" fmla="val -57857"/>
              <a:gd name="adj2" fmla="val 33958"/>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 name="図 12" descr="屋内, 眺め, 鏡, 座る が含まれている画像&#10;&#10;AI によって生成されたコンテンツは間違っている可能性があります。">
            <a:extLst>
              <a:ext uri="{FF2B5EF4-FFF2-40B4-BE49-F238E27FC236}">
                <a16:creationId xmlns:a16="http://schemas.microsoft.com/office/drawing/2014/main" id="{E15859BD-951B-2CD7-315C-08D413A9EB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61317" y="1600777"/>
            <a:ext cx="3197783" cy="1798755"/>
          </a:xfrm>
          <a:prstGeom prst="rect">
            <a:avLst/>
          </a:prstGeom>
        </p:spPr>
      </p:pic>
      <p:sp>
        <p:nvSpPr>
          <p:cNvPr id="14" name="吹き出し: 四角形 13">
            <a:extLst>
              <a:ext uri="{FF2B5EF4-FFF2-40B4-BE49-F238E27FC236}">
                <a16:creationId xmlns:a16="http://schemas.microsoft.com/office/drawing/2014/main" id="{4F91BECF-AABD-2075-F741-0FB4C5B9FA94}"/>
              </a:ext>
            </a:extLst>
          </p:cNvPr>
          <p:cNvSpPr/>
          <p:nvPr/>
        </p:nvSpPr>
        <p:spPr>
          <a:xfrm flipV="1">
            <a:off x="1051670" y="4017733"/>
            <a:ext cx="3197786" cy="1790769"/>
          </a:xfrm>
          <a:prstGeom prst="wedgeRectCallout">
            <a:avLst>
              <a:gd name="adj1" fmla="val 55714"/>
              <a:gd name="adj2" fmla="val 35619"/>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吹き出し: 四角形 14">
            <a:extLst>
              <a:ext uri="{FF2B5EF4-FFF2-40B4-BE49-F238E27FC236}">
                <a16:creationId xmlns:a16="http://schemas.microsoft.com/office/drawing/2014/main" id="{F3AE2D12-87FF-31FC-C185-730A213752C7}"/>
              </a:ext>
            </a:extLst>
          </p:cNvPr>
          <p:cNvSpPr/>
          <p:nvPr/>
        </p:nvSpPr>
        <p:spPr>
          <a:xfrm flipV="1">
            <a:off x="4861316" y="4017735"/>
            <a:ext cx="3197783" cy="1798755"/>
          </a:xfrm>
          <a:prstGeom prst="wedgeRectCallout">
            <a:avLst>
              <a:gd name="adj1" fmla="val -40102"/>
              <a:gd name="adj2" fmla="val 64274"/>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6" name="図 15" descr="屋内, 鏡, 眺め, 反射 が含まれている画像&#10;&#10;AI によって生成されたコンテンツは間違っている可能性があります。">
            <a:extLst>
              <a:ext uri="{FF2B5EF4-FFF2-40B4-BE49-F238E27FC236}">
                <a16:creationId xmlns:a16="http://schemas.microsoft.com/office/drawing/2014/main" id="{E882918A-113C-A968-2A1D-9EF7AF0269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61316" y="4009748"/>
            <a:ext cx="3197784" cy="1798755"/>
          </a:xfrm>
          <a:prstGeom prst="rect">
            <a:avLst/>
          </a:prstGeom>
        </p:spPr>
      </p:pic>
      <p:pic>
        <p:nvPicPr>
          <p:cNvPr id="17" name="図 16" descr="屋内, 鏡, 眺め, 座る が含まれている画像&#10;&#10;AI によって生成されたコンテンツは間違っている可能性があります。">
            <a:extLst>
              <a:ext uri="{FF2B5EF4-FFF2-40B4-BE49-F238E27FC236}">
                <a16:creationId xmlns:a16="http://schemas.microsoft.com/office/drawing/2014/main" id="{7357AFF9-5772-5B4D-0C24-465759E8066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1671" y="4009749"/>
            <a:ext cx="3197786" cy="1798755"/>
          </a:xfrm>
          <a:prstGeom prst="rect">
            <a:avLst/>
          </a:prstGeom>
        </p:spPr>
      </p:pic>
      <p:grpSp>
        <p:nvGrpSpPr>
          <p:cNvPr id="10" name="グループ化 9">
            <a:extLst>
              <a:ext uri="{FF2B5EF4-FFF2-40B4-BE49-F238E27FC236}">
                <a16:creationId xmlns:a16="http://schemas.microsoft.com/office/drawing/2014/main" id="{5B719A22-F9AC-3AAA-D04F-5D4D86D98207}"/>
              </a:ext>
            </a:extLst>
          </p:cNvPr>
          <p:cNvGrpSpPr/>
          <p:nvPr/>
        </p:nvGrpSpPr>
        <p:grpSpPr>
          <a:xfrm>
            <a:off x="4014037" y="3148647"/>
            <a:ext cx="1137059" cy="1163206"/>
            <a:chOff x="5664126" y="3576222"/>
            <a:chExt cx="1586712" cy="1585378"/>
          </a:xfrm>
        </p:grpSpPr>
        <p:sp>
          <p:nvSpPr>
            <p:cNvPr id="5" name="部分円 4">
              <a:extLst>
                <a:ext uri="{FF2B5EF4-FFF2-40B4-BE49-F238E27FC236}">
                  <a16:creationId xmlns:a16="http://schemas.microsoft.com/office/drawing/2014/main" id="{29F2E9CA-29D4-460D-6CD3-A3C60349F083}"/>
                </a:ext>
              </a:extLst>
            </p:cNvPr>
            <p:cNvSpPr/>
            <p:nvPr/>
          </p:nvSpPr>
          <p:spPr>
            <a:xfrm rot="21447112">
              <a:off x="6135859" y="3576222"/>
              <a:ext cx="650069" cy="651843"/>
            </a:xfrm>
            <a:prstGeom prst="pie">
              <a:avLst>
                <a:gd name="adj1" fmla="val 8998221"/>
                <a:gd name="adj2" fmla="val 1857598"/>
              </a:avLst>
            </a:prstGeom>
            <a:noFill/>
            <a:ln>
              <a:solidFill>
                <a:srgbClr val="0070C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6" name="部分円 5">
              <a:extLst>
                <a:ext uri="{FF2B5EF4-FFF2-40B4-BE49-F238E27FC236}">
                  <a16:creationId xmlns:a16="http://schemas.microsoft.com/office/drawing/2014/main" id="{A839E820-C857-EEAB-B6A5-0F71B8D77D09}"/>
                </a:ext>
              </a:extLst>
            </p:cNvPr>
            <p:cNvSpPr/>
            <p:nvPr/>
          </p:nvSpPr>
          <p:spPr>
            <a:xfrm rot="5400000">
              <a:off x="6599882" y="4048435"/>
              <a:ext cx="650070" cy="651842"/>
            </a:xfrm>
            <a:prstGeom prst="pie">
              <a:avLst>
                <a:gd name="adj1" fmla="val 8998221"/>
                <a:gd name="adj2" fmla="val 1857598"/>
              </a:avLst>
            </a:prstGeom>
            <a:noFill/>
            <a:ln>
              <a:solidFill>
                <a:srgbClr val="FF000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7" name="部分円 6">
              <a:extLst>
                <a:ext uri="{FF2B5EF4-FFF2-40B4-BE49-F238E27FC236}">
                  <a16:creationId xmlns:a16="http://schemas.microsoft.com/office/drawing/2014/main" id="{FE61B03E-94A8-A19F-34A9-EB8FD30B3FE7}"/>
                </a:ext>
              </a:extLst>
            </p:cNvPr>
            <p:cNvSpPr/>
            <p:nvPr/>
          </p:nvSpPr>
          <p:spPr>
            <a:xfrm rot="16200000">
              <a:off x="5665013" y="4048435"/>
              <a:ext cx="650070"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8" name="ひし形 7">
              <a:extLst>
                <a:ext uri="{FF2B5EF4-FFF2-40B4-BE49-F238E27FC236}">
                  <a16:creationId xmlns:a16="http://schemas.microsoft.com/office/drawing/2014/main" id="{F6C2AD59-3C51-C96A-B70C-D57C24B11CAE}"/>
                </a:ext>
              </a:extLst>
            </p:cNvPr>
            <p:cNvSpPr/>
            <p:nvPr/>
          </p:nvSpPr>
          <p:spPr>
            <a:xfrm>
              <a:off x="6003695" y="3917157"/>
              <a:ext cx="914400" cy="914401"/>
            </a:xfrm>
            <a:prstGeom prst="diamond">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9" name="部分円 8">
              <a:extLst>
                <a:ext uri="{FF2B5EF4-FFF2-40B4-BE49-F238E27FC236}">
                  <a16:creationId xmlns:a16="http://schemas.microsoft.com/office/drawing/2014/main" id="{D247CC71-4D0B-1CF9-C44B-2666FC6865ED}"/>
                </a:ext>
              </a:extLst>
            </p:cNvPr>
            <p:cNvSpPr/>
            <p:nvPr/>
          </p:nvSpPr>
          <p:spPr>
            <a:xfrm rot="10800000">
              <a:off x="6137766" y="4509757"/>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grpSp>
      <p:sp>
        <p:nvSpPr>
          <p:cNvPr id="2" name="タイトル 1">
            <a:extLst>
              <a:ext uri="{FF2B5EF4-FFF2-40B4-BE49-F238E27FC236}">
                <a16:creationId xmlns:a16="http://schemas.microsoft.com/office/drawing/2014/main" id="{01DCB360-E374-CDE2-6CB8-EA66B30FCD6D}"/>
              </a:ext>
            </a:extLst>
          </p:cNvPr>
          <p:cNvSpPr>
            <a:spLocks noGrp="1"/>
          </p:cNvSpPr>
          <p:nvPr>
            <p:ph type="title"/>
          </p:nvPr>
        </p:nvSpPr>
        <p:spPr/>
        <p:txBody>
          <a:bodyPr>
            <a:normAutofit/>
          </a:bodyPr>
          <a:lstStyle/>
          <a:p>
            <a:r>
              <a:rPr kumimoji="1" lang="ja-JP" altLang="en-US" dirty="0"/>
              <a:t>深度推定の原理</a:t>
            </a:r>
          </a:p>
        </p:txBody>
      </p:sp>
      <p:sp>
        <p:nvSpPr>
          <p:cNvPr id="4" name="スライド番号プレースホルダー 3">
            <a:extLst>
              <a:ext uri="{FF2B5EF4-FFF2-40B4-BE49-F238E27FC236}">
                <a16:creationId xmlns:a16="http://schemas.microsoft.com/office/drawing/2014/main" id="{C9558BE3-BD22-FCE0-839C-52F9430C46FF}"/>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7</a:t>
            </a:fld>
            <a:endParaRPr kumimoji="1" lang="ja-JP" altLang="en-US" dirty="0"/>
          </a:p>
        </p:txBody>
      </p:sp>
      <p:cxnSp>
        <p:nvCxnSpPr>
          <p:cNvPr id="42" name="直線コネクタ 41">
            <a:extLst>
              <a:ext uri="{FF2B5EF4-FFF2-40B4-BE49-F238E27FC236}">
                <a16:creationId xmlns:a16="http://schemas.microsoft.com/office/drawing/2014/main" id="{7D386739-9489-4DF0-B3E5-AB098AE34A7A}"/>
              </a:ext>
            </a:extLst>
          </p:cNvPr>
          <p:cNvCxnSpPr>
            <a:cxnSpLocks/>
          </p:cNvCxnSpPr>
          <p:nvPr/>
        </p:nvCxnSpPr>
        <p:spPr>
          <a:xfrm flipV="1">
            <a:off x="4576972" y="1294822"/>
            <a:ext cx="2283247" cy="2114699"/>
          </a:xfrm>
          <a:prstGeom prst="line">
            <a:avLst/>
          </a:prstGeom>
          <a:ln>
            <a:solidFill>
              <a:srgbClr val="0070C0"/>
            </a:solidFill>
            <a:prstDash val="sysDash"/>
          </a:ln>
        </p:spPr>
        <p:style>
          <a:lnRef idx="2">
            <a:schemeClr val="accent1"/>
          </a:lnRef>
          <a:fillRef idx="0">
            <a:schemeClr val="accent1"/>
          </a:fillRef>
          <a:effectRef idx="1">
            <a:schemeClr val="accent1"/>
          </a:effectRef>
          <a:fontRef idx="minor">
            <a:schemeClr val="tx1"/>
          </a:fontRef>
        </p:style>
      </p:cxnSp>
      <p:cxnSp>
        <p:nvCxnSpPr>
          <p:cNvPr id="43" name="直線矢印コネクタ 42">
            <a:extLst>
              <a:ext uri="{FF2B5EF4-FFF2-40B4-BE49-F238E27FC236}">
                <a16:creationId xmlns:a16="http://schemas.microsoft.com/office/drawing/2014/main" id="{088C45EB-7494-471F-EEC9-DEF5CBB161FA}"/>
              </a:ext>
            </a:extLst>
          </p:cNvPr>
          <p:cNvCxnSpPr>
            <a:cxnSpLocks/>
          </p:cNvCxnSpPr>
          <p:nvPr/>
        </p:nvCxnSpPr>
        <p:spPr>
          <a:xfrm flipV="1">
            <a:off x="4600784" y="3225311"/>
            <a:ext cx="175841" cy="162938"/>
          </a:xfrm>
          <a:prstGeom prst="straightConnector1">
            <a:avLst/>
          </a:prstGeom>
          <a:ln w="28575">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21" name="スマイル 20">
            <a:extLst>
              <a:ext uri="{FF2B5EF4-FFF2-40B4-BE49-F238E27FC236}">
                <a16:creationId xmlns:a16="http://schemas.microsoft.com/office/drawing/2014/main" id="{C26BA6B0-DCA5-59A9-F3E8-3104962025C9}"/>
              </a:ext>
            </a:extLst>
          </p:cNvPr>
          <p:cNvSpPr/>
          <p:nvPr/>
        </p:nvSpPr>
        <p:spPr>
          <a:xfrm>
            <a:off x="5586038" y="1993629"/>
            <a:ext cx="471862" cy="478688"/>
          </a:xfrm>
          <a:prstGeom prst="smileyFac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72582FDD-0741-CD54-BB94-041990D09696}"/>
              </a:ext>
            </a:extLst>
          </p:cNvPr>
          <p:cNvSpPr/>
          <p:nvPr/>
        </p:nvSpPr>
        <p:spPr>
          <a:xfrm>
            <a:off x="5526279" y="1280122"/>
            <a:ext cx="3472758" cy="3238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19EA1E6B-0E8D-EB1C-4AD3-A425BF514EB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28930" y="3603228"/>
            <a:ext cx="2217248" cy="2217248"/>
          </a:xfrm>
          <a:prstGeom prst="rect">
            <a:avLst/>
          </a:prstGeom>
          <a:noFill/>
          <a:extLst>
            <a:ext uri="{909E8E84-426E-40DD-AFC4-6F175D3DCCD1}">
              <a14:hiddenFill xmlns:a14="http://schemas.microsoft.com/office/drawing/2010/main">
                <a:solidFill>
                  <a:srgbClr val="FFFFFF"/>
                </a:solidFill>
              </a14:hiddenFill>
            </a:ext>
          </a:extLst>
        </p:spPr>
      </p:pic>
      <p:sp>
        <p:nvSpPr>
          <p:cNvPr id="45" name="テキスト ボックス 44">
            <a:extLst>
              <a:ext uri="{FF2B5EF4-FFF2-40B4-BE49-F238E27FC236}">
                <a16:creationId xmlns:a16="http://schemas.microsoft.com/office/drawing/2014/main" id="{9C45988D-B027-4C3E-CC8D-8CD67670A575}"/>
              </a:ext>
            </a:extLst>
          </p:cNvPr>
          <p:cNvSpPr txBox="1"/>
          <p:nvPr/>
        </p:nvSpPr>
        <p:spPr>
          <a:xfrm>
            <a:off x="3861442" y="5516872"/>
            <a:ext cx="550151" cy="369332"/>
          </a:xfrm>
          <a:prstGeom prst="rect">
            <a:avLst/>
          </a:prstGeom>
          <a:noFill/>
        </p:spPr>
        <p:txBody>
          <a:bodyPr wrap="none" rtlCol="0">
            <a:spAutoFit/>
          </a:bodyPr>
          <a:lstStyle/>
          <a:p>
            <a:r>
              <a:rPr kumimoji="1" lang="en-US" altLang="ja-JP" dirty="0"/>
              <a:t>[</a:t>
            </a:r>
            <a:r>
              <a:rPr kumimoji="1" lang="ja-JP" altLang="en-US" dirty="0"/>
              <a:t>１</a:t>
            </a:r>
            <a:r>
              <a:rPr kumimoji="1" lang="en-US" altLang="ja-JP" dirty="0"/>
              <a:t>]</a:t>
            </a:r>
            <a:endParaRPr kumimoji="1" lang="ja-JP" altLang="en-US" dirty="0"/>
          </a:p>
        </p:txBody>
      </p:sp>
      <p:sp>
        <p:nvSpPr>
          <p:cNvPr id="47" name="テキスト ボックス 46">
            <a:extLst>
              <a:ext uri="{FF2B5EF4-FFF2-40B4-BE49-F238E27FC236}">
                <a16:creationId xmlns:a16="http://schemas.microsoft.com/office/drawing/2014/main" id="{45587CE1-AAA7-912E-A935-2C8019E7360B}"/>
              </a:ext>
            </a:extLst>
          </p:cNvPr>
          <p:cNvSpPr txBox="1"/>
          <p:nvPr/>
        </p:nvSpPr>
        <p:spPr>
          <a:xfrm>
            <a:off x="594061" y="6577400"/>
            <a:ext cx="7326630" cy="307777"/>
          </a:xfrm>
          <a:prstGeom prst="rect">
            <a:avLst/>
          </a:prstGeom>
          <a:noFill/>
        </p:spPr>
        <p:txBody>
          <a:bodyPr wrap="square" rtlCol="0">
            <a:spAutoFit/>
          </a:bodyPr>
          <a:lstStyle/>
          <a:p>
            <a:r>
              <a:rPr kumimoji="1" lang="en-US" altLang="ja-JP" sz="1400" dirty="0"/>
              <a:t>[</a:t>
            </a:r>
            <a:r>
              <a:rPr kumimoji="1" lang="ja-JP" altLang="en-US" sz="1400" dirty="0"/>
              <a:t>１</a:t>
            </a:r>
            <a:r>
              <a:rPr kumimoji="1" lang="en-US" altLang="ja-JP" sz="1400" dirty="0"/>
              <a:t>] https://moromisenpy.com/polar_coordinate_transformation/</a:t>
            </a:r>
            <a:endParaRPr kumimoji="1" lang="ja-JP" altLang="en-US" sz="1400" dirty="0"/>
          </a:p>
        </p:txBody>
      </p:sp>
      <p:sp>
        <p:nvSpPr>
          <p:cNvPr id="49" name="テキスト ボックス 48">
            <a:extLst>
              <a:ext uri="{FF2B5EF4-FFF2-40B4-BE49-F238E27FC236}">
                <a16:creationId xmlns:a16="http://schemas.microsoft.com/office/drawing/2014/main" id="{3FE92343-94CD-CC60-BA0F-E621829EA7DC}"/>
              </a:ext>
            </a:extLst>
          </p:cNvPr>
          <p:cNvSpPr txBox="1"/>
          <p:nvPr/>
        </p:nvSpPr>
        <p:spPr>
          <a:xfrm>
            <a:off x="5108365" y="3472141"/>
            <a:ext cx="1338828" cy="369332"/>
          </a:xfrm>
          <a:prstGeom prst="rect">
            <a:avLst/>
          </a:prstGeom>
          <a:noFill/>
        </p:spPr>
        <p:txBody>
          <a:bodyPr wrap="none" rtlCol="0">
            <a:spAutoFit/>
          </a:bodyPr>
          <a:lstStyle/>
          <a:p>
            <a:r>
              <a:rPr kumimoji="1" lang="ja-JP" altLang="en-US" dirty="0">
                <a:solidFill>
                  <a:srgbClr val="FF0000"/>
                </a:solidFill>
              </a:rPr>
              <a:t>補助カメラ</a:t>
            </a:r>
          </a:p>
        </p:txBody>
      </p:sp>
      <p:sp>
        <p:nvSpPr>
          <p:cNvPr id="52" name="フローチャート: 結合子 51">
            <a:extLst>
              <a:ext uri="{FF2B5EF4-FFF2-40B4-BE49-F238E27FC236}">
                <a16:creationId xmlns:a16="http://schemas.microsoft.com/office/drawing/2014/main" id="{457274DE-7830-351D-8719-B7A7CB3562A6}"/>
              </a:ext>
            </a:extLst>
          </p:cNvPr>
          <p:cNvSpPr/>
          <p:nvPr/>
        </p:nvSpPr>
        <p:spPr>
          <a:xfrm>
            <a:off x="2621375" y="2989987"/>
            <a:ext cx="175165" cy="158251"/>
          </a:xfrm>
          <a:prstGeom prst="flowChartConnector">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テキスト ボックス 52">
            <a:extLst>
              <a:ext uri="{FF2B5EF4-FFF2-40B4-BE49-F238E27FC236}">
                <a16:creationId xmlns:a16="http://schemas.microsoft.com/office/drawing/2014/main" id="{1C6BB225-BBD3-3B40-7C37-575AF2708779}"/>
              </a:ext>
            </a:extLst>
          </p:cNvPr>
          <p:cNvSpPr txBox="1"/>
          <p:nvPr/>
        </p:nvSpPr>
        <p:spPr>
          <a:xfrm>
            <a:off x="3907866" y="2557555"/>
            <a:ext cx="1387692" cy="369332"/>
          </a:xfrm>
          <a:prstGeom prst="rect">
            <a:avLst/>
          </a:prstGeom>
          <a:noFill/>
        </p:spPr>
        <p:txBody>
          <a:bodyPr wrap="square" rtlCol="0">
            <a:spAutoFit/>
          </a:bodyPr>
          <a:lstStyle/>
          <a:p>
            <a:r>
              <a:rPr kumimoji="1" lang="ja-JP" altLang="en-US" dirty="0">
                <a:solidFill>
                  <a:srgbClr val="0070C0"/>
                </a:solidFill>
              </a:rPr>
              <a:t>基準カメラ</a:t>
            </a:r>
          </a:p>
        </p:txBody>
      </p:sp>
    </p:spTree>
    <p:extLst>
      <p:ext uri="{BB962C8B-B14F-4D97-AF65-F5344CB8AC3E}">
        <p14:creationId xmlns:p14="http://schemas.microsoft.com/office/powerpoint/2010/main" val="2128303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10000" decel="10000" fill="hold" nodeType="withEffect">
                                  <p:stCondLst>
                                    <p:cond delay="0"/>
                                  </p:stCondLst>
                                  <p:childTnLst>
                                    <p:animMotion origin="layout" path="M 0.00851 -1.85185E-6 L -0.46545 -0.00393 " pathEditMode="relative" rAng="0" ptsTypes="AA">
                                      <p:cBhvr>
                                        <p:cTn id="6" dur="500" fill="hold"/>
                                        <p:tgtEl>
                                          <p:spTgt spid="13"/>
                                        </p:tgtEl>
                                        <p:attrNameLst>
                                          <p:attrName>ppt_x</p:attrName>
                                          <p:attrName>ppt_y</p:attrName>
                                        </p:attrNameLst>
                                      </p:cBhvr>
                                      <p:rCtr x="-23698" y="-208"/>
                                    </p:animMotion>
                                  </p:childTnLst>
                                </p:cTn>
                              </p:par>
                              <p:par>
                                <p:cTn id="7" presetID="1" presetClass="exit" presetSubtype="0" fill="hold" nodeType="withEffect">
                                  <p:stCondLst>
                                    <p:cond delay="0"/>
                                  </p:stCondLst>
                                  <p:childTnLst>
                                    <p:set>
                                      <p:cBhvr>
                                        <p:cTn id="8" dur="1" fill="hold">
                                          <p:stCondLst>
                                            <p:cond delay="0"/>
                                          </p:stCondLst>
                                        </p:cTn>
                                        <p:tgtEl>
                                          <p:spTgt spid="11"/>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17"/>
                                        </p:tgtEl>
                                        <p:attrNameLst>
                                          <p:attrName>style.visibility</p:attrName>
                                        </p:attrNameLst>
                                      </p:cBhvr>
                                      <p:to>
                                        <p:strVal val="hidden"/>
                                      </p:to>
                                    </p:set>
                                  </p:childTnLst>
                                </p:cTn>
                              </p:par>
                            </p:childTnLst>
                          </p:cTn>
                        </p:par>
                        <p:par>
                          <p:cTn id="15" fill="hold">
                            <p:stCondLst>
                              <p:cond delay="500"/>
                            </p:stCondLst>
                            <p:childTnLst>
                              <p:par>
                                <p:cTn id="16" presetID="1" presetClass="entr" presetSubtype="0"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49"/>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2"/>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02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4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4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4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14" grpId="0" animBg="1"/>
      <p:bldP spid="21" grpId="0" animBg="1"/>
      <p:bldP spid="45" grpId="0"/>
      <p:bldP spid="47" grpId="0"/>
      <p:bldP spid="49" grpId="0"/>
      <p:bldP spid="52" grpId="0" animBg="1"/>
      <p:bldP spid="5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41B8C-8FFD-0597-2688-3FEDEB0C4350}"/>
            </a:ext>
          </a:extLst>
        </p:cNvPr>
        <p:cNvGrpSpPr/>
        <p:nvPr/>
      </p:nvGrpSpPr>
      <p:grpSpPr>
        <a:xfrm>
          <a:off x="0" y="0"/>
          <a:ext cx="0" cy="0"/>
          <a:chOff x="0" y="0"/>
          <a:chExt cx="0" cy="0"/>
        </a:xfrm>
      </p:grpSpPr>
      <p:cxnSp>
        <p:nvCxnSpPr>
          <p:cNvPr id="28" name="直線コネクタ 27">
            <a:extLst>
              <a:ext uri="{FF2B5EF4-FFF2-40B4-BE49-F238E27FC236}">
                <a16:creationId xmlns:a16="http://schemas.microsoft.com/office/drawing/2014/main" id="{AAF72152-E661-FA74-3705-1C1B0AFFFE82}"/>
              </a:ext>
            </a:extLst>
          </p:cNvPr>
          <p:cNvCxnSpPr>
            <a:cxnSpLocks/>
          </p:cNvCxnSpPr>
          <p:nvPr/>
        </p:nvCxnSpPr>
        <p:spPr>
          <a:xfrm flipH="1">
            <a:off x="4932357" y="1742121"/>
            <a:ext cx="1457858" cy="1989854"/>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27" name="直線コネクタ 26">
            <a:extLst>
              <a:ext uri="{FF2B5EF4-FFF2-40B4-BE49-F238E27FC236}">
                <a16:creationId xmlns:a16="http://schemas.microsoft.com/office/drawing/2014/main" id="{06A8CAA0-42CA-A93A-88AA-CCAA3F664A88}"/>
              </a:ext>
            </a:extLst>
          </p:cNvPr>
          <p:cNvCxnSpPr>
            <a:cxnSpLocks/>
          </p:cNvCxnSpPr>
          <p:nvPr/>
        </p:nvCxnSpPr>
        <p:spPr>
          <a:xfrm flipH="1">
            <a:off x="4927467" y="2728635"/>
            <a:ext cx="368091" cy="989948"/>
          </a:xfrm>
          <a:prstGeom prst="line">
            <a:avLst/>
          </a:prstGeom>
          <a:ln>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83" name="直線矢印コネクタ 82">
            <a:extLst>
              <a:ext uri="{FF2B5EF4-FFF2-40B4-BE49-F238E27FC236}">
                <a16:creationId xmlns:a16="http://schemas.microsoft.com/office/drawing/2014/main" id="{2C56E2A3-868E-EDB3-79B6-A4AC490D5299}"/>
              </a:ext>
            </a:extLst>
          </p:cNvPr>
          <p:cNvCxnSpPr>
            <a:cxnSpLocks/>
          </p:cNvCxnSpPr>
          <p:nvPr/>
        </p:nvCxnSpPr>
        <p:spPr>
          <a:xfrm flipV="1">
            <a:off x="4909079" y="3493383"/>
            <a:ext cx="91093" cy="238482"/>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7" name="吹き出し: 四角形 56">
            <a:extLst>
              <a:ext uri="{FF2B5EF4-FFF2-40B4-BE49-F238E27FC236}">
                <a16:creationId xmlns:a16="http://schemas.microsoft.com/office/drawing/2014/main" id="{599C608A-CEE7-AC2C-E08C-C3BDD83877FD}"/>
              </a:ext>
            </a:extLst>
          </p:cNvPr>
          <p:cNvSpPr/>
          <p:nvPr/>
        </p:nvSpPr>
        <p:spPr>
          <a:xfrm flipV="1">
            <a:off x="4861316" y="4021721"/>
            <a:ext cx="3197783" cy="1798755"/>
          </a:xfrm>
          <a:prstGeom prst="wedgeRectCallout">
            <a:avLst>
              <a:gd name="adj1" fmla="val -40102"/>
              <a:gd name="adj2" fmla="val 64274"/>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8" name="図 57" descr="屋内, 鏡, 眺め, 反射 が含まれている画像&#10;&#10;AI によって生成されたコンテンツは間違っている可能性があります。">
            <a:extLst>
              <a:ext uri="{FF2B5EF4-FFF2-40B4-BE49-F238E27FC236}">
                <a16:creationId xmlns:a16="http://schemas.microsoft.com/office/drawing/2014/main" id="{5E4AB169-5B99-C4EB-26BF-2593A91A3C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1316" y="4013734"/>
            <a:ext cx="3197784" cy="1798755"/>
          </a:xfrm>
          <a:prstGeom prst="rect">
            <a:avLst/>
          </a:prstGeom>
        </p:spPr>
      </p:pic>
      <p:sp>
        <p:nvSpPr>
          <p:cNvPr id="45" name="吹き出し: 四角形 44">
            <a:extLst>
              <a:ext uri="{FF2B5EF4-FFF2-40B4-BE49-F238E27FC236}">
                <a16:creationId xmlns:a16="http://schemas.microsoft.com/office/drawing/2014/main" id="{5D1DF18F-29EB-C335-F280-CA716F167729}"/>
              </a:ext>
            </a:extLst>
          </p:cNvPr>
          <p:cNvSpPr/>
          <p:nvPr/>
        </p:nvSpPr>
        <p:spPr>
          <a:xfrm>
            <a:off x="628649" y="1672405"/>
            <a:ext cx="3171417" cy="1691678"/>
          </a:xfrm>
          <a:prstGeom prst="wedgeRectCallout">
            <a:avLst>
              <a:gd name="adj1" fmla="val 67631"/>
              <a:gd name="adj2" fmla="val 51138"/>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90EF4FE4-501B-151B-5CB5-CF33F70C1904}"/>
              </a:ext>
            </a:extLst>
          </p:cNvPr>
          <p:cNvSpPr>
            <a:spLocks noGrp="1"/>
          </p:cNvSpPr>
          <p:nvPr>
            <p:ph type="title"/>
          </p:nvPr>
        </p:nvSpPr>
        <p:spPr/>
        <p:txBody>
          <a:bodyPr>
            <a:normAutofit/>
          </a:bodyPr>
          <a:lstStyle/>
          <a:p>
            <a:r>
              <a:rPr kumimoji="1" lang="ja-JP" altLang="en-US" dirty="0"/>
              <a:t>深度推定の原理</a:t>
            </a:r>
          </a:p>
        </p:txBody>
      </p:sp>
      <p:sp>
        <p:nvSpPr>
          <p:cNvPr id="4" name="スライド番号プレースホルダー 3">
            <a:extLst>
              <a:ext uri="{FF2B5EF4-FFF2-40B4-BE49-F238E27FC236}">
                <a16:creationId xmlns:a16="http://schemas.microsoft.com/office/drawing/2014/main" id="{F9EFA992-6573-5418-01AA-1A62C74ACEFD}"/>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8</a:t>
            </a:fld>
            <a:endParaRPr kumimoji="1" lang="ja-JP" altLang="en-US" dirty="0"/>
          </a:p>
        </p:txBody>
      </p:sp>
      <p:pic>
        <p:nvPicPr>
          <p:cNvPr id="31" name="図 30" descr="屋内, 眺め, 鏡, 座る が含まれている画像&#10;&#10;AI によって生成されたコンテンツは間違っている可能性があります。">
            <a:extLst>
              <a:ext uri="{FF2B5EF4-FFF2-40B4-BE49-F238E27FC236}">
                <a16:creationId xmlns:a16="http://schemas.microsoft.com/office/drawing/2014/main" id="{CFFF75C2-B3CB-0E28-D4A4-FC8BA66F08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0815" y="1572841"/>
            <a:ext cx="3197783" cy="1798753"/>
          </a:xfrm>
          <a:prstGeom prst="rect">
            <a:avLst/>
          </a:prstGeom>
        </p:spPr>
      </p:pic>
      <p:sp>
        <p:nvSpPr>
          <p:cNvPr id="35" name="楕円 34">
            <a:extLst>
              <a:ext uri="{FF2B5EF4-FFF2-40B4-BE49-F238E27FC236}">
                <a16:creationId xmlns:a16="http://schemas.microsoft.com/office/drawing/2014/main" id="{F3380FE2-05C0-9781-9A7C-FE7E75F0E2AF}"/>
              </a:ext>
            </a:extLst>
          </p:cNvPr>
          <p:cNvSpPr/>
          <p:nvPr/>
        </p:nvSpPr>
        <p:spPr>
          <a:xfrm>
            <a:off x="5913105" y="5558354"/>
            <a:ext cx="144795" cy="14763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37" name="フローチャート: 結合子 36">
            <a:extLst>
              <a:ext uri="{FF2B5EF4-FFF2-40B4-BE49-F238E27FC236}">
                <a16:creationId xmlns:a16="http://schemas.microsoft.com/office/drawing/2014/main" id="{75E5854C-FF12-9CC4-F6A6-533F8AE89F94}"/>
              </a:ext>
            </a:extLst>
          </p:cNvPr>
          <p:cNvSpPr/>
          <p:nvPr/>
        </p:nvSpPr>
        <p:spPr>
          <a:xfrm>
            <a:off x="2621375" y="2989987"/>
            <a:ext cx="175165" cy="158251"/>
          </a:xfrm>
          <a:prstGeom prst="flowChartConnector">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36ACF797-08CC-B1F6-541C-A135EEFE2582}"/>
              </a:ext>
            </a:extLst>
          </p:cNvPr>
          <p:cNvSpPr/>
          <p:nvPr/>
        </p:nvSpPr>
        <p:spPr>
          <a:xfrm>
            <a:off x="5526279" y="1268413"/>
            <a:ext cx="3472758" cy="3238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コンテンツ プレースホルダー 13">
            <a:extLst>
              <a:ext uri="{FF2B5EF4-FFF2-40B4-BE49-F238E27FC236}">
                <a16:creationId xmlns:a16="http://schemas.microsoft.com/office/drawing/2014/main" id="{EBEB9949-5462-FA03-BC34-5D6693FFE763}"/>
              </a:ext>
            </a:extLst>
          </p:cNvPr>
          <p:cNvSpPr txBox="1">
            <a:spLocks/>
          </p:cNvSpPr>
          <p:nvPr/>
        </p:nvSpPr>
        <p:spPr>
          <a:xfrm>
            <a:off x="628649" y="5935526"/>
            <a:ext cx="8370387" cy="88647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800" b="1"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b="1"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ja-JP" altLang="en-US" dirty="0"/>
              <a:t>正しい距離であれば</a:t>
            </a:r>
            <a:r>
              <a:rPr lang="ja-JP" altLang="en-US" dirty="0">
                <a:solidFill>
                  <a:srgbClr val="FF0000"/>
                </a:solidFill>
              </a:rPr>
              <a:t>補助カメラから見えるピクセル</a:t>
            </a:r>
            <a:r>
              <a:rPr lang="ja-JP" altLang="en-US" dirty="0"/>
              <a:t>は</a:t>
            </a:r>
            <a:br>
              <a:rPr lang="en-US" altLang="ja-JP" dirty="0"/>
            </a:br>
            <a:r>
              <a:rPr lang="ja-JP" altLang="en-US" dirty="0">
                <a:solidFill>
                  <a:srgbClr val="0070C0"/>
                </a:solidFill>
              </a:rPr>
              <a:t>元のピクセル</a:t>
            </a:r>
            <a:r>
              <a:rPr lang="ja-JP" altLang="en-US" dirty="0"/>
              <a:t>と近しい色となる</a:t>
            </a:r>
          </a:p>
        </p:txBody>
      </p:sp>
      <p:sp>
        <p:nvSpPr>
          <p:cNvPr id="48" name="テキスト ボックス 47">
            <a:extLst>
              <a:ext uri="{FF2B5EF4-FFF2-40B4-BE49-F238E27FC236}">
                <a16:creationId xmlns:a16="http://schemas.microsoft.com/office/drawing/2014/main" id="{3BDB4900-531F-674F-67D2-E4048C73127A}"/>
              </a:ext>
            </a:extLst>
          </p:cNvPr>
          <p:cNvSpPr txBox="1"/>
          <p:nvPr/>
        </p:nvSpPr>
        <p:spPr>
          <a:xfrm>
            <a:off x="3907866" y="2557555"/>
            <a:ext cx="1387692" cy="369332"/>
          </a:xfrm>
          <a:prstGeom prst="rect">
            <a:avLst/>
          </a:prstGeom>
          <a:noFill/>
        </p:spPr>
        <p:txBody>
          <a:bodyPr wrap="square" rtlCol="0">
            <a:spAutoFit/>
          </a:bodyPr>
          <a:lstStyle/>
          <a:p>
            <a:r>
              <a:rPr kumimoji="1" lang="ja-JP" altLang="en-US" dirty="0">
                <a:solidFill>
                  <a:srgbClr val="0070C0"/>
                </a:solidFill>
              </a:rPr>
              <a:t>基準カメラ</a:t>
            </a:r>
          </a:p>
        </p:txBody>
      </p:sp>
      <p:sp>
        <p:nvSpPr>
          <p:cNvPr id="49" name="テキスト ボックス 48">
            <a:extLst>
              <a:ext uri="{FF2B5EF4-FFF2-40B4-BE49-F238E27FC236}">
                <a16:creationId xmlns:a16="http://schemas.microsoft.com/office/drawing/2014/main" id="{B88C77E4-43AD-ED8E-B83A-51CA6D56139C}"/>
              </a:ext>
            </a:extLst>
          </p:cNvPr>
          <p:cNvSpPr txBox="1"/>
          <p:nvPr/>
        </p:nvSpPr>
        <p:spPr>
          <a:xfrm>
            <a:off x="5108365" y="3472141"/>
            <a:ext cx="1338828" cy="369332"/>
          </a:xfrm>
          <a:prstGeom prst="rect">
            <a:avLst/>
          </a:prstGeom>
          <a:noFill/>
        </p:spPr>
        <p:txBody>
          <a:bodyPr wrap="none" rtlCol="0">
            <a:spAutoFit/>
          </a:bodyPr>
          <a:lstStyle/>
          <a:p>
            <a:r>
              <a:rPr kumimoji="1" lang="ja-JP" altLang="en-US" dirty="0">
                <a:solidFill>
                  <a:srgbClr val="FF0000"/>
                </a:solidFill>
              </a:rPr>
              <a:t>補助カメラ</a:t>
            </a:r>
          </a:p>
        </p:txBody>
      </p:sp>
      <p:cxnSp>
        <p:nvCxnSpPr>
          <p:cNvPr id="50" name="直線コネクタ 49">
            <a:extLst>
              <a:ext uri="{FF2B5EF4-FFF2-40B4-BE49-F238E27FC236}">
                <a16:creationId xmlns:a16="http://schemas.microsoft.com/office/drawing/2014/main" id="{EB5DC4B8-0B71-8435-EEFE-FE7426854E51}"/>
              </a:ext>
            </a:extLst>
          </p:cNvPr>
          <p:cNvCxnSpPr>
            <a:cxnSpLocks/>
          </p:cNvCxnSpPr>
          <p:nvPr/>
        </p:nvCxnSpPr>
        <p:spPr>
          <a:xfrm flipV="1">
            <a:off x="4576972" y="1294822"/>
            <a:ext cx="2283247" cy="2114699"/>
          </a:xfrm>
          <a:prstGeom prst="line">
            <a:avLst/>
          </a:prstGeom>
          <a:ln>
            <a:solidFill>
              <a:srgbClr val="0070C0"/>
            </a:solidFill>
            <a:prstDash val="sysDash"/>
          </a:ln>
        </p:spPr>
        <p:style>
          <a:lnRef idx="2">
            <a:schemeClr val="accent1"/>
          </a:lnRef>
          <a:fillRef idx="0">
            <a:schemeClr val="accent1"/>
          </a:fillRef>
          <a:effectRef idx="1">
            <a:schemeClr val="accent1"/>
          </a:effectRef>
          <a:fontRef idx="minor">
            <a:schemeClr val="tx1"/>
          </a:fontRef>
        </p:style>
      </p:cxnSp>
      <p:grpSp>
        <p:nvGrpSpPr>
          <p:cNvPr id="51" name="グループ化 50">
            <a:extLst>
              <a:ext uri="{FF2B5EF4-FFF2-40B4-BE49-F238E27FC236}">
                <a16:creationId xmlns:a16="http://schemas.microsoft.com/office/drawing/2014/main" id="{67F67B40-FD9C-FDF3-7CEC-8BA956ACAA9B}"/>
              </a:ext>
            </a:extLst>
          </p:cNvPr>
          <p:cNvGrpSpPr/>
          <p:nvPr/>
        </p:nvGrpSpPr>
        <p:grpSpPr>
          <a:xfrm>
            <a:off x="4014035" y="3148647"/>
            <a:ext cx="1137062" cy="1163209"/>
            <a:chOff x="5664122" y="3576219"/>
            <a:chExt cx="1586716" cy="1585381"/>
          </a:xfrm>
        </p:grpSpPr>
        <p:sp>
          <p:nvSpPr>
            <p:cNvPr id="52" name="部分円 51">
              <a:extLst>
                <a:ext uri="{FF2B5EF4-FFF2-40B4-BE49-F238E27FC236}">
                  <a16:creationId xmlns:a16="http://schemas.microsoft.com/office/drawing/2014/main" id="{865C55E2-0E99-5322-6BE5-2D8D0C9CBB75}"/>
                </a:ext>
              </a:extLst>
            </p:cNvPr>
            <p:cNvSpPr/>
            <p:nvPr/>
          </p:nvSpPr>
          <p:spPr>
            <a:xfrm rot="21447112">
              <a:off x="6135858" y="3576219"/>
              <a:ext cx="650069" cy="651843"/>
            </a:xfrm>
            <a:prstGeom prst="pie">
              <a:avLst>
                <a:gd name="adj1" fmla="val 8998221"/>
                <a:gd name="adj2" fmla="val 1857598"/>
              </a:avLst>
            </a:prstGeom>
            <a:noFill/>
            <a:ln>
              <a:solidFill>
                <a:srgbClr val="0070C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53" name="部分円 52">
              <a:extLst>
                <a:ext uri="{FF2B5EF4-FFF2-40B4-BE49-F238E27FC236}">
                  <a16:creationId xmlns:a16="http://schemas.microsoft.com/office/drawing/2014/main" id="{EB8255E5-3937-D2B5-E8E1-23FDE880B9D3}"/>
                </a:ext>
              </a:extLst>
            </p:cNvPr>
            <p:cNvSpPr/>
            <p:nvPr/>
          </p:nvSpPr>
          <p:spPr>
            <a:xfrm rot="5400000">
              <a:off x="6599882" y="4048432"/>
              <a:ext cx="650069" cy="651843"/>
            </a:xfrm>
            <a:prstGeom prst="pie">
              <a:avLst>
                <a:gd name="adj1" fmla="val 8998221"/>
                <a:gd name="adj2" fmla="val 1857598"/>
              </a:avLst>
            </a:prstGeom>
            <a:noFill/>
            <a:ln>
              <a:solidFill>
                <a:srgbClr val="FF000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54" name="部分円 53">
              <a:extLst>
                <a:ext uri="{FF2B5EF4-FFF2-40B4-BE49-F238E27FC236}">
                  <a16:creationId xmlns:a16="http://schemas.microsoft.com/office/drawing/2014/main" id="{0F95CDE0-088F-7A59-DBB5-60EC02E11E3C}"/>
                </a:ext>
              </a:extLst>
            </p:cNvPr>
            <p:cNvSpPr/>
            <p:nvPr/>
          </p:nvSpPr>
          <p:spPr>
            <a:xfrm rot="16200000">
              <a:off x="5665009" y="4048432"/>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55" name="ひし形 54">
              <a:extLst>
                <a:ext uri="{FF2B5EF4-FFF2-40B4-BE49-F238E27FC236}">
                  <a16:creationId xmlns:a16="http://schemas.microsoft.com/office/drawing/2014/main" id="{DF468C86-DCB7-6AB5-AB47-632F9800AF7A}"/>
                </a:ext>
              </a:extLst>
            </p:cNvPr>
            <p:cNvSpPr/>
            <p:nvPr/>
          </p:nvSpPr>
          <p:spPr>
            <a:xfrm>
              <a:off x="6003693" y="3917154"/>
              <a:ext cx="914400" cy="914400"/>
            </a:xfrm>
            <a:prstGeom prst="diamond">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56" name="部分円 55">
              <a:extLst>
                <a:ext uri="{FF2B5EF4-FFF2-40B4-BE49-F238E27FC236}">
                  <a16:creationId xmlns:a16="http://schemas.microsoft.com/office/drawing/2014/main" id="{A6320AAD-F4F7-11AF-F713-045018B7B9E0}"/>
                </a:ext>
              </a:extLst>
            </p:cNvPr>
            <p:cNvSpPr/>
            <p:nvPr/>
          </p:nvSpPr>
          <p:spPr>
            <a:xfrm rot="10800000">
              <a:off x="6137767" y="4509757"/>
              <a:ext cx="650069" cy="65184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grpSp>
      <p:cxnSp>
        <p:nvCxnSpPr>
          <p:cNvPr id="59" name="直線矢印コネクタ 58">
            <a:extLst>
              <a:ext uri="{FF2B5EF4-FFF2-40B4-BE49-F238E27FC236}">
                <a16:creationId xmlns:a16="http://schemas.microsoft.com/office/drawing/2014/main" id="{95FDB482-98A7-084E-DB72-471AC6AA6AD4}"/>
              </a:ext>
            </a:extLst>
          </p:cNvPr>
          <p:cNvCxnSpPr>
            <a:cxnSpLocks/>
          </p:cNvCxnSpPr>
          <p:nvPr/>
        </p:nvCxnSpPr>
        <p:spPr>
          <a:xfrm flipV="1">
            <a:off x="4600784" y="3225311"/>
            <a:ext cx="175841" cy="162938"/>
          </a:xfrm>
          <a:prstGeom prst="straightConnector1">
            <a:avLst/>
          </a:prstGeom>
          <a:ln w="28575">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60" name="スマイル 59">
            <a:extLst>
              <a:ext uri="{FF2B5EF4-FFF2-40B4-BE49-F238E27FC236}">
                <a16:creationId xmlns:a16="http://schemas.microsoft.com/office/drawing/2014/main" id="{97E1E1C4-9714-F3E0-5217-9DF7F2088513}"/>
              </a:ext>
            </a:extLst>
          </p:cNvPr>
          <p:cNvSpPr/>
          <p:nvPr/>
        </p:nvSpPr>
        <p:spPr>
          <a:xfrm>
            <a:off x="5586038" y="1993629"/>
            <a:ext cx="471862" cy="478688"/>
          </a:xfrm>
          <a:prstGeom prst="smileyFac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8123F21A-13B7-831A-22C8-BBBE29295707}"/>
              </a:ext>
            </a:extLst>
          </p:cNvPr>
          <p:cNvSpPr/>
          <p:nvPr/>
        </p:nvSpPr>
        <p:spPr>
          <a:xfrm>
            <a:off x="5218098" y="2699196"/>
            <a:ext cx="125074" cy="122377"/>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pic>
        <p:nvPicPr>
          <p:cNvPr id="3" name="Picture 2">
            <a:extLst>
              <a:ext uri="{FF2B5EF4-FFF2-40B4-BE49-F238E27FC236}">
                <a16:creationId xmlns:a16="http://schemas.microsoft.com/office/drawing/2014/main" id="{5B873FE7-C7C7-D353-0C0B-8A8D6B46B1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28930" y="3603228"/>
            <a:ext cx="2217248" cy="2217248"/>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36F5D4DF-865F-764A-92F5-360A21EFA49E}"/>
              </a:ext>
            </a:extLst>
          </p:cNvPr>
          <p:cNvSpPr txBox="1"/>
          <p:nvPr/>
        </p:nvSpPr>
        <p:spPr>
          <a:xfrm>
            <a:off x="3861442" y="5516872"/>
            <a:ext cx="550151" cy="369332"/>
          </a:xfrm>
          <a:prstGeom prst="rect">
            <a:avLst/>
          </a:prstGeom>
          <a:noFill/>
        </p:spPr>
        <p:txBody>
          <a:bodyPr wrap="none" rtlCol="0">
            <a:spAutoFit/>
          </a:bodyPr>
          <a:lstStyle/>
          <a:p>
            <a:r>
              <a:rPr kumimoji="1" lang="en-US" altLang="ja-JP" dirty="0"/>
              <a:t>[</a:t>
            </a:r>
            <a:r>
              <a:rPr kumimoji="1" lang="ja-JP" altLang="en-US" dirty="0"/>
              <a:t>１</a:t>
            </a:r>
            <a:r>
              <a:rPr kumimoji="1" lang="en-US" altLang="ja-JP" dirty="0"/>
              <a:t>]</a:t>
            </a:r>
            <a:endParaRPr kumimoji="1" lang="ja-JP" altLang="en-US" dirty="0"/>
          </a:p>
        </p:txBody>
      </p:sp>
      <p:sp>
        <p:nvSpPr>
          <p:cNvPr id="6" name="テキスト ボックス 5">
            <a:extLst>
              <a:ext uri="{FF2B5EF4-FFF2-40B4-BE49-F238E27FC236}">
                <a16:creationId xmlns:a16="http://schemas.microsoft.com/office/drawing/2014/main" id="{8D92C75F-8ABF-0994-2631-EC17044BF9E0}"/>
              </a:ext>
            </a:extLst>
          </p:cNvPr>
          <p:cNvSpPr txBox="1"/>
          <p:nvPr/>
        </p:nvSpPr>
        <p:spPr>
          <a:xfrm>
            <a:off x="594061" y="6577400"/>
            <a:ext cx="7326630" cy="307777"/>
          </a:xfrm>
          <a:prstGeom prst="rect">
            <a:avLst/>
          </a:prstGeom>
          <a:noFill/>
        </p:spPr>
        <p:txBody>
          <a:bodyPr wrap="square" rtlCol="0">
            <a:spAutoFit/>
          </a:bodyPr>
          <a:lstStyle/>
          <a:p>
            <a:r>
              <a:rPr kumimoji="1" lang="en-US" altLang="ja-JP" sz="1400" dirty="0"/>
              <a:t>[</a:t>
            </a:r>
            <a:r>
              <a:rPr kumimoji="1" lang="ja-JP" altLang="en-US" sz="1400" dirty="0"/>
              <a:t>１</a:t>
            </a:r>
            <a:r>
              <a:rPr kumimoji="1" lang="en-US" altLang="ja-JP" sz="1400" dirty="0"/>
              <a:t>] https://moromisenpy.com/polar_coordinate_transformation/</a:t>
            </a:r>
            <a:endParaRPr kumimoji="1" lang="ja-JP" altLang="en-US" sz="1400" dirty="0"/>
          </a:p>
        </p:txBody>
      </p:sp>
    </p:spTree>
    <p:extLst>
      <p:ext uri="{BB962C8B-B14F-4D97-AF65-F5344CB8AC3E}">
        <p14:creationId xmlns:p14="http://schemas.microsoft.com/office/powerpoint/2010/main" val="3997642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path" presetSubtype="0" repeatCount="indefinite" accel="50000" decel="50000" autoRev="1" fill="hold" grpId="0" nodeType="clickEffect">
                                  <p:stCondLst>
                                    <p:cond delay="0"/>
                                  </p:stCondLst>
                                  <p:endCondLst>
                                    <p:cond evt="onNext" delay="0">
                                      <p:tgtEl>
                                        <p:sldTgt/>
                                      </p:tgtEl>
                                    </p:cond>
                                  </p:endCondLst>
                                  <p:childTnLst>
                                    <p:animMotion origin="layout" path="M -5.55556E-7 -4.81481E-6 L 0.11979 -0.14722 " pathEditMode="relative" rAng="0" ptsTypes="AA">
                                      <p:cBhvr>
                                        <p:cTn id="6" dur="2000" fill="hold"/>
                                        <p:tgtEl>
                                          <p:spTgt spid="25"/>
                                        </p:tgtEl>
                                        <p:attrNameLst>
                                          <p:attrName>ppt_x</p:attrName>
                                          <p:attrName>ppt_y</p:attrName>
                                        </p:attrNameLst>
                                      </p:cBhvr>
                                      <p:rCtr x="5990" y="-7361"/>
                                    </p:animMotion>
                                  </p:childTnLst>
                                </p:cTn>
                              </p:par>
                              <p:par>
                                <p:cTn id="7" presetID="10"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animEffect transition="in" filter="fade">
                                      <p:cBhvr>
                                        <p:cTn id="9" dur="500"/>
                                        <p:tgtEl>
                                          <p:spTgt spid="28"/>
                                        </p:tgtEl>
                                      </p:cBhvr>
                                    </p:animEffect>
                                  </p:childTnLst>
                                </p:cTn>
                              </p:par>
                              <p:par>
                                <p:cTn id="10" presetID="58" presetClass="path" presetSubtype="0" repeatCount="indefinite" accel="50000" decel="50000" autoRev="1" fill="hold" grpId="0" nodeType="withEffect">
                                  <p:stCondLst>
                                    <p:cond delay="0"/>
                                  </p:stCondLst>
                                  <p:endCondLst>
                                    <p:cond evt="onNext" delay="0">
                                      <p:tgtEl>
                                        <p:sldTgt/>
                                      </p:tgtEl>
                                    </p:cond>
                                  </p:endCondLst>
                                  <p:childTnLst>
                                    <p:animMotion origin="layout" path="M 0.00035 -0.00023 L 0.01233 -0.01643 C 0.01459 -0.01921 0.01667 -0.02638 0.01771 -0.03425 C 0.02171 -0.04143 0.02084 -0.04629 0.02257 -0.05231 L 0.02188 -0.07731 " pathEditMode="relative" rAng="1200000" ptsTypes="AAAAA">
                                      <p:cBhvr>
                                        <p:cTn id="11" dur="2000" fill="hold"/>
                                        <p:tgtEl>
                                          <p:spTgt spid="35"/>
                                        </p:tgtEl>
                                        <p:attrNameLst>
                                          <p:attrName>ppt_x</p:attrName>
                                          <p:attrName>ppt_y</p:attrName>
                                        </p:attrNameLst>
                                      </p:cBhvr>
                                      <p:rCtr x="1441" y="-3681"/>
                                    </p:animMotion>
                                  </p:childTnLst>
                                </p:cTn>
                              </p:par>
                              <p:par>
                                <p:cTn id="12" presetID="42" presetClass="path" presetSubtype="0" repeatCount="indefinite" accel="50000" decel="50000" autoRev="1" fill="hold" nodeType="withEffect">
                                  <p:stCondLst>
                                    <p:cond delay="0"/>
                                  </p:stCondLst>
                                  <p:endCondLst>
                                    <p:cond evt="onNext" delay="0">
                                      <p:tgtEl>
                                        <p:sldTgt/>
                                      </p:tgtEl>
                                    </p:cond>
                                  </p:endCondLst>
                                  <p:childTnLst>
                                    <p:animMotion origin="layout" path="M -2.77778E-7 -0.00023 L 0.00556 0.00417 " pathEditMode="relative" rAng="0" ptsTypes="AA">
                                      <p:cBhvr>
                                        <p:cTn id="13" dur="2000" fill="hold"/>
                                        <p:tgtEl>
                                          <p:spTgt spid="83"/>
                                        </p:tgtEl>
                                        <p:attrNameLst>
                                          <p:attrName>ppt_x</p:attrName>
                                          <p:attrName>ppt_y</p:attrName>
                                        </p:attrNameLst>
                                      </p:cBhvr>
                                      <p:rCtr x="278" y="208"/>
                                    </p:animMotion>
                                  </p:childTnLst>
                                </p:cTn>
                              </p:par>
                              <p:par>
                                <p:cTn id="14" presetID="8" presetClass="emph" presetSubtype="0" repeatCount="indefinite" autoRev="1" fill="remove" nodeType="withEffect">
                                  <p:stCondLst>
                                    <p:cond delay="0"/>
                                  </p:stCondLst>
                                  <p:endCondLst>
                                    <p:cond evt="onNext" delay="0">
                                      <p:tgtEl>
                                        <p:sldTgt/>
                                      </p:tgtEl>
                                    </p:cond>
                                  </p:endCondLst>
                                  <p:childTnLst>
                                    <p:animRot by="900000">
                                      <p:cBhvr>
                                        <p:cTn id="15" dur="2000" fill="hold"/>
                                        <p:tgtEl>
                                          <p:spTgt spid="83"/>
                                        </p:tgtEl>
                                        <p:attrNameLst>
                                          <p:attrName>r</p:attrName>
                                        </p:attrNameLst>
                                      </p:cBhvr>
                                    </p:animRo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47" grpId="0"/>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7582F-F9B8-8478-4752-6EE2001454A4}"/>
            </a:ext>
          </a:extLst>
        </p:cNvPr>
        <p:cNvGrpSpPr/>
        <p:nvPr/>
      </p:nvGrpSpPr>
      <p:grpSpPr>
        <a:xfrm>
          <a:off x="0" y="0"/>
          <a:ext cx="0" cy="0"/>
          <a:chOff x="0" y="0"/>
          <a:chExt cx="0" cy="0"/>
        </a:xfrm>
      </p:grpSpPr>
      <p:sp>
        <p:nvSpPr>
          <p:cNvPr id="16" name="部分円 15">
            <a:extLst>
              <a:ext uri="{FF2B5EF4-FFF2-40B4-BE49-F238E27FC236}">
                <a16:creationId xmlns:a16="http://schemas.microsoft.com/office/drawing/2014/main" id="{EEA200C7-C251-A057-1882-2053B77B1FF8}"/>
              </a:ext>
            </a:extLst>
          </p:cNvPr>
          <p:cNvSpPr/>
          <p:nvPr/>
        </p:nvSpPr>
        <p:spPr>
          <a:xfrm rot="5400000">
            <a:off x="3054309" y="3721437"/>
            <a:ext cx="476962" cy="467119"/>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47" name="部分円 46">
            <a:extLst>
              <a:ext uri="{FF2B5EF4-FFF2-40B4-BE49-F238E27FC236}">
                <a16:creationId xmlns:a16="http://schemas.microsoft.com/office/drawing/2014/main" id="{04AA6D3D-D789-D40B-019B-0744CF363F2F}"/>
              </a:ext>
            </a:extLst>
          </p:cNvPr>
          <p:cNvSpPr/>
          <p:nvPr/>
        </p:nvSpPr>
        <p:spPr>
          <a:xfrm>
            <a:off x="168019" y="1872501"/>
            <a:ext cx="942932" cy="905063"/>
          </a:xfrm>
          <a:prstGeom prst="pie">
            <a:avLst>
              <a:gd name="adj1" fmla="val 0"/>
              <a:gd name="adj2" fmla="val 5433055"/>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solidFill>
                <a:schemeClr val="tx1"/>
              </a:solidFill>
            </a:endParaRPr>
          </a:p>
        </p:txBody>
      </p:sp>
      <p:sp>
        <p:nvSpPr>
          <p:cNvPr id="46" name="正方形/長方形 45">
            <a:extLst>
              <a:ext uri="{FF2B5EF4-FFF2-40B4-BE49-F238E27FC236}">
                <a16:creationId xmlns:a16="http://schemas.microsoft.com/office/drawing/2014/main" id="{62D83763-68DE-6BF5-C3DD-2015254DA167}"/>
              </a:ext>
            </a:extLst>
          </p:cNvPr>
          <p:cNvSpPr/>
          <p:nvPr/>
        </p:nvSpPr>
        <p:spPr>
          <a:xfrm>
            <a:off x="1092533" y="4149892"/>
            <a:ext cx="486652" cy="827798"/>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6" name="フローチャート: 結合子 25">
            <a:extLst>
              <a:ext uri="{FF2B5EF4-FFF2-40B4-BE49-F238E27FC236}">
                <a16:creationId xmlns:a16="http://schemas.microsoft.com/office/drawing/2014/main" id="{BB9EB5F7-708C-5AEC-5730-258E345DAE59}"/>
              </a:ext>
            </a:extLst>
          </p:cNvPr>
          <p:cNvSpPr/>
          <p:nvPr/>
        </p:nvSpPr>
        <p:spPr>
          <a:xfrm>
            <a:off x="591572" y="1269949"/>
            <a:ext cx="4875304" cy="4747020"/>
          </a:xfrm>
          <a:prstGeom prst="flowChartConnector">
            <a:avLst/>
          </a:prstGeom>
          <a:noFill/>
          <a:ln>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 name="タイトル 1">
            <a:extLst>
              <a:ext uri="{FF2B5EF4-FFF2-40B4-BE49-F238E27FC236}">
                <a16:creationId xmlns:a16="http://schemas.microsoft.com/office/drawing/2014/main" id="{54BB2A37-629B-10A9-332C-6C284A72C867}"/>
              </a:ext>
            </a:extLst>
          </p:cNvPr>
          <p:cNvSpPr>
            <a:spLocks noGrp="1"/>
          </p:cNvSpPr>
          <p:nvPr>
            <p:ph type="title"/>
          </p:nvPr>
        </p:nvSpPr>
        <p:spPr/>
        <p:txBody>
          <a:bodyPr>
            <a:normAutofit/>
          </a:bodyPr>
          <a:lstStyle/>
          <a:p>
            <a:r>
              <a:rPr lang="ja-JP" altLang="en-US" dirty="0"/>
              <a:t>カラー画像を深度画像に変換</a:t>
            </a:r>
            <a:endParaRPr kumimoji="1" lang="ja-JP" altLang="en-US" dirty="0"/>
          </a:p>
        </p:txBody>
      </p:sp>
      <p:sp>
        <p:nvSpPr>
          <p:cNvPr id="4" name="スライド番号プレースホルダー 3">
            <a:extLst>
              <a:ext uri="{FF2B5EF4-FFF2-40B4-BE49-F238E27FC236}">
                <a16:creationId xmlns:a16="http://schemas.microsoft.com/office/drawing/2014/main" id="{D7D1F5A5-C539-FAD4-7470-EBFAA4637C79}"/>
              </a:ext>
            </a:extLst>
          </p:cNvPr>
          <p:cNvSpPr>
            <a:spLocks noGrp="1"/>
          </p:cNvSpPr>
          <p:nvPr>
            <p:ph type="sldNum" sz="quarter" idx="12"/>
          </p:nvPr>
        </p:nvSpPr>
        <p:spPr>
          <a:xfrm>
            <a:off x="7029450" y="361948"/>
            <a:ext cx="2057400" cy="365125"/>
          </a:xfrm>
        </p:spPr>
        <p:txBody>
          <a:bodyPr/>
          <a:lstStyle/>
          <a:p>
            <a:fld id="{36CC8B87-28FD-40C1-8BEA-A488324BDA2F}" type="slidenum">
              <a:rPr kumimoji="1" lang="ja-JP" altLang="en-US" smtClean="0"/>
              <a:t>9</a:t>
            </a:fld>
            <a:endParaRPr kumimoji="1" lang="ja-JP" altLang="en-US" dirty="0"/>
          </a:p>
        </p:txBody>
      </p:sp>
      <p:sp>
        <p:nvSpPr>
          <p:cNvPr id="5" name="部分円 4">
            <a:extLst>
              <a:ext uri="{FF2B5EF4-FFF2-40B4-BE49-F238E27FC236}">
                <a16:creationId xmlns:a16="http://schemas.microsoft.com/office/drawing/2014/main" id="{1F238E1B-29D7-7E8C-6A19-5847C8B48A2D}"/>
              </a:ext>
            </a:extLst>
          </p:cNvPr>
          <p:cNvSpPr/>
          <p:nvPr/>
        </p:nvSpPr>
        <p:spPr>
          <a:xfrm rot="21447112">
            <a:off x="2727340" y="3369391"/>
            <a:ext cx="465848" cy="478263"/>
          </a:xfrm>
          <a:prstGeom prst="pie">
            <a:avLst>
              <a:gd name="adj1" fmla="val 8998221"/>
              <a:gd name="adj2" fmla="val 1857598"/>
            </a:avLst>
          </a:prstGeom>
          <a:noFill/>
          <a:ln>
            <a:solidFill>
              <a:srgbClr val="0070C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6" name="部分円 5">
            <a:extLst>
              <a:ext uri="{FF2B5EF4-FFF2-40B4-BE49-F238E27FC236}">
                <a16:creationId xmlns:a16="http://schemas.microsoft.com/office/drawing/2014/main" id="{3A049258-1771-54BC-4606-955A61B2E8B8}"/>
              </a:ext>
            </a:extLst>
          </p:cNvPr>
          <p:cNvSpPr/>
          <p:nvPr/>
        </p:nvSpPr>
        <p:spPr>
          <a:xfrm rot="5400000">
            <a:off x="3054309" y="3721430"/>
            <a:ext cx="476962" cy="467119"/>
          </a:xfrm>
          <a:prstGeom prst="pie">
            <a:avLst>
              <a:gd name="adj1" fmla="val 8998221"/>
              <a:gd name="adj2" fmla="val 1857598"/>
            </a:avLst>
          </a:prstGeom>
          <a:noFill/>
          <a:ln>
            <a:solidFill>
              <a:srgbClr val="FF000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7" name="部分円 6">
            <a:extLst>
              <a:ext uri="{FF2B5EF4-FFF2-40B4-BE49-F238E27FC236}">
                <a16:creationId xmlns:a16="http://schemas.microsoft.com/office/drawing/2014/main" id="{7A9E8CEB-D8AC-21DE-4B98-EBE8150C7C06}"/>
              </a:ext>
            </a:extLst>
          </p:cNvPr>
          <p:cNvSpPr/>
          <p:nvPr/>
        </p:nvSpPr>
        <p:spPr>
          <a:xfrm rot="16200000">
            <a:off x="2384367" y="3721430"/>
            <a:ext cx="476962" cy="467119"/>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8" name="ひし形 7">
            <a:extLst>
              <a:ext uri="{FF2B5EF4-FFF2-40B4-BE49-F238E27FC236}">
                <a16:creationId xmlns:a16="http://schemas.microsoft.com/office/drawing/2014/main" id="{D922BCD1-06B7-F9A4-7825-901293DF6204}"/>
              </a:ext>
            </a:extLst>
          </p:cNvPr>
          <p:cNvSpPr/>
          <p:nvPr/>
        </p:nvSpPr>
        <p:spPr>
          <a:xfrm>
            <a:off x="2632629" y="3619538"/>
            <a:ext cx="655271" cy="670904"/>
          </a:xfrm>
          <a:prstGeom prst="diamond">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9" name="部分円 8">
            <a:extLst>
              <a:ext uri="{FF2B5EF4-FFF2-40B4-BE49-F238E27FC236}">
                <a16:creationId xmlns:a16="http://schemas.microsoft.com/office/drawing/2014/main" id="{9A1C9D59-777A-C2B7-B471-C703C13870EB}"/>
              </a:ext>
            </a:extLst>
          </p:cNvPr>
          <p:cNvSpPr/>
          <p:nvPr/>
        </p:nvSpPr>
        <p:spPr>
          <a:xfrm rot="10800000">
            <a:off x="2728708" y="4054337"/>
            <a:ext cx="465848" cy="478263"/>
          </a:xfrm>
          <a:prstGeom prst="pie">
            <a:avLst>
              <a:gd name="adj1" fmla="val 8998221"/>
              <a:gd name="adj2" fmla="val 1857598"/>
            </a:avLst>
          </a:prstGeom>
          <a:noFill/>
          <a:ln>
            <a:solidFill>
              <a:schemeClr val="bg1">
                <a:lumMod val="1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ja-JP" altLang="en-US" sz="1350" dirty="0">
              <a:solidFill>
                <a:srgbClr val="0070C0"/>
              </a:solidFill>
            </a:endParaRPr>
          </a:p>
        </p:txBody>
      </p:sp>
      <p:sp>
        <p:nvSpPr>
          <p:cNvPr id="11" name="正方形/長方形 10">
            <a:extLst>
              <a:ext uri="{FF2B5EF4-FFF2-40B4-BE49-F238E27FC236}">
                <a16:creationId xmlns:a16="http://schemas.microsoft.com/office/drawing/2014/main" id="{E6BA547F-DE20-77E8-7098-28B7A2761CCA}"/>
              </a:ext>
            </a:extLst>
          </p:cNvPr>
          <p:cNvSpPr/>
          <p:nvPr/>
        </p:nvSpPr>
        <p:spPr>
          <a:xfrm>
            <a:off x="634370" y="2317036"/>
            <a:ext cx="4787873" cy="281329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cxnSp>
        <p:nvCxnSpPr>
          <p:cNvPr id="13" name="直線コネクタ 12">
            <a:extLst>
              <a:ext uri="{FF2B5EF4-FFF2-40B4-BE49-F238E27FC236}">
                <a16:creationId xmlns:a16="http://schemas.microsoft.com/office/drawing/2014/main" id="{6ECF2A28-88A7-237D-5D80-C30FA6DABECD}"/>
              </a:ext>
            </a:extLst>
          </p:cNvPr>
          <p:cNvCxnSpPr>
            <a:cxnSpLocks/>
            <a:stCxn id="8" idx="0"/>
          </p:cNvCxnSpPr>
          <p:nvPr/>
        </p:nvCxnSpPr>
        <p:spPr>
          <a:xfrm flipV="1">
            <a:off x="2960269" y="1504839"/>
            <a:ext cx="2283247" cy="2114699"/>
          </a:xfrm>
          <a:prstGeom prst="line">
            <a:avLst/>
          </a:prstGeom>
          <a:ln>
            <a:solidFill>
              <a:srgbClr val="0070C0"/>
            </a:solidFill>
            <a:prstDash val="sysDash"/>
          </a:ln>
        </p:spPr>
        <p:style>
          <a:lnRef idx="2">
            <a:schemeClr val="accent1"/>
          </a:lnRef>
          <a:fillRef idx="0">
            <a:schemeClr val="accent1"/>
          </a:fillRef>
          <a:effectRef idx="1">
            <a:schemeClr val="accent1"/>
          </a:effectRef>
          <a:fontRef idx="minor">
            <a:schemeClr val="tx1"/>
          </a:fontRef>
        </p:style>
      </p:cxnSp>
      <p:sp>
        <p:nvSpPr>
          <p:cNvPr id="22" name="フローチャート: 結合子 21">
            <a:extLst>
              <a:ext uri="{FF2B5EF4-FFF2-40B4-BE49-F238E27FC236}">
                <a16:creationId xmlns:a16="http://schemas.microsoft.com/office/drawing/2014/main" id="{20BC14F2-19CC-6A32-EB0B-883D674EE267}"/>
              </a:ext>
            </a:extLst>
          </p:cNvPr>
          <p:cNvSpPr/>
          <p:nvPr/>
        </p:nvSpPr>
        <p:spPr>
          <a:xfrm>
            <a:off x="2060741" y="2686471"/>
            <a:ext cx="1868957" cy="1902176"/>
          </a:xfrm>
          <a:prstGeom prst="flowChartConnector">
            <a:avLst/>
          </a:prstGeom>
          <a:noFill/>
          <a:ln>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3" name="フローチャート: 結合子 22">
            <a:extLst>
              <a:ext uri="{FF2B5EF4-FFF2-40B4-BE49-F238E27FC236}">
                <a16:creationId xmlns:a16="http://schemas.microsoft.com/office/drawing/2014/main" id="{AB36C600-D056-17FC-A9F2-BA274B30B16E}"/>
              </a:ext>
            </a:extLst>
          </p:cNvPr>
          <p:cNvSpPr/>
          <p:nvPr/>
        </p:nvSpPr>
        <p:spPr>
          <a:xfrm>
            <a:off x="1313771" y="1974712"/>
            <a:ext cx="3405690" cy="3378227"/>
          </a:xfrm>
          <a:prstGeom prst="flowChartConnector">
            <a:avLst/>
          </a:prstGeom>
          <a:noFill/>
          <a:ln>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4" name="フローチャート: 結合子 23">
            <a:extLst>
              <a:ext uri="{FF2B5EF4-FFF2-40B4-BE49-F238E27FC236}">
                <a16:creationId xmlns:a16="http://schemas.microsoft.com/office/drawing/2014/main" id="{9A5E1625-F24F-4B50-486C-BB20767CF7A9}"/>
              </a:ext>
            </a:extLst>
          </p:cNvPr>
          <p:cNvSpPr/>
          <p:nvPr/>
        </p:nvSpPr>
        <p:spPr>
          <a:xfrm>
            <a:off x="1683887" y="2320243"/>
            <a:ext cx="2658319" cy="2634771"/>
          </a:xfrm>
          <a:prstGeom prst="flowChartConnector">
            <a:avLst/>
          </a:prstGeom>
          <a:noFill/>
          <a:ln>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25" name="フローチャート: 結合子 24">
            <a:extLst>
              <a:ext uri="{FF2B5EF4-FFF2-40B4-BE49-F238E27FC236}">
                <a16:creationId xmlns:a16="http://schemas.microsoft.com/office/drawing/2014/main" id="{1670B2D0-FF63-13B4-8ACB-88746563C41A}"/>
              </a:ext>
            </a:extLst>
          </p:cNvPr>
          <p:cNvSpPr/>
          <p:nvPr/>
        </p:nvSpPr>
        <p:spPr>
          <a:xfrm>
            <a:off x="987199" y="1609927"/>
            <a:ext cx="4124819" cy="4078766"/>
          </a:xfrm>
          <a:prstGeom prst="flowChartConnector">
            <a:avLst/>
          </a:prstGeom>
          <a:noFill/>
          <a:ln>
            <a:solidFill>
              <a:schemeClr val="accent6"/>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3" name="テキスト ボックス 2">
            <a:extLst>
              <a:ext uri="{FF2B5EF4-FFF2-40B4-BE49-F238E27FC236}">
                <a16:creationId xmlns:a16="http://schemas.microsoft.com/office/drawing/2014/main" id="{D922CE58-AB6D-A1F7-223B-FE3AF4BC11EF}"/>
              </a:ext>
            </a:extLst>
          </p:cNvPr>
          <p:cNvSpPr txBox="1"/>
          <p:nvPr/>
        </p:nvSpPr>
        <p:spPr>
          <a:xfrm>
            <a:off x="3393865" y="4077931"/>
            <a:ext cx="1338828" cy="369332"/>
          </a:xfrm>
          <a:prstGeom prst="rect">
            <a:avLst/>
          </a:prstGeom>
          <a:noFill/>
        </p:spPr>
        <p:txBody>
          <a:bodyPr wrap="none" rtlCol="0">
            <a:spAutoFit/>
          </a:bodyPr>
          <a:lstStyle/>
          <a:p>
            <a:r>
              <a:rPr kumimoji="1" lang="ja-JP" altLang="en-US" dirty="0">
                <a:solidFill>
                  <a:srgbClr val="FF0000"/>
                </a:solidFill>
              </a:rPr>
              <a:t>補助カメラ</a:t>
            </a:r>
          </a:p>
        </p:txBody>
      </p:sp>
      <p:cxnSp>
        <p:nvCxnSpPr>
          <p:cNvPr id="12" name="直線コネクタ 11">
            <a:extLst>
              <a:ext uri="{FF2B5EF4-FFF2-40B4-BE49-F238E27FC236}">
                <a16:creationId xmlns:a16="http://schemas.microsoft.com/office/drawing/2014/main" id="{4B4EF64D-EF54-AE9A-6456-3F47A80038FF}"/>
              </a:ext>
            </a:extLst>
          </p:cNvPr>
          <p:cNvCxnSpPr>
            <a:cxnSpLocks/>
            <a:stCxn id="22" idx="7"/>
            <a:endCxn id="8" idx="3"/>
          </p:cNvCxnSpPr>
          <p:nvPr/>
        </p:nvCxnSpPr>
        <p:spPr>
          <a:xfrm flipH="1">
            <a:off x="3287902" y="2965042"/>
            <a:ext cx="368091" cy="989948"/>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p:cxnSp>
        <p:nvCxnSpPr>
          <p:cNvPr id="28" name="直線コネクタ 27">
            <a:extLst>
              <a:ext uri="{FF2B5EF4-FFF2-40B4-BE49-F238E27FC236}">
                <a16:creationId xmlns:a16="http://schemas.microsoft.com/office/drawing/2014/main" id="{C56D5BFF-43B3-ADAF-8586-C5FBCF7DAFAC}"/>
              </a:ext>
            </a:extLst>
          </p:cNvPr>
          <p:cNvCxnSpPr>
            <a:cxnSpLocks/>
            <a:stCxn id="24" idx="7"/>
            <a:endCxn id="8" idx="3"/>
          </p:cNvCxnSpPr>
          <p:nvPr/>
        </p:nvCxnSpPr>
        <p:spPr>
          <a:xfrm flipH="1">
            <a:off x="3287904" y="2706098"/>
            <a:ext cx="665000" cy="1248892"/>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4E6B5B3B-20F0-3108-48CE-52A019402449}"/>
              </a:ext>
            </a:extLst>
          </p:cNvPr>
          <p:cNvCxnSpPr>
            <a:cxnSpLocks/>
            <a:stCxn id="23" idx="7"/>
            <a:endCxn id="8" idx="3"/>
          </p:cNvCxnSpPr>
          <p:nvPr/>
        </p:nvCxnSpPr>
        <p:spPr>
          <a:xfrm flipH="1">
            <a:off x="3287901" y="2469442"/>
            <a:ext cx="932808" cy="1485548"/>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7C07B847-8CCE-EA62-FC6C-8D6A2985AC65}"/>
              </a:ext>
            </a:extLst>
          </p:cNvPr>
          <p:cNvCxnSpPr>
            <a:cxnSpLocks/>
            <a:stCxn id="25" idx="7"/>
            <a:endCxn id="8" idx="3"/>
          </p:cNvCxnSpPr>
          <p:nvPr/>
        </p:nvCxnSpPr>
        <p:spPr>
          <a:xfrm flipH="1">
            <a:off x="3287904" y="2207247"/>
            <a:ext cx="1220050" cy="1747740"/>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p:cxnSp>
        <p:nvCxnSpPr>
          <p:cNvPr id="40" name="直線コネクタ 39">
            <a:extLst>
              <a:ext uri="{FF2B5EF4-FFF2-40B4-BE49-F238E27FC236}">
                <a16:creationId xmlns:a16="http://schemas.microsoft.com/office/drawing/2014/main" id="{B15A4AFB-78F0-5EB1-60BF-D5066F163AC7}"/>
              </a:ext>
            </a:extLst>
          </p:cNvPr>
          <p:cNvCxnSpPr>
            <a:cxnSpLocks/>
            <a:endCxn id="8" idx="3"/>
          </p:cNvCxnSpPr>
          <p:nvPr/>
        </p:nvCxnSpPr>
        <p:spPr>
          <a:xfrm flipH="1">
            <a:off x="3287904" y="1965133"/>
            <a:ext cx="1457858" cy="1989854"/>
          </a:xfrm>
          <a:prstGeom prst="line">
            <a:avLst/>
          </a:prstGeom>
          <a:ln>
            <a:solidFill>
              <a:srgbClr val="FF0000"/>
            </a:solidFill>
            <a:prstDash val="sysDash"/>
          </a:ln>
        </p:spPr>
        <p:style>
          <a:lnRef idx="2">
            <a:schemeClr val="accent1"/>
          </a:lnRef>
          <a:fillRef idx="0">
            <a:schemeClr val="accent1"/>
          </a:fillRef>
          <a:effectRef idx="1">
            <a:schemeClr val="accent1"/>
          </a:effectRef>
          <a:fontRef idx="minor">
            <a:schemeClr val="tx1"/>
          </a:fontRef>
        </p:style>
      </p:cxnSp>
      <p:sp>
        <p:nvSpPr>
          <p:cNvPr id="45" name="正方形/長方形 44">
            <a:extLst>
              <a:ext uri="{FF2B5EF4-FFF2-40B4-BE49-F238E27FC236}">
                <a16:creationId xmlns:a16="http://schemas.microsoft.com/office/drawing/2014/main" id="{EBC1BA99-13EC-7528-8F02-4984A9BDD18B}"/>
              </a:ext>
            </a:extLst>
          </p:cNvPr>
          <p:cNvSpPr/>
          <p:nvPr/>
        </p:nvSpPr>
        <p:spPr>
          <a:xfrm>
            <a:off x="3679296" y="3513359"/>
            <a:ext cx="228443" cy="203147"/>
          </a:xfrm>
          <a:prstGeom prst="rect">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48" name="テキスト ボックス 47">
            <a:extLst>
              <a:ext uri="{FF2B5EF4-FFF2-40B4-BE49-F238E27FC236}">
                <a16:creationId xmlns:a16="http://schemas.microsoft.com/office/drawing/2014/main" id="{4806C50D-72FA-DED0-E0FF-32149624C521}"/>
              </a:ext>
            </a:extLst>
          </p:cNvPr>
          <p:cNvSpPr txBox="1"/>
          <p:nvPr/>
        </p:nvSpPr>
        <p:spPr>
          <a:xfrm>
            <a:off x="5571148" y="1577422"/>
            <a:ext cx="3627916" cy="2818272"/>
          </a:xfrm>
          <a:prstGeom prst="rect">
            <a:avLst/>
          </a:prstGeom>
          <a:noFill/>
        </p:spPr>
        <p:txBody>
          <a:bodyPr wrap="none" rtlCol="0">
            <a:spAutoFit/>
          </a:bodyPr>
          <a:lstStyle/>
          <a:p>
            <a:pPr marL="257168" indent="-342892">
              <a:lnSpc>
                <a:spcPct val="150000"/>
              </a:lnSpc>
              <a:buFont typeface="+mj-lt"/>
              <a:buAutoNum type="arabicPeriod"/>
            </a:pPr>
            <a:r>
              <a:rPr lang="ja-JP" altLang="en-US" sz="2000" b="1" dirty="0"/>
              <a:t>深度の候補を作る</a:t>
            </a:r>
            <a:endParaRPr lang="en-US" altLang="ja-JP" sz="2000" b="1" dirty="0"/>
          </a:p>
          <a:p>
            <a:pPr marL="257168" indent="-342892">
              <a:lnSpc>
                <a:spcPct val="150000"/>
              </a:lnSpc>
              <a:buFont typeface="+mj-lt"/>
              <a:buAutoNum type="arabicPeriod"/>
            </a:pPr>
            <a:r>
              <a:rPr kumimoji="1" lang="ja-JP" altLang="en-US" sz="2000" b="1" dirty="0"/>
              <a:t>補助カメラを選ぶ</a:t>
            </a:r>
            <a:endParaRPr kumimoji="1" lang="en-US" altLang="ja-JP" sz="2000" b="1" dirty="0"/>
          </a:p>
          <a:p>
            <a:pPr marL="257168" indent="-342892">
              <a:lnSpc>
                <a:spcPct val="150000"/>
              </a:lnSpc>
              <a:buFont typeface="+mj-lt"/>
              <a:buAutoNum type="arabicPeriod"/>
            </a:pPr>
            <a:r>
              <a:rPr kumimoji="1" lang="ja-JP" altLang="en-US" sz="2000" b="1" dirty="0"/>
              <a:t>各深度に対して再投影の</a:t>
            </a:r>
            <a:br>
              <a:rPr kumimoji="1" lang="en-US" altLang="ja-JP" sz="2000" b="1" dirty="0"/>
            </a:br>
            <a:r>
              <a:rPr kumimoji="1" lang="en-US" altLang="ja-JP" sz="2000" b="1" dirty="0"/>
              <a:t>  </a:t>
            </a:r>
            <a:r>
              <a:rPr kumimoji="1" lang="ja-JP" altLang="en-US" sz="2000" b="1" dirty="0"/>
              <a:t>座標を計算</a:t>
            </a:r>
            <a:endParaRPr lang="en-US" altLang="ja-JP" sz="2000" b="1" dirty="0"/>
          </a:p>
          <a:p>
            <a:pPr marL="257168" indent="-342892">
              <a:lnSpc>
                <a:spcPct val="150000"/>
              </a:lnSpc>
              <a:buFont typeface="+mj-lt"/>
              <a:buAutoNum type="arabicPeriod"/>
            </a:pPr>
            <a:r>
              <a:rPr kumimoji="1" lang="ja-JP" altLang="en-US" sz="2000" b="1" dirty="0"/>
              <a:t>実際の色と比較して</a:t>
            </a:r>
            <a:br>
              <a:rPr kumimoji="1" lang="en-US" altLang="ja-JP" sz="2000" b="1" dirty="0"/>
            </a:br>
            <a:r>
              <a:rPr kumimoji="1" lang="ja-JP" altLang="en-US" sz="2000" b="1" dirty="0"/>
              <a:t>  確からしい深度を推定する</a:t>
            </a:r>
            <a:endParaRPr kumimoji="1" lang="en-US" altLang="ja-JP" sz="2000" b="1" dirty="0"/>
          </a:p>
        </p:txBody>
      </p:sp>
      <p:cxnSp>
        <p:nvCxnSpPr>
          <p:cNvPr id="14" name="直線矢印コネクタ 13">
            <a:extLst>
              <a:ext uri="{FF2B5EF4-FFF2-40B4-BE49-F238E27FC236}">
                <a16:creationId xmlns:a16="http://schemas.microsoft.com/office/drawing/2014/main" id="{B9C492B3-2DE5-BD07-0D08-DCF4B008BF61}"/>
              </a:ext>
            </a:extLst>
          </p:cNvPr>
          <p:cNvCxnSpPr>
            <a:cxnSpLocks/>
          </p:cNvCxnSpPr>
          <p:nvPr/>
        </p:nvCxnSpPr>
        <p:spPr>
          <a:xfrm flipV="1">
            <a:off x="2960267" y="3456601"/>
            <a:ext cx="175841" cy="162938"/>
          </a:xfrm>
          <a:prstGeom prst="straightConnector1">
            <a:avLst/>
          </a:prstGeom>
          <a:ln w="28575">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86BF8054-2068-CEFE-B59F-21B2EE634CD4}"/>
              </a:ext>
            </a:extLst>
          </p:cNvPr>
          <p:cNvSpPr txBox="1"/>
          <p:nvPr/>
        </p:nvSpPr>
        <p:spPr>
          <a:xfrm>
            <a:off x="1532036" y="3214443"/>
            <a:ext cx="1414999" cy="369332"/>
          </a:xfrm>
          <a:prstGeom prst="rect">
            <a:avLst/>
          </a:prstGeom>
          <a:noFill/>
        </p:spPr>
        <p:txBody>
          <a:bodyPr wrap="square" rtlCol="0">
            <a:spAutoFit/>
          </a:bodyPr>
          <a:lstStyle/>
          <a:p>
            <a:r>
              <a:rPr kumimoji="1" lang="ja-JP" altLang="en-US" dirty="0">
                <a:solidFill>
                  <a:srgbClr val="0070C0"/>
                </a:solidFill>
              </a:rPr>
              <a:t>基準カメラ</a:t>
            </a:r>
          </a:p>
        </p:txBody>
      </p:sp>
      <p:sp>
        <p:nvSpPr>
          <p:cNvPr id="10" name="正方形/長方形 9">
            <a:extLst>
              <a:ext uri="{FF2B5EF4-FFF2-40B4-BE49-F238E27FC236}">
                <a16:creationId xmlns:a16="http://schemas.microsoft.com/office/drawing/2014/main" id="{8F25CB65-237E-FB53-AE95-21DF620E243C}"/>
              </a:ext>
            </a:extLst>
          </p:cNvPr>
          <p:cNvSpPr/>
          <p:nvPr/>
        </p:nvSpPr>
        <p:spPr>
          <a:xfrm>
            <a:off x="287338" y="5718285"/>
            <a:ext cx="8655298"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5DF2C820-9820-815A-35C0-846A8A339297}"/>
              </a:ext>
            </a:extLst>
          </p:cNvPr>
          <p:cNvSpPr/>
          <p:nvPr/>
        </p:nvSpPr>
        <p:spPr>
          <a:xfrm>
            <a:off x="269012" y="1263968"/>
            <a:ext cx="8655298" cy="1807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コンテンツ プレースホルダー 2">
            <a:extLst>
              <a:ext uri="{FF2B5EF4-FFF2-40B4-BE49-F238E27FC236}">
                <a16:creationId xmlns:a16="http://schemas.microsoft.com/office/drawing/2014/main" id="{171F2627-7402-CDA2-74C4-1C4BD22BDA73}"/>
              </a:ext>
            </a:extLst>
          </p:cNvPr>
          <p:cNvSpPr>
            <a:spLocks noGrp="1"/>
          </p:cNvSpPr>
          <p:nvPr>
            <p:ph idx="1"/>
          </p:nvPr>
        </p:nvSpPr>
        <p:spPr>
          <a:xfrm>
            <a:off x="611188" y="5850970"/>
            <a:ext cx="8475662" cy="947525"/>
          </a:xfrm>
        </p:spPr>
        <p:txBody>
          <a:bodyPr>
            <a:noAutofit/>
          </a:bodyPr>
          <a:lstStyle/>
          <a:p>
            <a:pPr marL="0" indent="0">
              <a:lnSpc>
                <a:spcPct val="100000"/>
              </a:lnSpc>
              <a:buNone/>
            </a:pPr>
            <a:r>
              <a:rPr lang="ja-JP" altLang="en-US" dirty="0"/>
              <a:t>各魚眼カメラの各ピクセルに対して</a:t>
            </a:r>
            <a:r>
              <a:rPr lang="en-US" altLang="ja-JP" dirty="0"/>
              <a:t>1~4</a:t>
            </a:r>
            <a:r>
              <a:rPr lang="ja-JP" altLang="en-US" dirty="0"/>
              <a:t>を並列計算することによってリアルタイム性を持たせる</a:t>
            </a:r>
            <a:endParaRPr lang="en-US" altLang="ja-JP" dirty="0"/>
          </a:p>
        </p:txBody>
      </p:sp>
    </p:spTree>
    <p:extLst>
      <p:ext uri="{BB962C8B-B14F-4D97-AF65-F5344CB8AC3E}">
        <p14:creationId xmlns:p14="http://schemas.microsoft.com/office/powerpoint/2010/main" val="2053132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8">
                                            <p:txEl>
                                              <p:pRg st="2" end="2"/>
                                            </p:txEl>
                                          </p:spTgt>
                                        </p:tgtEl>
                                        <p:attrNameLst>
                                          <p:attrName>style.visibility</p:attrName>
                                        </p:attrNameLst>
                                      </p:cBhvr>
                                      <p:to>
                                        <p:strVal val="visible"/>
                                      </p:to>
                                    </p:se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par>
                                <p:cTn id="37" presetID="10" presetClass="entr" presetSubtype="0" fill="hold"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500"/>
                                        <p:tgtEl>
                                          <p:spTgt spid="34"/>
                                        </p:tgtEl>
                                      </p:cBhvr>
                                    </p:animEffect>
                                  </p:childTnLst>
                                </p:cTn>
                              </p:par>
                              <p:par>
                                <p:cTn id="40" presetID="10" presetClass="entr" presetSubtype="0" fill="hold" nodeType="with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fade">
                                      <p:cBhvr>
                                        <p:cTn id="42" dur="500"/>
                                        <p:tgtEl>
                                          <p:spTgt spid="37"/>
                                        </p:tgtEl>
                                      </p:cBhvr>
                                    </p:animEffect>
                                  </p:childTnLst>
                                </p:cTn>
                              </p:par>
                              <p:par>
                                <p:cTn id="43" presetID="10" presetClass="entr" presetSubtype="0" fill="hold" nodeType="withEffect">
                                  <p:stCondLst>
                                    <p:cond delay="0"/>
                                  </p:stCondLst>
                                  <p:childTnLst>
                                    <p:set>
                                      <p:cBhvr>
                                        <p:cTn id="44" dur="1" fill="hold">
                                          <p:stCondLst>
                                            <p:cond delay="0"/>
                                          </p:stCondLst>
                                        </p:cTn>
                                        <p:tgtEl>
                                          <p:spTgt spid="40"/>
                                        </p:tgtEl>
                                        <p:attrNameLst>
                                          <p:attrName>style.visibility</p:attrName>
                                        </p:attrNameLst>
                                      </p:cBhvr>
                                      <p:to>
                                        <p:strVal val="visible"/>
                                      </p:to>
                                    </p:set>
                                    <p:animEffect transition="in" filter="fade">
                                      <p:cBhvr>
                                        <p:cTn id="45" dur="500"/>
                                        <p:tgtEl>
                                          <p:spTgt spid="40"/>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48">
                                            <p:txEl>
                                              <p:pRg st="3" end="3"/>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6" grpId="0" animBg="1"/>
      <p:bldP spid="6" grpId="0" animBg="1"/>
      <p:bldP spid="22" grpId="0" animBg="1"/>
      <p:bldP spid="23" grpId="0" animBg="1"/>
      <p:bldP spid="24" grpId="0" animBg="1"/>
      <p:bldP spid="25" grpId="0" animBg="1"/>
      <p:bldP spid="3" grpId="0"/>
      <p:bldP spid="18"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00A8F9-E95D-9A41-73AF-24A49F4A22F7}"/>
              </a:ext>
            </a:extLst>
          </p:cNvPr>
          <p:cNvSpPr>
            <a:spLocks noGrp="1"/>
          </p:cNvSpPr>
          <p:nvPr>
            <p:ph type="title"/>
          </p:nvPr>
        </p:nvSpPr>
        <p:spPr/>
        <p:txBody>
          <a:bodyPr/>
          <a:lstStyle/>
          <a:p>
            <a:r>
              <a:rPr kumimoji="1" lang="ja-JP" altLang="en-US" dirty="0"/>
              <a:t>結果</a:t>
            </a:r>
          </a:p>
        </p:txBody>
      </p:sp>
      <p:sp>
        <p:nvSpPr>
          <p:cNvPr id="4" name="コンテンツ プレースホルダー 3">
            <a:extLst>
              <a:ext uri="{FF2B5EF4-FFF2-40B4-BE49-F238E27FC236}">
                <a16:creationId xmlns:a16="http://schemas.microsoft.com/office/drawing/2014/main" id="{257036E6-703D-079D-FA10-D1BEAFD93784}"/>
              </a:ext>
            </a:extLst>
          </p:cNvPr>
          <p:cNvSpPr>
            <a:spLocks noGrp="1"/>
          </p:cNvSpPr>
          <p:nvPr>
            <p:ph idx="1"/>
          </p:nvPr>
        </p:nvSpPr>
        <p:spPr>
          <a:xfrm>
            <a:off x="611188" y="1450973"/>
            <a:ext cx="7904162" cy="558348"/>
          </a:xfrm>
        </p:spPr>
        <p:txBody>
          <a:bodyPr>
            <a:noAutofit/>
          </a:bodyPr>
          <a:lstStyle/>
          <a:p>
            <a:pPr>
              <a:lnSpc>
                <a:spcPct val="100000"/>
              </a:lnSpc>
            </a:pPr>
            <a:r>
              <a:rPr lang="ja-JP" altLang="en-US" dirty="0"/>
              <a:t>深度推定手法の追試結果</a:t>
            </a:r>
            <a:endParaRPr lang="en-US" altLang="ja-JP" dirty="0"/>
          </a:p>
          <a:p>
            <a:pPr marL="0" indent="0">
              <a:lnSpc>
                <a:spcPct val="100000"/>
              </a:lnSpc>
              <a:buNone/>
            </a:pPr>
            <a:endParaRPr lang="en-US" altLang="ja-JP" sz="2400" dirty="0"/>
          </a:p>
          <a:p>
            <a:pPr>
              <a:lnSpc>
                <a:spcPct val="100000"/>
              </a:lnSpc>
            </a:pPr>
            <a:endParaRPr lang="en-US" altLang="ja-JP" sz="2400" dirty="0"/>
          </a:p>
          <a:p>
            <a:pPr>
              <a:lnSpc>
                <a:spcPct val="100000"/>
              </a:lnSpc>
            </a:pPr>
            <a:endParaRPr lang="en-US" altLang="ja-JP" sz="2400" dirty="0"/>
          </a:p>
          <a:p>
            <a:pPr>
              <a:lnSpc>
                <a:spcPct val="150000"/>
              </a:lnSpc>
            </a:pPr>
            <a:endParaRPr lang="en-US" altLang="ja-JP" dirty="0"/>
          </a:p>
          <a:p>
            <a:pPr>
              <a:lnSpc>
                <a:spcPct val="200000"/>
              </a:lnSpc>
            </a:pPr>
            <a:endParaRPr lang="en-US" altLang="ja-JP" dirty="0"/>
          </a:p>
        </p:txBody>
      </p:sp>
      <p:sp>
        <p:nvSpPr>
          <p:cNvPr id="3" name="スライド番号プレースホルダー 2">
            <a:extLst>
              <a:ext uri="{FF2B5EF4-FFF2-40B4-BE49-F238E27FC236}">
                <a16:creationId xmlns:a16="http://schemas.microsoft.com/office/drawing/2014/main" id="{3EF3225B-09C8-A2E8-6B14-88E28C27F262}"/>
              </a:ext>
            </a:extLst>
          </p:cNvPr>
          <p:cNvSpPr>
            <a:spLocks noGrp="1"/>
          </p:cNvSpPr>
          <p:nvPr>
            <p:ph type="sldNum" sz="quarter" idx="12"/>
          </p:nvPr>
        </p:nvSpPr>
        <p:spPr/>
        <p:txBody>
          <a:bodyPr/>
          <a:lstStyle/>
          <a:p>
            <a:fld id="{36CC8B87-28FD-40C1-8BEA-A488324BDA2F}" type="slidenum">
              <a:rPr kumimoji="1" lang="ja-JP" altLang="en-US" smtClean="0"/>
              <a:t>10</a:t>
            </a:fld>
            <a:endParaRPr kumimoji="1" lang="ja-JP" altLang="en-US" dirty="0"/>
          </a:p>
        </p:txBody>
      </p:sp>
      <p:grpSp>
        <p:nvGrpSpPr>
          <p:cNvPr id="7" name="グループ化 6">
            <a:extLst>
              <a:ext uri="{FF2B5EF4-FFF2-40B4-BE49-F238E27FC236}">
                <a16:creationId xmlns:a16="http://schemas.microsoft.com/office/drawing/2014/main" id="{93178496-3907-25B1-F5F4-A41C707B78D9}"/>
              </a:ext>
            </a:extLst>
          </p:cNvPr>
          <p:cNvGrpSpPr/>
          <p:nvPr/>
        </p:nvGrpSpPr>
        <p:grpSpPr>
          <a:xfrm>
            <a:off x="560048" y="4418242"/>
            <a:ext cx="8117246" cy="1666634"/>
            <a:chOff x="560048" y="4418242"/>
            <a:chExt cx="8117246" cy="1666634"/>
          </a:xfrm>
        </p:grpSpPr>
        <p:pic>
          <p:nvPicPr>
            <p:cNvPr id="9" name="図 8" descr="屋内, 鏡, 眺め, 座る が含まれている画像&#10;&#10;AI によって生成されたコンテンツは間違っている可能性があります。">
              <a:extLst>
                <a:ext uri="{FF2B5EF4-FFF2-40B4-BE49-F238E27FC236}">
                  <a16:creationId xmlns:a16="http://schemas.microsoft.com/office/drawing/2014/main" id="{26E62244-2F2B-8237-D38D-B37C1B19BD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18671" y="4942200"/>
              <a:ext cx="2031423" cy="1142675"/>
            </a:xfrm>
            <a:prstGeom prst="rect">
              <a:avLst/>
            </a:prstGeom>
          </p:spPr>
        </p:pic>
        <p:pic>
          <p:nvPicPr>
            <p:cNvPr id="10" name="図 9" descr="屋内, 鏡, 眺め, 反射 が含まれている画像&#10;&#10;AI によって生成されたコンテンツは間違っている可能性があります。">
              <a:extLst>
                <a:ext uri="{FF2B5EF4-FFF2-40B4-BE49-F238E27FC236}">
                  <a16:creationId xmlns:a16="http://schemas.microsoft.com/office/drawing/2014/main" id="{9FC753CD-3712-396D-0A69-E302156D395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88656" y="4942200"/>
              <a:ext cx="2031423" cy="1142676"/>
            </a:xfrm>
            <a:prstGeom prst="rect">
              <a:avLst/>
            </a:prstGeom>
          </p:spPr>
        </p:pic>
        <p:pic>
          <p:nvPicPr>
            <p:cNvPr id="11" name="図 10" descr="屋内, 鏡, 眺め, 反射 が含まれている画像&#10;&#10;AI によって生成されたコンテンツは間違っている可能性があります。">
              <a:extLst>
                <a:ext uri="{FF2B5EF4-FFF2-40B4-BE49-F238E27FC236}">
                  <a16:creationId xmlns:a16="http://schemas.microsoft.com/office/drawing/2014/main" id="{29A639CD-F861-4103-E6BF-180D8D1F96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45871" y="4942199"/>
              <a:ext cx="2031423" cy="1142675"/>
            </a:xfrm>
            <a:prstGeom prst="rect">
              <a:avLst/>
            </a:prstGeom>
          </p:spPr>
        </p:pic>
        <p:pic>
          <p:nvPicPr>
            <p:cNvPr id="12" name="図 11" descr="屋内, 眺め, 鏡, 座る が含まれている画像&#10;&#10;AI によって生成されたコンテンツは間違っている可能性があります。">
              <a:extLst>
                <a:ext uri="{FF2B5EF4-FFF2-40B4-BE49-F238E27FC236}">
                  <a16:creationId xmlns:a16="http://schemas.microsoft.com/office/drawing/2014/main" id="{74BD77F3-879F-DA83-0269-2E667407689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0048" y="4942199"/>
              <a:ext cx="2031423" cy="1142675"/>
            </a:xfrm>
            <a:prstGeom prst="rect">
              <a:avLst/>
            </a:prstGeom>
          </p:spPr>
        </p:pic>
        <p:sp>
          <p:nvSpPr>
            <p:cNvPr id="6" name="コンテンツ プレースホルダー 3">
              <a:extLst>
                <a:ext uri="{FF2B5EF4-FFF2-40B4-BE49-F238E27FC236}">
                  <a16:creationId xmlns:a16="http://schemas.microsoft.com/office/drawing/2014/main" id="{58CB75E1-6FA3-4153-5C36-86C4CA3FF49B}"/>
                </a:ext>
              </a:extLst>
            </p:cNvPr>
            <p:cNvSpPr txBox="1">
              <a:spLocks/>
            </p:cNvSpPr>
            <p:nvPr/>
          </p:nvSpPr>
          <p:spPr>
            <a:xfrm>
              <a:off x="619919" y="4418242"/>
              <a:ext cx="7904162" cy="5583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Wingdings" panose="05000000000000000000" pitchFamily="2" charset="2"/>
                <a:buChar char="n"/>
                <a:defRPr kumimoji="1" sz="2800" b="1"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游ゴシック Medium" panose="020B0500000000000000" pitchFamily="50" charset="-128"/>
                <a:buChar char="-"/>
                <a:defRPr kumimoji="1" sz="2400" b="1"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b="1"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ja-JP" altLang="en-US" dirty="0"/>
                <a:t>動作確認したカメラ画像</a:t>
              </a:r>
              <a:endParaRPr lang="en-US" altLang="ja-JP" dirty="0"/>
            </a:p>
            <a:p>
              <a:pPr marL="0" indent="0">
                <a:lnSpc>
                  <a:spcPct val="100000"/>
                </a:lnSpc>
                <a:buFont typeface="Wingdings" panose="05000000000000000000" pitchFamily="2" charset="2"/>
                <a:buNone/>
              </a:pPr>
              <a:endParaRPr lang="en-US" altLang="ja-JP" sz="2400" dirty="0"/>
            </a:p>
            <a:p>
              <a:pPr>
                <a:lnSpc>
                  <a:spcPct val="100000"/>
                </a:lnSpc>
              </a:pPr>
              <a:endParaRPr lang="en-US" altLang="ja-JP" sz="2400" dirty="0"/>
            </a:p>
            <a:p>
              <a:pPr>
                <a:lnSpc>
                  <a:spcPct val="100000"/>
                </a:lnSpc>
              </a:pPr>
              <a:endParaRPr lang="en-US" altLang="ja-JP" sz="2400" dirty="0"/>
            </a:p>
            <a:p>
              <a:pPr>
                <a:lnSpc>
                  <a:spcPct val="150000"/>
                </a:lnSpc>
              </a:pPr>
              <a:endParaRPr lang="en-US" altLang="ja-JP" dirty="0"/>
            </a:p>
            <a:p>
              <a:pPr>
                <a:lnSpc>
                  <a:spcPct val="200000"/>
                </a:lnSpc>
              </a:pPr>
              <a:endParaRPr lang="en-US" altLang="ja-JP" dirty="0"/>
            </a:p>
          </p:txBody>
        </p:sp>
      </p:grpSp>
      <p:grpSp>
        <p:nvGrpSpPr>
          <p:cNvPr id="17" name="グループ化 16">
            <a:extLst>
              <a:ext uri="{FF2B5EF4-FFF2-40B4-BE49-F238E27FC236}">
                <a16:creationId xmlns:a16="http://schemas.microsoft.com/office/drawing/2014/main" id="{47F1A80C-A26C-2D1D-2A5F-05E1E15BE560}"/>
              </a:ext>
            </a:extLst>
          </p:cNvPr>
          <p:cNvGrpSpPr/>
          <p:nvPr/>
        </p:nvGrpSpPr>
        <p:grpSpPr>
          <a:xfrm>
            <a:off x="499800" y="1946946"/>
            <a:ext cx="7526600" cy="2147253"/>
            <a:chOff x="499800" y="1946946"/>
            <a:chExt cx="7526600" cy="2147253"/>
          </a:xfrm>
        </p:grpSpPr>
        <p:grpSp>
          <p:nvGrpSpPr>
            <p:cNvPr id="16" name="グループ化 15">
              <a:extLst>
                <a:ext uri="{FF2B5EF4-FFF2-40B4-BE49-F238E27FC236}">
                  <a16:creationId xmlns:a16="http://schemas.microsoft.com/office/drawing/2014/main" id="{3ED1B693-AE26-323A-5970-8322EB39F11A}"/>
                </a:ext>
              </a:extLst>
            </p:cNvPr>
            <p:cNvGrpSpPr/>
            <p:nvPr/>
          </p:nvGrpSpPr>
          <p:grpSpPr>
            <a:xfrm>
              <a:off x="570987" y="2273481"/>
              <a:ext cx="7455413" cy="1820718"/>
              <a:chOff x="570987" y="2273481"/>
              <a:chExt cx="7455413" cy="1820718"/>
            </a:xfrm>
          </p:grpSpPr>
          <p:pic>
            <p:nvPicPr>
              <p:cNvPr id="13" name="図 12">
                <a:extLst>
                  <a:ext uri="{FF2B5EF4-FFF2-40B4-BE49-F238E27FC236}">
                    <a16:creationId xmlns:a16="http://schemas.microsoft.com/office/drawing/2014/main" id="{1C767551-C735-1493-3808-D2156D7422AB}"/>
                  </a:ext>
                </a:extLst>
              </p:cNvPr>
              <p:cNvPicPr>
                <a:picLocks noChangeAspect="1"/>
              </p:cNvPicPr>
              <p:nvPr/>
            </p:nvPicPr>
            <p:blipFill>
              <a:blip r:embed="rId8"/>
              <a:stretch>
                <a:fillRect/>
              </a:stretch>
            </p:blipFill>
            <p:spPr>
              <a:xfrm>
                <a:off x="4372877" y="2273481"/>
                <a:ext cx="3653523" cy="1820717"/>
              </a:xfrm>
              <a:custGeom>
                <a:avLst/>
                <a:gdLst>
                  <a:gd name="connsiteX0" fmla="*/ 0 w 3362389"/>
                  <a:gd name="connsiteY0" fmla="*/ -213 h 1675631"/>
                  <a:gd name="connsiteX1" fmla="*/ 3362389 w 3362389"/>
                  <a:gd name="connsiteY1" fmla="*/ -213 h 1675631"/>
                  <a:gd name="connsiteX2" fmla="*/ 3362389 w 3362389"/>
                  <a:gd name="connsiteY2" fmla="*/ 1675419 h 1675631"/>
                  <a:gd name="connsiteX3" fmla="*/ 0 w 3362389"/>
                  <a:gd name="connsiteY3" fmla="*/ 1675419 h 1675631"/>
                </a:gdLst>
                <a:ahLst/>
                <a:cxnLst>
                  <a:cxn ang="0">
                    <a:pos x="connsiteX0" y="connsiteY0"/>
                  </a:cxn>
                  <a:cxn ang="0">
                    <a:pos x="connsiteX1" y="connsiteY1"/>
                  </a:cxn>
                  <a:cxn ang="0">
                    <a:pos x="connsiteX2" y="connsiteY2"/>
                  </a:cxn>
                  <a:cxn ang="0">
                    <a:pos x="connsiteX3" y="connsiteY3"/>
                  </a:cxn>
                </a:cxnLst>
                <a:rect l="l" t="t" r="r" b="b"/>
                <a:pathLst>
                  <a:path w="3362389" h="1675631">
                    <a:moveTo>
                      <a:pt x="0" y="-213"/>
                    </a:moveTo>
                    <a:lnTo>
                      <a:pt x="3362389" y="-213"/>
                    </a:lnTo>
                    <a:lnTo>
                      <a:pt x="3362389" y="1675419"/>
                    </a:lnTo>
                    <a:lnTo>
                      <a:pt x="0" y="1675419"/>
                    </a:lnTo>
                    <a:close/>
                  </a:path>
                </a:pathLst>
              </a:custGeom>
            </p:spPr>
          </p:pic>
          <p:pic>
            <p:nvPicPr>
              <p:cNvPr id="14" name="図 13">
                <a:extLst>
                  <a:ext uri="{FF2B5EF4-FFF2-40B4-BE49-F238E27FC236}">
                    <a16:creationId xmlns:a16="http://schemas.microsoft.com/office/drawing/2014/main" id="{0987F13B-5356-8377-6FDE-4765129CFD37}"/>
                  </a:ext>
                </a:extLst>
              </p:cNvPr>
              <p:cNvPicPr>
                <a:picLocks noChangeAspect="1"/>
              </p:cNvPicPr>
              <p:nvPr/>
            </p:nvPicPr>
            <p:blipFill>
              <a:blip r:embed="rId9"/>
              <a:stretch>
                <a:fillRect/>
              </a:stretch>
            </p:blipFill>
            <p:spPr>
              <a:xfrm>
                <a:off x="570987" y="2273481"/>
                <a:ext cx="3653527" cy="1820718"/>
              </a:xfrm>
              <a:custGeom>
                <a:avLst/>
                <a:gdLst>
                  <a:gd name="connsiteX0" fmla="*/ 0 w 3362389"/>
                  <a:gd name="connsiteY0" fmla="*/ -213 h 1675631"/>
                  <a:gd name="connsiteX1" fmla="*/ 3362389 w 3362389"/>
                  <a:gd name="connsiteY1" fmla="*/ -213 h 1675631"/>
                  <a:gd name="connsiteX2" fmla="*/ 3362389 w 3362389"/>
                  <a:gd name="connsiteY2" fmla="*/ 1675419 h 1675631"/>
                  <a:gd name="connsiteX3" fmla="*/ 0 w 3362389"/>
                  <a:gd name="connsiteY3" fmla="*/ 1675419 h 1675631"/>
                </a:gdLst>
                <a:ahLst/>
                <a:cxnLst>
                  <a:cxn ang="0">
                    <a:pos x="connsiteX0" y="connsiteY0"/>
                  </a:cxn>
                  <a:cxn ang="0">
                    <a:pos x="connsiteX1" y="connsiteY1"/>
                  </a:cxn>
                  <a:cxn ang="0">
                    <a:pos x="connsiteX2" y="connsiteY2"/>
                  </a:cxn>
                  <a:cxn ang="0">
                    <a:pos x="connsiteX3" y="connsiteY3"/>
                  </a:cxn>
                </a:cxnLst>
                <a:rect l="l" t="t" r="r" b="b"/>
                <a:pathLst>
                  <a:path w="3362389" h="1675631">
                    <a:moveTo>
                      <a:pt x="0" y="-213"/>
                    </a:moveTo>
                    <a:lnTo>
                      <a:pt x="3362389" y="-213"/>
                    </a:lnTo>
                    <a:lnTo>
                      <a:pt x="3362389" y="1675419"/>
                    </a:lnTo>
                    <a:lnTo>
                      <a:pt x="0" y="1675419"/>
                    </a:lnTo>
                    <a:close/>
                  </a:path>
                </a:pathLst>
              </a:custGeom>
            </p:spPr>
          </p:pic>
        </p:grpSp>
        <p:sp>
          <p:nvSpPr>
            <p:cNvPr id="8" name="テキスト ボックス 7">
              <a:extLst>
                <a:ext uri="{FF2B5EF4-FFF2-40B4-BE49-F238E27FC236}">
                  <a16:creationId xmlns:a16="http://schemas.microsoft.com/office/drawing/2014/main" id="{8F4AA3AC-ED27-53B6-54BA-73B705D61B89}"/>
                </a:ext>
              </a:extLst>
            </p:cNvPr>
            <p:cNvSpPr txBox="1"/>
            <p:nvPr/>
          </p:nvSpPr>
          <p:spPr>
            <a:xfrm>
              <a:off x="499800" y="1949438"/>
              <a:ext cx="1723549" cy="400110"/>
            </a:xfrm>
            <a:prstGeom prst="rect">
              <a:avLst/>
            </a:prstGeom>
            <a:noFill/>
          </p:spPr>
          <p:txBody>
            <a:bodyPr wrap="none" rtlCol="0">
              <a:spAutoFit/>
            </a:bodyPr>
            <a:lstStyle/>
            <a:p>
              <a:r>
                <a:rPr kumimoji="1" lang="ja-JP" altLang="en-US" sz="2000" dirty="0"/>
                <a:t>パノラマ画像</a:t>
              </a:r>
            </a:p>
          </p:txBody>
        </p:sp>
        <p:sp>
          <p:nvSpPr>
            <p:cNvPr id="15" name="テキスト ボックス 14">
              <a:extLst>
                <a:ext uri="{FF2B5EF4-FFF2-40B4-BE49-F238E27FC236}">
                  <a16:creationId xmlns:a16="http://schemas.microsoft.com/office/drawing/2014/main" id="{D21AA72A-74B7-FCA9-4D27-8FF5CC864E0A}"/>
                </a:ext>
              </a:extLst>
            </p:cNvPr>
            <p:cNvSpPr txBox="1"/>
            <p:nvPr/>
          </p:nvSpPr>
          <p:spPr>
            <a:xfrm>
              <a:off x="4335902" y="1946946"/>
              <a:ext cx="1210588" cy="400110"/>
            </a:xfrm>
            <a:prstGeom prst="rect">
              <a:avLst/>
            </a:prstGeom>
            <a:noFill/>
          </p:spPr>
          <p:txBody>
            <a:bodyPr wrap="none" rtlCol="0">
              <a:spAutoFit/>
            </a:bodyPr>
            <a:lstStyle/>
            <a:p>
              <a:r>
                <a:rPr kumimoji="1" lang="ja-JP" altLang="en-US" sz="2000" dirty="0"/>
                <a:t>深度画像</a:t>
              </a:r>
            </a:p>
          </p:txBody>
        </p:sp>
      </p:grpSp>
    </p:spTree>
    <p:extLst>
      <p:ext uri="{BB962C8B-B14F-4D97-AF65-F5344CB8AC3E}">
        <p14:creationId xmlns:p14="http://schemas.microsoft.com/office/powerpoint/2010/main" val="3937609652"/>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372348-0F29-FBDD-88CD-1130CD3401E8}"/>
              </a:ext>
            </a:extLst>
          </p:cNvPr>
          <p:cNvSpPr>
            <a:spLocks noGrp="1"/>
          </p:cNvSpPr>
          <p:nvPr>
            <p:ph type="title"/>
          </p:nvPr>
        </p:nvSpPr>
        <p:spPr/>
        <p:txBody>
          <a:bodyPr/>
          <a:lstStyle/>
          <a:p>
            <a:r>
              <a:rPr kumimoji="1" lang="ja-JP" altLang="en-US" dirty="0"/>
              <a:t>まとめ</a:t>
            </a:r>
          </a:p>
        </p:txBody>
      </p:sp>
      <p:sp>
        <p:nvSpPr>
          <p:cNvPr id="3" name="コンテンツ プレースホルダー 2">
            <a:extLst>
              <a:ext uri="{FF2B5EF4-FFF2-40B4-BE49-F238E27FC236}">
                <a16:creationId xmlns:a16="http://schemas.microsoft.com/office/drawing/2014/main" id="{B0BBB777-0AC5-6E11-4E59-2741CC80FAB5}"/>
              </a:ext>
            </a:extLst>
          </p:cNvPr>
          <p:cNvSpPr>
            <a:spLocks noGrp="1"/>
          </p:cNvSpPr>
          <p:nvPr>
            <p:ph idx="1"/>
          </p:nvPr>
        </p:nvSpPr>
        <p:spPr>
          <a:xfrm>
            <a:off x="611188" y="1450973"/>
            <a:ext cx="8120062" cy="4725990"/>
          </a:xfrm>
        </p:spPr>
        <p:txBody>
          <a:bodyPr>
            <a:normAutofit/>
          </a:bodyPr>
          <a:lstStyle/>
          <a:p>
            <a:pPr>
              <a:lnSpc>
                <a:spcPct val="150000"/>
              </a:lnSpc>
            </a:pPr>
            <a:r>
              <a:rPr kumimoji="1" lang="ja-JP" altLang="en-US" dirty="0"/>
              <a:t>高速な</a:t>
            </a:r>
            <a:r>
              <a:rPr kumimoji="1" lang="en-US" altLang="ja-JP" dirty="0"/>
              <a:t>Visual SLAM</a:t>
            </a:r>
            <a:r>
              <a:rPr kumimoji="1" lang="ja-JP" altLang="en-US" dirty="0"/>
              <a:t>を実現するための</a:t>
            </a:r>
            <a:br>
              <a:rPr kumimoji="1" lang="en-US" altLang="ja-JP" dirty="0"/>
            </a:br>
            <a:r>
              <a:rPr kumimoji="1" lang="ja-JP" altLang="en-US" dirty="0"/>
              <a:t>ハードウェアを構築した</a:t>
            </a:r>
            <a:endParaRPr kumimoji="1" lang="en-US" altLang="ja-JP" dirty="0"/>
          </a:p>
          <a:p>
            <a:pPr>
              <a:lnSpc>
                <a:spcPct val="150000"/>
              </a:lnSpc>
            </a:pPr>
            <a:endParaRPr kumimoji="1" lang="en-US" altLang="ja-JP" sz="700" dirty="0"/>
          </a:p>
          <a:p>
            <a:pPr>
              <a:lnSpc>
                <a:spcPct val="150000"/>
              </a:lnSpc>
            </a:pPr>
            <a:r>
              <a:rPr kumimoji="1" lang="ja-JP" altLang="en-US" dirty="0"/>
              <a:t>複数の魚眼カメラから深度を</a:t>
            </a:r>
            <a:r>
              <a:rPr lang="ja-JP" altLang="en-US" dirty="0"/>
              <a:t>高速</a:t>
            </a:r>
            <a:r>
              <a:rPr kumimoji="1" lang="ja-JP" altLang="en-US" dirty="0"/>
              <a:t>に推定する</a:t>
            </a:r>
            <a:br>
              <a:rPr kumimoji="1" lang="en-US" altLang="ja-JP" dirty="0"/>
            </a:br>
            <a:r>
              <a:rPr kumimoji="1" lang="ja-JP" altLang="en-US" dirty="0"/>
              <a:t>手法について</a:t>
            </a:r>
            <a:r>
              <a:rPr lang="ja-JP" altLang="en-US" dirty="0"/>
              <a:t>追試を行った</a:t>
            </a:r>
            <a:endParaRPr kumimoji="1" lang="en-US" altLang="ja-JP" dirty="0"/>
          </a:p>
          <a:p>
            <a:pPr marL="0" indent="0">
              <a:lnSpc>
                <a:spcPct val="150000"/>
              </a:lnSpc>
              <a:buNone/>
            </a:pPr>
            <a:endParaRPr kumimoji="1" lang="en-US" altLang="ja-JP" sz="700" dirty="0"/>
          </a:p>
          <a:p>
            <a:pPr>
              <a:lnSpc>
                <a:spcPct val="150000"/>
              </a:lnSpc>
            </a:pPr>
            <a:r>
              <a:rPr lang="ja-JP" altLang="en-US" dirty="0"/>
              <a:t>カメラの環境を構築し動作確認を行った</a:t>
            </a:r>
            <a:endParaRPr lang="en-US" altLang="ja-JP" dirty="0"/>
          </a:p>
          <a:p>
            <a:pPr>
              <a:lnSpc>
                <a:spcPct val="150000"/>
              </a:lnSpc>
            </a:pPr>
            <a:endParaRPr kumimoji="1" lang="ja-JP" altLang="en-US" dirty="0"/>
          </a:p>
        </p:txBody>
      </p:sp>
      <p:sp>
        <p:nvSpPr>
          <p:cNvPr id="4" name="スライド番号プレースホルダー 3">
            <a:extLst>
              <a:ext uri="{FF2B5EF4-FFF2-40B4-BE49-F238E27FC236}">
                <a16:creationId xmlns:a16="http://schemas.microsoft.com/office/drawing/2014/main" id="{8550F55E-0D1A-6625-0A48-847E815D7354}"/>
              </a:ext>
            </a:extLst>
          </p:cNvPr>
          <p:cNvSpPr>
            <a:spLocks noGrp="1"/>
          </p:cNvSpPr>
          <p:nvPr>
            <p:ph type="sldNum" sz="quarter" idx="12"/>
          </p:nvPr>
        </p:nvSpPr>
        <p:spPr/>
        <p:txBody>
          <a:bodyPr/>
          <a:lstStyle/>
          <a:p>
            <a:fld id="{673BA9A0-D382-41FB-AB73-7841F3556B1B}" type="slidenum">
              <a:rPr kumimoji="1" lang="ja-JP" altLang="en-US" smtClean="0"/>
              <a:pPr/>
              <a:t>11</a:t>
            </a:fld>
            <a:endParaRPr kumimoji="1" lang="ja-JP" altLang="en-US" dirty="0"/>
          </a:p>
        </p:txBody>
      </p:sp>
    </p:spTree>
    <p:extLst>
      <p:ext uri="{BB962C8B-B14F-4D97-AF65-F5344CB8AC3E}">
        <p14:creationId xmlns:p14="http://schemas.microsoft.com/office/powerpoint/2010/main" val="228722755"/>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A5FD58-EAFE-3768-CFD0-D154D2F1A71C}"/>
              </a:ext>
            </a:extLst>
          </p:cNvPr>
          <p:cNvSpPr>
            <a:spLocks noGrp="1"/>
          </p:cNvSpPr>
          <p:nvPr>
            <p:ph type="title"/>
          </p:nvPr>
        </p:nvSpPr>
        <p:spPr/>
        <p:txBody>
          <a:bodyPr/>
          <a:lstStyle/>
          <a:p>
            <a:r>
              <a:rPr lang="ja-JP" altLang="en-US" dirty="0"/>
              <a:t>今後の方針</a:t>
            </a:r>
            <a:endParaRPr kumimoji="1" lang="ja-JP" altLang="en-US" dirty="0"/>
          </a:p>
        </p:txBody>
      </p:sp>
      <p:sp>
        <p:nvSpPr>
          <p:cNvPr id="3" name="コンテンツ プレースホルダー 2">
            <a:extLst>
              <a:ext uri="{FF2B5EF4-FFF2-40B4-BE49-F238E27FC236}">
                <a16:creationId xmlns:a16="http://schemas.microsoft.com/office/drawing/2014/main" id="{60D7BBC3-AE0C-5D51-1200-946D2898C809}"/>
              </a:ext>
            </a:extLst>
          </p:cNvPr>
          <p:cNvSpPr>
            <a:spLocks noGrp="1"/>
          </p:cNvSpPr>
          <p:nvPr>
            <p:ph idx="1"/>
          </p:nvPr>
        </p:nvSpPr>
        <p:spPr>
          <a:xfrm>
            <a:off x="611188" y="1450973"/>
            <a:ext cx="8316912" cy="4725990"/>
          </a:xfrm>
        </p:spPr>
        <p:txBody>
          <a:bodyPr>
            <a:normAutofit/>
          </a:bodyPr>
          <a:lstStyle/>
          <a:p>
            <a:pPr>
              <a:lnSpc>
                <a:spcPct val="150000"/>
              </a:lnSpc>
            </a:pPr>
            <a:r>
              <a:rPr kumimoji="1" lang="ja-JP" altLang="en-US" dirty="0"/>
              <a:t>カメラのキャリブレーションを測定する</a:t>
            </a:r>
            <a:endParaRPr kumimoji="1" lang="en-US" altLang="ja-JP" dirty="0"/>
          </a:p>
          <a:p>
            <a:pPr>
              <a:lnSpc>
                <a:spcPct val="150000"/>
              </a:lnSpc>
            </a:pPr>
            <a:endParaRPr kumimoji="1" lang="ja-JP" altLang="en-US" sz="700" dirty="0"/>
          </a:p>
          <a:p>
            <a:pPr>
              <a:lnSpc>
                <a:spcPct val="150000"/>
              </a:lnSpc>
            </a:pPr>
            <a:r>
              <a:rPr kumimoji="1" lang="ja-JP" altLang="en-US" dirty="0"/>
              <a:t>構築したハードウェアに深度推定手法を実装する</a:t>
            </a:r>
            <a:endParaRPr kumimoji="1" lang="en-US" altLang="ja-JP" dirty="0"/>
          </a:p>
          <a:p>
            <a:pPr>
              <a:lnSpc>
                <a:spcPct val="150000"/>
              </a:lnSpc>
            </a:pPr>
            <a:endParaRPr kumimoji="1" lang="ja-JP" altLang="en-US" sz="700" dirty="0"/>
          </a:p>
          <a:p>
            <a:pPr>
              <a:lnSpc>
                <a:spcPct val="150000"/>
              </a:lnSpc>
            </a:pPr>
            <a:r>
              <a:rPr kumimoji="1" lang="ja-JP" altLang="en-US" dirty="0"/>
              <a:t>直接法に基づく</a:t>
            </a:r>
            <a:r>
              <a:rPr kumimoji="1" lang="en-US" altLang="ja-JP" dirty="0"/>
              <a:t>Visual SLAM</a:t>
            </a:r>
            <a:r>
              <a:rPr kumimoji="1" lang="ja-JP" altLang="en-US" dirty="0"/>
              <a:t>に深度推定手法を組み込み，リアルタイム化を目指す</a:t>
            </a:r>
          </a:p>
          <a:p>
            <a:pPr>
              <a:lnSpc>
                <a:spcPct val="150000"/>
              </a:lnSpc>
            </a:pPr>
            <a:endParaRPr kumimoji="1" lang="ja-JP" altLang="en-US" dirty="0"/>
          </a:p>
        </p:txBody>
      </p:sp>
      <p:sp>
        <p:nvSpPr>
          <p:cNvPr id="4" name="スライド番号プレースホルダー 3">
            <a:extLst>
              <a:ext uri="{FF2B5EF4-FFF2-40B4-BE49-F238E27FC236}">
                <a16:creationId xmlns:a16="http://schemas.microsoft.com/office/drawing/2014/main" id="{309F253B-D128-E484-3E2B-FDC3EE5CB402}"/>
              </a:ext>
            </a:extLst>
          </p:cNvPr>
          <p:cNvSpPr>
            <a:spLocks noGrp="1"/>
          </p:cNvSpPr>
          <p:nvPr>
            <p:ph type="sldNum" sz="quarter" idx="12"/>
          </p:nvPr>
        </p:nvSpPr>
        <p:spPr/>
        <p:txBody>
          <a:bodyPr/>
          <a:lstStyle/>
          <a:p>
            <a:fld id="{673BA9A0-D382-41FB-AB73-7841F3556B1B}" type="slidenum">
              <a:rPr kumimoji="1" lang="ja-JP" altLang="en-US" smtClean="0"/>
              <a:t>12</a:t>
            </a:fld>
            <a:endParaRPr kumimoji="1" lang="ja-JP" altLang="en-US" dirty="0"/>
          </a:p>
        </p:txBody>
      </p:sp>
    </p:spTree>
    <p:extLst>
      <p:ext uri="{BB962C8B-B14F-4D97-AF65-F5344CB8AC3E}">
        <p14:creationId xmlns:p14="http://schemas.microsoft.com/office/powerpoint/2010/main" val="1393935989"/>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29C361A-6601-6045-8B89-B3872C45DE4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0C3986-E2BC-9FFE-95EA-0264A6954AB3}"/>
              </a:ext>
            </a:extLst>
          </p:cNvPr>
          <p:cNvSpPr>
            <a:spLocks noGrp="1"/>
          </p:cNvSpPr>
          <p:nvPr>
            <p:ph type="title"/>
          </p:nvPr>
        </p:nvSpPr>
        <p:spPr/>
        <p:txBody>
          <a:bodyPr/>
          <a:lstStyle/>
          <a:p>
            <a:r>
              <a:rPr kumimoji="1" lang="ja-JP" altLang="en-US" dirty="0"/>
              <a:t>目的</a:t>
            </a:r>
          </a:p>
        </p:txBody>
      </p:sp>
      <p:sp>
        <p:nvSpPr>
          <p:cNvPr id="7" name="スライド番号プレースホルダー 6">
            <a:extLst>
              <a:ext uri="{FF2B5EF4-FFF2-40B4-BE49-F238E27FC236}">
                <a16:creationId xmlns:a16="http://schemas.microsoft.com/office/drawing/2014/main" id="{913B5D72-4C3F-7C5E-89C8-73066467B4C8}"/>
              </a:ext>
            </a:extLst>
          </p:cNvPr>
          <p:cNvSpPr>
            <a:spLocks noGrp="1"/>
          </p:cNvSpPr>
          <p:nvPr>
            <p:ph type="sldNum" sz="quarter" idx="12"/>
          </p:nvPr>
        </p:nvSpPr>
        <p:spPr/>
        <p:txBody>
          <a:bodyPr/>
          <a:lstStyle/>
          <a:p>
            <a:fld id="{673BA9A0-D382-41FB-AB73-7841F3556B1B}" type="slidenum">
              <a:rPr kumimoji="1" lang="ja-JP" altLang="en-US" smtClean="0"/>
              <a:pPr/>
              <a:t>13</a:t>
            </a:fld>
            <a:endParaRPr kumimoji="1" lang="ja-JP" altLang="en-US" dirty="0"/>
          </a:p>
        </p:txBody>
      </p:sp>
      <p:sp>
        <p:nvSpPr>
          <p:cNvPr id="9" name="四角形: 角を丸くする 8">
            <a:extLst>
              <a:ext uri="{FF2B5EF4-FFF2-40B4-BE49-F238E27FC236}">
                <a16:creationId xmlns:a16="http://schemas.microsoft.com/office/drawing/2014/main" id="{FC76F795-9592-71E9-7EF5-C83D197DF9C3}"/>
              </a:ext>
            </a:extLst>
          </p:cNvPr>
          <p:cNvSpPr/>
          <p:nvPr/>
        </p:nvSpPr>
        <p:spPr>
          <a:xfrm>
            <a:off x="492760" y="2485928"/>
            <a:ext cx="8158480" cy="2226942"/>
          </a:xfrm>
          <a:prstGeom prst="round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200" b="1" dirty="0">
                <a:solidFill>
                  <a:schemeClr val="tx1"/>
                </a:solidFill>
              </a:rPr>
              <a:t>GPU</a:t>
            </a:r>
            <a:r>
              <a:rPr lang="ja-JP" altLang="en-US" sz="3200" b="1" dirty="0">
                <a:solidFill>
                  <a:schemeClr val="tx1"/>
                </a:solidFill>
              </a:rPr>
              <a:t>並列処理と親和性の高い直接法による</a:t>
            </a:r>
            <a:br>
              <a:rPr lang="en-US" altLang="ja-JP" sz="3200" b="1" dirty="0">
                <a:solidFill>
                  <a:schemeClr val="tx1"/>
                </a:solidFill>
              </a:rPr>
            </a:br>
            <a:r>
              <a:rPr lang="ja-JP" altLang="en-US" sz="3200" b="1" dirty="0">
                <a:solidFill>
                  <a:schemeClr val="tx1"/>
                </a:solidFill>
              </a:rPr>
              <a:t>深度推定手法を基盤とし，</a:t>
            </a:r>
            <a:br>
              <a:rPr lang="en-US" altLang="ja-JP" sz="3200" b="1" dirty="0">
                <a:solidFill>
                  <a:schemeClr val="tx1"/>
                </a:solidFill>
              </a:rPr>
            </a:br>
            <a:r>
              <a:rPr lang="ja-JP" altLang="en-US" sz="3200" b="1" dirty="0">
                <a:solidFill>
                  <a:srgbClr val="FF0000"/>
                </a:solidFill>
              </a:rPr>
              <a:t>高精度</a:t>
            </a:r>
            <a:r>
              <a:rPr lang="ja-JP" altLang="en-US" sz="3200" b="1" dirty="0">
                <a:solidFill>
                  <a:schemeClr val="tx1"/>
                </a:solidFill>
              </a:rPr>
              <a:t>かつ</a:t>
            </a:r>
            <a:r>
              <a:rPr lang="ja-JP" altLang="en-US" sz="3200" b="1" dirty="0">
                <a:solidFill>
                  <a:srgbClr val="FF0000"/>
                </a:solidFill>
              </a:rPr>
              <a:t>リアルタイム性</a:t>
            </a:r>
            <a:r>
              <a:rPr lang="ja-JP" altLang="en-US" sz="3200" b="1" dirty="0">
                <a:solidFill>
                  <a:schemeClr val="tx1"/>
                </a:solidFill>
              </a:rPr>
              <a:t>を両立する</a:t>
            </a:r>
            <a:br>
              <a:rPr lang="en-US" altLang="ja-JP" sz="3200" b="1" dirty="0">
                <a:solidFill>
                  <a:schemeClr val="tx1"/>
                </a:solidFill>
              </a:rPr>
            </a:br>
            <a:r>
              <a:rPr lang="en-US" altLang="ja-JP" sz="3200" b="1" dirty="0">
                <a:solidFill>
                  <a:schemeClr val="tx1"/>
                </a:solidFill>
              </a:rPr>
              <a:t>SLAM</a:t>
            </a:r>
            <a:r>
              <a:rPr lang="ja-JP" altLang="en-US" sz="3200" b="1" dirty="0">
                <a:solidFill>
                  <a:schemeClr val="tx1"/>
                </a:solidFill>
              </a:rPr>
              <a:t>システムの実現を目指す</a:t>
            </a:r>
          </a:p>
        </p:txBody>
      </p:sp>
    </p:spTree>
    <p:extLst>
      <p:ext uri="{BB962C8B-B14F-4D97-AF65-F5344CB8AC3E}">
        <p14:creationId xmlns:p14="http://schemas.microsoft.com/office/powerpoint/2010/main" val="3799054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54895E-F127-97E6-BB3D-D65594467F62}"/>
              </a:ext>
            </a:extLst>
          </p:cNvPr>
          <p:cNvSpPr>
            <a:spLocks noGrp="1"/>
          </p:cNvSpPr>
          <p:nvPr>
            <p:ph type="title"/>
          </p:nvPr>
        </p:nvSpPr>
        <p:spPr>
          <a:xfrm>
            <a:off x="395288" y="368300"/>
            <a:ext cx="8120062" cy="900114"/>
          </a:xfrm>
        </p:spPr>
        <p:txBody>
          <a:bodyPr>
            <a:normAutofit/>
          </a:bodyPr>
          <a:lstStyle/>
          <a:p>
            <a:r>
              <a:rPr kumimoji="1" lang="ja-JP" altLang="en-US" dirty="0"/>
              <a:t>背景２</a:t>
            </a:r>
          </a:p>
        </p:txBody>
      </p:sp>
      <p:sp>
        <p:nvSpPr>
          <p:cNvPr id="3" name="コンテンツ プレースホルダー 2">
            <a:extLst>
              <a:ext uri="{FF2B5EF4-FFF2-40B4-BE49-F238E27FC236}">
                <a16:creationId xmlns:a16="http://schemas.microsoft.com/office/drawing/2014/main" id="{48B86F84-0FEF-392D-4B18-64B0D4394532}"/>
              </a:ext>
            </a:extLst>
          </p:cNvPr>
          <p:cNvSpPr>
            <a:spLocks noGrp="1"/>
          </p:cNvSpPr>
          <p:nvPr>
            <p:ph idx="1"/>
          </p:nvPr>
        </p:nvSpPr>
        <p:spPr>
          <a:xfrm>
            <a:off x="611188" y="1450973"/>
            <a:ext cx="8203298" cy="4725990"/>
          </a:xfrm>
        </p:spPr>
        <p:txBody>
          <a:bodyPr>
            <a:normAutofit lnSpcReduction="10000"/>
          </a:bodyPr>
          <a:lstStyle/>
          <a:p>
            <a:pPr marL="0" indent="0">
              <a:buNone/>
            </a:pPr>
            <a:r>
              <a:rPr lang="en-US" altLang="ja-JP" dirty="0"/>
              <a:t>SLAM</a:t>
            </a:r>
            <a:r>
              <a:rPr lang="ja-JP" altLang="en-US" dirty="0"/>
              <a:t>（</a:t>
            </a:r>
            <a:r>
              <a:rPr lang="en-US" altLang="ja-JP" dirty="0"/>
              <a:t>Simultaneous Localization and Mapping</a:t>
            </a:r>
            <a:r>
              <a:rPr lang="ja-JP" altLang="en-US" dirty="0"/>
              <a:t>）</a:t>
            </a:r>
            <a:br>
              <a:rPr lang="en-US" altLang="ja-JP" sz="2400" dirty="0"/>
            </a:br>
            <a:r>
              <a:rPr lang="en-US" altLang="ja-JP" sz="2400" dirty="0"/>
              <a:t>-</a:t>
            </a:r>
            <a:r>
              <a:rPr lang="ja-JP" altLang="en-US" sz="2400" dirty="0"/>
              <a:t>地図作成と自己位置推定を同時に行う技術</a:t>
            </a:r>
            <a:endParaRPr lang="en-US" altLang="ja-JP" sz="2400" dirty="0"/>
          </a:p>
          <a:p>
            <a:endParaRPr lang="en-US" altLang="ja-JP" dirty="0"/>
          </a:p>
          <a:p>
            <a:r>
              <a:rPr lang="en-US" altLang="ja-JP" dirty="0"/>
              <a:t>LiDAR SLAM</a:t>
            </a:r>
          </a:p>
          <a:p>
            <a:pPr marL="0" indent="0">
              <a:buNone/>
            </a:pPr>
            <a:r>
              <a:rPr lang="en-US" altLang="ja-JP" sz="2400" dirty="0"/>
              <a:t>-LIDAR</a:t>
            </a:r>
            <a:r>
              <a:rPr lang="ja-JP" altLang="en-US" sz="2400" dirty="0"/>
              <a:t>というセンサを用いる</a:t>
            </a:r>
            <a:r>
              <a:rPr lang="en-US" altLang="ja-JP" sz="2400" dirty="0"/>
              <a:t>SLAM</a:t>
            </a:r>
          </a:p>
          <a:p>
            <a:pPr lvl="1"/>
            <a:r>
              <a:rPr lang="ja-JP" altLang="en-US" b="0" dirty="0"/>
              <a:t>高精度だがセンサが高価</a:t>
            </a:r>
            <a:endParaRPr lang="en-US" altLang="ja-JP" b="0" dirty="0"/>
          </a:p>
          <a:p>
            <a:r>
              <a:rPr lang="en-US" altLang="ja-JP" dirty="0"/>
              <a:t>Visual</a:t>
            </a:r>
            <a:r>
              <a:rPr lang="ja-JP" altLang="en-US" dirty="0"/>
              <a:t> </a:t>
            </a:r>
            <a:r>
              <a:rPr lang="en-US" altLang="ja-JP" dirty="0"/>
              <a:t>SLAM</a:t>
            </a:r>
            <a:r>
              <a:rPr lang="ja-JP" altLang="en-US" dirty="0"/>
              <a:t>（カメラベース</a:t>
            </a:r>
            <a:r>
              <a:rPr lang="en-US" altLang="ja-JP" dirty="0"/>
              <a:t>SLAM</a:t>
            </a:r>
            <a:r>
              <a:rPr lang="ja-JP" altLang="en-US" dirty="0"/>
              <a:t>）</a:t>
            </a:r>
            <a:br>
              <a:rPr lang="en-US" altLang="ja-JP" dirty="0"/>
            </a:br>
            <a:r>
              <a:rPr lang="en-US" altLang="ja-JP" dirty="0"/>
              <a:t>-</a:t>
            </a:r>
            <a:r>
              <a:rPr lang="ja-JP" altLang="en-US" sz="2400" dirty="0"/>
              <a:t>カメラ画像から特徴点や画素情報を用いる</a:t>
            </a:r>
            <a:r>
              <a:rPr lang="en-US" altLang="ja-JP" sz="2400" dirty="0"/>
              <a:t>SLAM</a:t>
            </a:r>
          </a:p>
          <a:p>
            <a:pPr lvl="1"/>
            <a:r>
              <a:rPr lang="ja-JP" altLang="en-US" b="0" dirty="0"/>
              <a:t>安価・軽量で実装しやすい</a:t>
            </a:r>
            <a:endParaRPr lang="en-US" altLang="ja-JP" b="0" dirty="0"/>
          </a:p>
          <a:p>
            <a:pPr lvl="1"/>
            <a:r>
              <a:rPr lang="ja-JP" altLang="en-US" b="0" dirty="0"/>
              <a:t>計算効率が重要な課題</a:t>
            </a:r>
            <a:endParaRPr lang="en-US" altLang="ja-JP" b="0" dirty="0"/>
          </a:p>
          <a:p>
            <a:pPr marL="0" indent="0">
              <a:buNone/>
            </a:pPr>
            <a:endParaRPr lang="en-US" altLang="ja-JP" dirty="0"/>
          </a:p>
          <a:p>
            <a:pPr marL="0" indent="0">
              <a:buNone/>
            </a:pPr>
            <a:endParaRPr lang="en-US" altLang="ja-JP" dirty="0"/>
          </a:p>
        </p:txBody>
      </p:sp>
      <p:sp>
        <p:nvSpPr>
          <p:cNvPr id="4" name="スライド番号プレースホルダー 3">
            <a:extLst>
              <a:ext uri="{FF2B5EF4-FFF2-40B4-BE49-F238E27FC236}">
                <a16:creationId xmlns:a16="http://schemas.microsoft.com/office/drawing/2014/main" id="{4E998F65-3DB7-4881-2E56-9614B35F8134}"/>
              </a:ext>
            </a:extLst>
          </p:cNvPr>
          <p:cNvSpPr>
            <a:spLocks noGrp="1"/>
          </p:cNvSpPr>
          <p:nvPr>
            <p:ph type="sldNum" sz="quarter" idx="12"/>
          </p:nvPr>
        </p:nvSpPr>
        <p:spPr/>
        <p:txBody>
          <a:bodyPr/>
          <a:lstStyle/>
          <a:p>
            <a:fld id="{673BA9A0-D382-41FB-AB73-7841F3556B1B}" type="slidenum">
              <a:rPr kumimoji="1" lang="ja-JP" altLang="en-US" smtClean="0"/>
              <a:t>14</a:t>
            </a:fld>
            <a:endParaRPr kumimoji="1" lang="ja-JP" altLang="en-US" dirty="0"/>
          </a:p>
        </p:txBody>
      </p:sp>
      <p:sp>
        <p:nvSpPr>
          <p:cNvPr id="6" name="テキスト ボックス 5">
            <a:extLst>
              <a:ext uri="{FF2B5EF4-FFF2-40B4-BE49-F238E27FC236}">
                <a16:creationId xmlns:a16="http://schemas.microsoft.com/office/drawing/2014/main" id="{14A1973D-5AEA-160A-AE92-E617E1C3238F}"/>
              </a:ext>
            </a:extLst>
          </p:cNvPr>
          <p:cNvSpPr txBox="1"/>
          <p:nvPr/>
        </p:nvSpPr>
        <p:spPr>
          <a:xfrm>
            <a:off x="-75063" y="3551246"/>
            <a:ext cx="184731" cy="369332"/>
          </a:xfrm>
          <a:prstGeom prst="rect">
            <a:avLst/>
          </a:prstGeom>
          <a:noFill/>
        </p:spPr>
        <p:txBody>
          <a:bodyPr wrap="none" rtlCol="0">
            <a:spAutoFit/>
          </a:bodyPr>
          <a:lstStyle/>
          <a:p>
            <a:endParaRPr kumimoji="1" lang="ja-JP" altLang="en-US" dirty="0"/>
          </a:p>
        </p:txBody>
      </p:sp>
    </p:spTree>
    <p:extLst>
      <p:ext uri="{BB962C8B-B14F-4D97-AF65-F5344CB8AC3E}">
        <p14:creationId xmlns:p14="http://schemas.microsoft.com/office/powerpoint/2010/main" val="3680496258"/>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14061</TotalTime>
  <Words>1540</Words>
  <Application>Microsoft Office PowerPoint</Application>
  <PresentationFormat>画面に合わせる (4:3)</PresentationFormat>
  <Paragraphs>166</Paragraphs>
  <Slides>14</Slides>
  <Notes>11</Notes>
  <HiddenSlides>2</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14</vt:i4>
      </vt:variant>
    </vt:vector>
  </HeadingPairs>
  <TitlesOfParts>
    <vt:vector size="20" baseType="lpstr">
      <vt:lpstr>游ゴシック</vt:lpstr>
      <vt:lpstr>游ゴシック Medium</vt:lpstr>
      <vt:lpstr>Aptos</vt:lpstr>
      <vt:lpstr>Arial</vt:lpstr>
      <vt:lpstr>Wingdings</vt:lpstr>
      <vt:lpstr>Office テーマ</vt:lpstr>
      <vt:lpstr>4つの魚眼カメラを用いたVisual-SLAMに関する研究</vt:lpstr>
      <vt:lpstr>背景</vt:lpstr>
      <vt:lpstr>Visual SLAM</vt:lpstr>
      <vt:lpstr>課題と目的</vt:lpstr>
      <vt:lpstr>ハードウェア構成</vt:lpstr>
      <vt:lpstr>深度推定の原理</vt:lpstr>
      <vt:lpstr>深度推定の原理</vt:lpstr>
      <vt:lpstr>深度推定の原理</vt:lpstr>
      <vt:lpstr>カラー画像を深度画像に変換</vt:lpstr>
      <vt:lpstr>結果</vt:lpstr>
      <vt:lpstr>まとめ</vt:lpstr>
      <vt:lpstr>今後の方針</vt:lpstr>
      <vt:lpstr>目的</vt:lpstr>
      <vt:lpstr>背景２</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TAKAGISHI Tsukasa</dc:creator>
  <cp:lastModifiedBy>TAKAGISHI Tsukasa</cp:lastModifiedBy>
  <cp:revision>657</cp:revision>
  <cp:lastPrinted>2025-12-16T06:15:37Z</cp:lastPrinted>
  <dcterms:created xsi:type="dcterms:W3CDTF">2025-10-17T07:11:31Z</dcterms:created>
  <dcterms:modified xsi:type="dcterms:W3CDTF">2025-12-24T04:17:33Z</dcterms:modified>
</cp:coreProperties>
</file>