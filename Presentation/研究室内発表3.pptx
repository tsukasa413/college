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309" r:id="rId4"/>
    <p:sldId id="260" r:id="rId5"/>
    <p:sldId id="332" r:id="rId6"/>
    <p:sldId id="344" r:id="rId7"/>
    <p:sldId id="348" r:id="rId8"/>
    <p:sldId id="346" r:id="rId9"/>
    <p:sldId id="315" r:id="rId10"/>
    <p:sldId id="316" r:id="rId11"/>
    <p:sldId id="334" r:id="rId12"/>
    <p:sldId id="337" r:id="rId13"/>
    <p:sldId id="331" r:id="rId14"/>
    <p:sldId id="325" r:id="rId15"/>
    <p:sldId id="327" r:id="rId16"/>
    <p:sldId id="328" r:id="rId17"/>
    <p:sldId id="329" r:id="rId18"/>
  </p:sldIdLst>
  <p:sldSz cx="9144000" cy="6858000" type="screen4x3"/>
  <p:notesSz cx="10234613" cy="71040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35" userDrawn="1">
          <p15:clr>
            <a:srgbClr val="A4A3A4"/>
          </p15:clr>
        </p15:guide>
        <p15:guide id="2" pos="1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11" autoAdjust="0"/>
    <p:restoredTop sz="77211" autoAdjust="0"/>
  </p:normalViewPr>
  <p:slideViewPr>
    <p:cSldViewPr snapToGrid="0" showGuides="1">
      <p:cViewPr varScale="1">
        <p:scale>
          <a:sx n="57" d="100"/>
          <a:sy n="57" d="100"/>
        </p:scale>
        <p:origin x="1740" y="45"/>
      </p:cViewPr>
      <p:guideLst>
        <p:guide orient="horz" pos="3135"/>
        <p:guide pos="1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434999" cy="356437"/>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5797246" y="0"/>
            <a:ext cx="4434999" cy="356437"/>
          </a:xfrm>
          <a:prstGeom prst="rect">
            <a:avLst/>
          </a:prstGeom>
        </p:spPr>
        <p:txBody>
          <a:bodyPr vert="horz" lIns="99075" tIns="49538" rIns="99075" bIns="49538" rtlCol="0"/>
          <a:lstStyle>
            <a:lvl1pPr algn="r">
              <a:defRPr sz="1300"/>
            </a:lvl1pPr>
          </a:lstStyle>
          <a:p>
            <a:fld id="{2B37D1C6-C1CD-455D-BE18-CACF56AF0CED}" type="datetimeFigureOut">
              <a:rPr kumimoji="1" lang="ja-JP" altLang="en-US" smtClean="0"/>
              <a:t>2025/12/16</a:t>
            </a:fld>
            <a:endParaRPr kumimoji="1" lang="ja-JP" altLang="en-US"/>
          </a:p>
        </p:txBody>
      </p:sp>
      <p:sp>
        <p:nvSpPr>
          <p:cNvPr id="4" name="スライド イメージ プレースホルダー 3"/>
          <p:cNvSpPr>
            <a:spLocks noGrp="1" noRot="1" noChangeAspect="1"/>
          </p:cNvSpPr>
          <p:nvPr>
            <p:ph type="sldImg" idx="2"/>
          </p:nvPr>
        </p:nvSpPr>
        <p:spPr>
          <a:xfrm>
            <a:off x="3517900" y="887413"/>
            <a:ext cx="3198813" cy="2398712"/>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1023462" y="3418830"/>
            <a:ext cx="8187690" cy="2797225"/>
          </a:xfrm>
          <a:prstGeom prst="rect">
            <a:avLst/>
          </a:prstGeom>
        </p:spPr>
        <p:txBody>
          <a:bodyPr vert="horz" lIns="99075" tIns="49538" rIns="99075" bIns="4953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747628"/>
            <a:ext cx="4434999" cy="356436"/>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5797246" y="6747628"/>
            <a:ext cx="4434999" cy="356436"/>
          </a:xfrm>
          <a:prstGeom prst="rect">
            <a:avLst/>
          </a:prstGeom>
        </p:spPr>
        <p:txBody>
          <a:bodyPr vert="horz" lIns="99075" tIns="49538" rIns="99075" bIns="49538" rtlCol="0" anchor="b"/>
          <a:lstStyle>
            <a:lvl1pPr algn="r">
              <a:defRPr sz="1300"/>
            </a:lvl1pPr>
          </a:lstStyle>
          <a:p>
            <a:fld id="{4E170B34-5CB9-4F28-95F7-58933E9937F4}" type="slidenum">
              <a:rPr kumimoji="1" lang="ja-JP" altLang="en-US" smtClean="0"/>
              <a:t>‹#›</a:t>
            </a:fld>
            <a:endParaRPr kumimoji="1" lang="ja-JP" altLang="en-US"/>
          </a:p>
        </p:txBody>
      </p:sp>
    </p:spTree>
    <p:extLst>
      <p:ext uri="{BB962C8B-B14F-4D97-AF65-F5344CB8AC3E}">
        <p14:creationId xmlns:p14="http://schemas.microsoft.com/office/powerpoint/2010/main" val="20277559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システム制御工学室の髙岸司です．</a:t>
            </a:r>
            <a:br>
              <a:rPr kumimoji="1" lang="en-US" altLang="ja-JP" dirty="0"/>
            </a:br>
            <a:r>
              <a:rPr lang="en-US" altLang="ja-JP" sz="1300" dirty="0"/>
              <a:t>4</a:t>
            </a:r>
            <a:r>
              <a:rPr lang="ja-JP" altLang="en-US" sz="1300" dirty="0"/>
              <a:t>つの魚眼カメラで生成したパノラマ深さ画像を用いた</a:t>
            </a:r>
            <a:r>
              <a:rPr lang="en-US" altLang="ja-JP" sz="1300" dirty="0"/>
              <a:t>SLAM</a:t>
            </a:r>
            <a:r>
              <a:rPr lang="ja-JP" altLang="en-US" sz="1300" dirty="0"/>
              <a:t>に関する研究について説明します．</a:t>
            </a:r>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a:t>
            </a:fld>
            <a:endParaRPr kumimoji="1" lang="ja-JP" altLang="en-US"/>
          </a:p>
        </p:txBody>
      </p:sp>
    </p:spTree>
    <p:extLst>
      <p:ext uri="{BB962C8B-B14F-4D97-AF65-F5344CB8AC3E}">
        <p14:creationId xmlns:p14="http://schemas.microsoft.com/office/powerpoint/2010/main" val="16993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SLAM</a:t>
            </a:r>
            <a:r>
              <a:rPr kumimoji="1" lang="ja-JP" altLang="en-US" dirty="0"/>
              <a:t>は未知環境でのロボットの自律移動や</a:t>
            </a:r>
            <a:r>
              <a:rPr kumimoji="1" lang="en-US" altLang="ja-JP" dirty="0"/>
              <a:t>XR/AR</a:t>
            </a:r>
            <a:r>
              <a:rPr kumimoji="1" lang="ja-JP" altLang="en-US" dirty="0"/>
              <a:t>に用いられる技術です．</a:t>
            </a:r>
            <a:endParaRPr kumimoji="1" lang="en-US" altLang="ja-JP" dirty="0"/>
          </a:p>
          <a:p>
            <a:r>
              <a:rPr kumimoji="1" lang="ja-JP" altLang="en-US" dirty="0"/>
              <a:t>使うセンサによって従来は大きく</a:t>
            </a:r>
            <a:r>
              <a:rPr kumimoji="1" lang="en-US" altLang="ja-JP" dirty="0"/>
              <a:t>2</a:t>
            </a:r>
            <a:r>
              <a:rPr kumimoji="1" lang="ja-JP" altLang="en-US" dirty="0"/>
              <a:t>つの方法が主流でした．</a:t>
            </a:r>
            <a:endParaRPr kumimoji="1" lang="en-US" altLang="ja-JP" dirty="0"/>
          </a:p>
          <a:p>
            <a:r>
              <a:rPr kumimoji="1" lang="ja-JP" altLang="en-US" dirty="0"/>
              <a:t>一つ目は</a:t>
            </a:r>
            <a:r>
              <a:rPr kumimoji="1" lang="en-US" altLang="ja-JP" dirty="0"/>
              <a:t>LIDAR-SLAM</a:t>
            </a:r>
            <a:r>
              <a:rPr kumimoji="1" lang="ja-JP" altLang="en-US" dirty="0"/>
              <a:t>です．</a:t>
            </a:r>
          </a:p>
          <a:p>
            <a:r>
              <a:rPr kumimoji="1" lang="ja-JP" altLang="en-US" dirty="0"/>
              <a:t>この方法は比較的高性能ですが，この</a:t>
            </a:r>
            <a:r>
              <a:rPr kumimoji="1" lang="en-US" altLang="ja-JP" dirty="0"/>
              <a:t>LIDAR</a:t>
            </a:r>
            <a:r>
              <a:rPr kumimoji="1" lang="ja-JP" altLang="en-US" dirty="0"/>
              <a:t>というセンサが高価で重いため設置自由度が低く，また消費電力が高いのもデメリットです．</a:t>
            </a:r>
            <a:endParaRPr kumimoji="1" lang="en-US" altLang="ja-JP" dirty="0"/>
          </a:p>
          <a:p>
            <a:r>
              <a:rPr kumimoji="1" lang="ja-JP" altLang="en-US" dirty="0"/>
              <a:t>二つ目は単眼</a:t>
            </a:r>
            <a:r>
              <a:rPr kumimoji="1" lang="en-US" altLang="ja-JP" dirty="0"/>
              <a:t>/</a:t>
            </a:r>
            <a:r>
              <a:rPr kumimoji="1" lang="ja-JP" altLang="en-US" dirty="0"/>
              <a:t>ステレオカメラ</a:t>
            </a:r>
            <a:r>
              <a:rPr kumimoji="1" lang="en-US" altLang="ja-JP" dirty="0"/>
              <a:t>SLAM</a:t>
            </a:r>
            <a:r>
              <a:rPr kumimoji="1" lang="ja-JP" altLang="en-US" dirty="0"/>
              <a:t>です．</a:t>
            </a:r>
            <a:endParaRPr kumimoji="1" lang="en-US" altLang="ja-JP" dirty="0"/>
          </a:p>
          <a:p>
            <a:pPr defTabSz="990752">
              <a:defRPr/>
            </a:pPr>
            <a:r>
              <a:rPr kumimoji="1" lang="ja-JP" altLang="en-US" dirty="0"/>
              <a:t>このセンサは</a:t>
            </a:r>
            <a:r>
              <a:rPr lang="ja-JP" altLang="en-US" dirty="0"/>
              <a:t>安価で軽量，設置自由度が高い</a:t>
            </a:r>
            <a:r>
              <a:rPr kumimoji="1" lang="ja-JP" altLang="en-US" dirty="0"/>
              <a:t>ですが，</a:t>
            </a:r>
            <a:r>
              <a:rPr lang="ja-JP" altLang="en-US" dirty="0">
                <a:solidFill>
                  <a:srgbClr val="FF0000"/>
                </a:solidFill>
              </a:rPr>
              <a:t>視野が狭く特徴点が少ない環境で精度が低下します．</a:t>
            </a:r>
            <a:endParaRPr lang="en-US" altLang="ja-JP" dirty="0">
              <a:solidFill>
                <a:srgbClr val="FF0000"/>
              </a:solidFill>
            </a:endParaRPr>
          </a:p>
          <a:p>
            <a:pPr defTabSz="990752">
              <a:defRPr/>
            </a:pPr>
            <a:r>
              <a:rPr lang="ja-JP" altLang="en-US" dirty="0">
                <a:solidFill>
                  <a:srgbClr val="FF0000"/>
                </a:solidFill>
              </a:rPr>
              <a:t>この二つ目の手法のデメリットを解決するため，私は超広角カメラによる精度の高い</a:t>
            </a:r>
            <a:r>
              <a:rPr lang="en-US" altLang="ja-JP" dirty="0">
                <a:solidFill>
                  <a:srgbClr val="FF0000"/>
                </a:solidFill>
              </a:rPr>
              <a:t>SLAM</a:t>
            </a:r>
            <a:r>
              <a:rPr lang="ja-JP" altLang="en-US" dirty="0">
                <a:solidFill>
                  <a:srgbClr val="FF0000"/>
                </a:solidFill>
              </a:rPr>
              <a:t>を目標とします．</a:t>
            </a:r>
            <a:endParaRPr lang="en-US" altLang="ja-JP" dirty="0">
              <a:solidFill>
                <a:srgbClr val="FF0000"/>
              </a:solidFill>
            </a:endParaRPr>
          </a:p>
          <a:p>
            <a:pPr defTabSz="990752">
              <a:defRPr/>
            </a:pPr>
            <a:r>
              <a:rPr lang="ja-JP" altLang="en-US" dirty="0">
                <a:solidFill>
                  <a:srgbClr val="FF0000"/>
                </a:solidFill>
              </a:rPr>
              <a:t>それでは，次のスライドでは</a:t>
            </a:r>
            <a:r>
              <a:rPr lang="en-US" altLang="ja-JP" dirty="0">
                <a:solidFill>
                  <a:srgbClr val="FF0000"/>
                </a:solidFill>
              </a:rPr>
              <a:t>SLAM</a:t>
            </a:r>
            <a:r>
              <a:rPr lang="ja-JP" altLang="en-US" dirty="0">
                <a:solidFill>
                  <a:srgbClr val="FF0000"/>
                </a:solidFill>
              </a:rPr>
              <a:t>の説明させていただきます．</a:t>
            </a:r>
            <a:endParaRPr lang="en-US" altLang="ja-JP"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2</a:t>
            </a:fld>
            <a:endParaRPr kumimoji="1" lang="ja-JP" altLang="en-US"/>
          </a:p>
        </p:txBody>
      </p:sp>
    </p:spTree>
    <p:extLst>
      <p:ext uri="{BB962C8B-B14F-4D97-AF65-F5344CB8AC3E}">
        <p14:creationId xmlns:p14="http://schemas.microsoft.com/office/powerpoint/2010/main" val="3733362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SLAM</a:t>
            </a:r>
            <a:r>
              <a:rPr kumimoji="1" lang="ja-JP" altLang="en-US" dirty="0"/>
              <a:t>とは先ほど申し上げた通り未知環境下で自己位置推定と地図作成を同時に行う技術です．</a:t>
            </a:r>
            <a:br>
              <a:rPr kumimoji="1" lang="en-US" altLang="ja-JP" dirty="0"/>
            </a:br>
            <a:r>
              <a:rPr kumimoji="1" lang="ja-JP" altLang="en-US" dirty="0"/>
              <a:t>端的に言うと自分がどこにいるかを認識するための技術になります．</a:t>
            </a:r>
            <a:endParaRPr kumimoji="1" lang="en-US" altLang="ja-JP" dirty="0"/>
          </a:p>
          <a:p>
            <a:r>
              <a:rPr kumimoji="1" lang="en-US" altLang="ja-JP" dirty="0"/>
              <a:t>SLAM</a:t>
            </a:r>
            <a:r>
              <a:rPr kumimoji="1" lang="ja-JP" altLang="en-US" dirty="0"/>
              <a:t>の技術は切り分けると</a:t>
            </a:r>
            <a:r>
              <a:rPr kumimoji="1" lang="en-US" altLang="ja-JP" dirty="0"/>
              <a:t>3</a:t>
            </a:r>
            <a:r>
              <a:rPr kumimoji="1" lang="ja-JP" altLang="en-US" dirty="0"/>
              <a:t>つに分かれます．</a:t>
            </a:r>
            <a:endParaRPr kumimoji="1" lang="en-US" altLang="ja-JP" dirty="0"/>
          </a:p>
          <a:p>
            <a:r>
              <a:rPr kumimoji="1" lang="ja-JP" altLang="en-US" dirty="0"/>
              <a:t>まず最初にセンサで観測することで周囲の環境を把握します．未知環境では人は周りを見渡しながら次の行動をとると思いますが，ロボットにとってはこれが周囲を見渡すことにあたります．</a:t>
            </a:r>
            <a:endParaRPr kumimoji="1" lang="en-US" altLang="ja-JP" dirty="0"/>
          </a:p>
          <a:p>
            <a:r>
              <a:rPr kumimoji="1" lang="ja-JP" altLang="en-US" dirty="0"/>
              <a:t>次に観測して蓄積された情報を元につなぎ合わせて地図を作成します．</a:t>
            </a:r>
            <a:br>
              <a:rPr kumimoji="1" lang="en-US" altLang="ja-JP" dirty="0"/>
            </a:br>
            <a:r>
              <a:rPr kumimoji="1" lang="ja-JP" altLang="en-US" dirty="0"/>
              <a:t>最後に自身が作成した地図において自分がどこにいるかを推定します．</a:t>
            </a:r>
            <a:endParaRPr kumimoji="1" lang="en-US" altLang="ja-JP" dirty="0"/>
          </a:p>
          <a:p>
            <a:r>
              <a:rPr kumimoji="1" lang="ja-JP" altLang="en-US" dirty="0"/>
              <a:t>これら</a:t>
            </a:r>
            <a:r>
              <a:rPr kumimoji="1" lang="en-US" altLang="ja-JP" dirty="0"/>
              <a:t>3</a:t>
            </a:r>
            <a:r>
              <a:rPr kumimoji="1" lang="ja-JP" altLang="en-US" dirty="0"/>
              <a:t>つを同時並行で行い，リアルタイムで自分がどこにいるかを認識する技術が</a:t>
            </a:r>
            <a:r>
              <a:rPr kumimoji="1" lang="en-US" altLang="ja-JP" dirty="0"/>
              <a:t>SLAM</a:t>
            </a:r>
            <a:r>
              <a:rPr kumimoji="1" lang="ja-JP" altLang="en-US" dirty="0"/>
              <a:t>になります．</a:t>
            </a:r>
            <a:endParaRPr kumimoji="1" lang="en-US" altLang="ja-JP" dirty="0"/>
          </a:p>
          <a:p>
            <a:r>
              <a:rPr kumimoji="1" lang="ja-JP" altLang="en-US" dirty="0"/>
              <a:t>私はこのセンサで観測するという部分を工夫しようと考えております．</a:t>
            </a:r>
            <a:endParaRPr kumimoji="1" lang="en-US" altLang="ja-JP"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3</a:t>
            </a:fld>
            <a:endParaRPr kumimoji="1" lang="ja-JP" altLang="en-US"/>
          </a:p>
        </p:txBody>
      </p:sp>
    </p:spTree>
    <p:extLst>
      <p:ext uri="{BB962C8B-B14F-4D97-AF65-F5344CB8AC3E}">
        <p14:creationId xmlns:p14="http://schemas.microsoft.com/office/powerpoint/2010/main" val="3639439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990752">
              <a:defRPr/>
            </a:pPr>
            <a:r>
              <a:rPr kumimoji="1" lang="ja-JP" altLang="en-US" dirty="0"/>
              <a:t>今回使用するハードウェア構成について説明します．</a:t>
            </a:r>
            <a:br>
              <a:rPr kumimoji="1" lang="en-US" altLang="ja-JP" dirty="0"/>
            </a:br>
            <a:r>
              <a:rPr kumimoji="1" lang="ja-JP" altLang="en-US" dirty="0"/>
              <a:t>大きく</a:t>
            </a:r>
            <a:r>
              <a:rPr kumimoji="1" lang="en-US" altLang="ja-JP" dirty="0"/>
              <a:t>3</a:t>
            </a:r>
            <a:r>
              <a:rPr kumimoji="1" lang="ja-JP" altLang="en-US" dirty="0"/>
              <a:t>つのパーツに分かれており，一つ目が</a:t>
            </a:r>
            <a:r>
              <a:rPr kumimoji="1" lang="en-US" altLang="ja-JP" dirty="0" err="1"/>
              <a:t>JetsonAGXOrin</a:t>
            </a:r>
            <a:r>
              <a:rPr kumimoji="1" lang="ja-JP" altLang="en-US" dirty="0"/>
              <a:t>．</a:t>
            </a:r>
            <a:br>
              <a:rPr kumimoji="1" lang="en-US" altLang="ja-JP" dirty="0"/>
            </a:br>
            <a:r>
              <a:rPr lang="ja-JP" altLang="en-US" dirty="0"/>
              <a:t>小型で高性能な組み込み</a:t>
            </a:r>
            <a:r>
              <a:rPr lang="en-US" altLang="ja-JP" dirty="0"/>
              <a:t>AI</a:t>
            </a:r>
            <a:r>
              <a:rPr lang="ja-JP" altLang="en-US" dirty="0"/>
              <a:t>コンピューティングプラットフォームです．</a:t>
            </a:r>
            <a:endParaRPr lang="en-US" altLang="ja-JP" dirty="0"/>
          </a:p>
          <a:p>
            <a:pPr defTabSz="990752">
              <a:defRPr/>
            </a:pPr>
            <a:r>
              <a:rPr lang="ja-JP" altLang="en-US" dirty="0"/>
              <a:t>二つ目が魚眼カメラ．約</a:t>
            </a:r>
            <a:r>
              <a:rPr lang="en-US" altLang="ja-JP" dirty="0"/>
              <a:t>220°</a:t>
            </a:r>
            <a:r>
              <a:rPr lang="ja-JP" altLang="en-US" dirty="0"/>
              <a:t>の視野角を持ち，上段</a:t>
            </a:r>
            <a:r>
              <a:rPr lang="en-US" altLang="ja-JP" dirty="0"/>
              <a:t>2</a:t>
            </a:r>
            <a:r>
              <a:rPr lang="ja-JP" altLang="en-US" dirty="0"/>
              <a:t>つ下段</a:t>
            </a:r>
            <a:r>
              <a:rPr lang="en-US" altLang="ja-JP" dirty="0"/>
              <a:t>2</a:t>
            </a:r>
            <a:r>
              <a:rPr lang="ja-JP" altLang="en-US" dirty="0"/>
              <a:t>つに四方に向くように配置します．</a:t>
            </a:r>
            <a:endParaRPr lang="en-US" altLang="ja-JP" dirty="0"/>
          </a:p>
          <a:p>
            <a:pPr defTabSz="990752">
              <a:defRPr/>
            </a:pPr>
            <a:r>
              <a:rPr lang="en-US" altLang="ja-JP" dirty="0"/>
              <a:t>3</a:t>
            </a:r>
            <a:r>
              <a:rPr lang="ja-JP" altLang="en-US" dirty="0"/>
              <a:t>つ目がカメラを固定するためのカメラフレームです．これは</a:t>
            </a:r>
            <a:r>
              <a:rPr lang="en-US" altLang="ja-JP" dirty="0"/>
              <a:t>3D</a:t>
            </a:r>
            <a:r>
              <a:rPr lang="ja-JP" altLang="en-US" dirty="0"/>
              <a:t>プリンターで作成しました．</a:t>
            </a:r>
            <a:endParaRPr lang="en-US" altLang="ja-JP" dirty="0"/>
          </a:p>
          <a:p>
            <a:pPr defTabSz="990752">
              <a:defRPr/>
            </a:pPr>
            <a:r>
              <a:rPr lang="ja-JP" altLang="en-US" dirty="0"/>
              <a:t>これら</a:t>
            </a:r>
            <a:r>
              <a:rPr lang="en-US" altLang="ja-JP" dirty="0"/>
              <a:t>3</a:t>
            </a:r>
            <a:r>
              <a:rPr lang="ja-JP" altLang="en-US" dirty="0"/>
              <a:t>つを組み立てて画像のようなハードウェアを構成します．</a:t>
            </a:r>
            <a:endParaRPr lang="en-US" altLang="ja-JP" dirty="0"/>
          </a:p>
          <a:p>
            <a:pPr defTabSz="990752">
              <a:defRPr/>
            </a:pPr>
            <a:endParaRPr lang="en-US" altLang="ja-JP" dirty="0"/>
          </a:p>
          <a:p>
            <a:pPr defTabSz="990752">
              <a:defRPr/>
            </a:pPr>
            <a:endParaRPr lang="en-US" altLang="ja-JP" dirty="0"/>
          </a:p>
          <a:p>
            <a:pPr defTabSz="990752">
              <a:defRPr/>
            </a:pP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4</a:t>
            </a:fld>
            <a:endParaRPr kumimoji="1" lang="ja-JP" altLang="en-US"/>
          </a:p>
        </p:txBody>
      </p:sp>
    </p:spTree>
    <p:extLst>
      <p:ext uri="{BB962C8B-B14F-4D97-AF65-F5344CB8AC3E}">
        <p14:creationId xmlns:p14="http://schemas.microsoft.com/office/powerpoint/2010/main" val="3302278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こちらは具体的なソフトウェア構成で，大きく二つで構成されます．</a:t>
            </a:r>
            <a:endParaRPr kumimoji="1" lang="en-US" altLang="ja-JP" dirty="0"/>
          </a:p>
          <a:p>
            <a:pPr defTabSz="990752">
              <a:defRPr/>
            </a:pPr>
            <a:r>
              <a:rPr kumimoji="1" lang="ja-JP" altLang="en-US" dirty="0"/>
              <a:t>一つ目は</a:t>
            </a:r>
            <a:r>
              <a:rPr lang="ja-JP" altLang="en-US" dirty="0"/>
              <a:t>魚眼カメラから取得してきた</a:t>
            </a:r>
            <a:r>
              <a:rPr lang="en-US" altLang="ja-JP" dirty="0"/>
              <a:t>4</a:t>
            </a:r>
            <a:r>
              <a:rPr lang="ja-JP" altLang="en-US" dirty="0"/>
              <a:t>枚のカラー画像をパノラマ深度画像に変換するプログラム</a:t>
            </a:r>
            <a:r>
              <a:rPr kumimoji="1" lang="ja-JP" altLang="en-US" dirty="0"/>
              <a:t>です．</a:t>
            </a:r>
            <a:br>
              <a:rPr kumimoji="1" lang="en-US" altLang="ja-JP" dirty="0"/>
            </a:br>
            <a:r>
              <a:rPr lang="ja-JP" altLang="en-US" dirty="0"/>
              <a:t>深度画像とは各ピクセルに距離情報が入ったマップです．</a:t>
            </a:r>
            <a:r>
              <a:rPr lang="en-US" altLang="ja-JP" dirty="0"/>
              <a:t>360°</a:t>
            </a:r>
            <a:r>
              <a:rPr lang="ja-JP" altLang="en-US" dirty="0"/>
              <a:t>をカバーするパノラマ深度画像を作成することで</a:t>
            </a:r>
            <a:br>
              <a:rPr lang="en-US" altLang="ja-JP" dirty="0"/>
            </a:br>
            <a:r>
              <a:rPr lang="ja-JP" altLang="en-US" dirty="0"/>
              <a:t>周囲の</a:t>
            </a:r>
            <a:r>
              <a:rPr lang="en-US" altLang="ja-JP" dirty="0"/>
              <a:t>3</a:t>
            </a:r>
            <a:r>
              <a:rPr lang="ja-JP" altLang="en-US" dirty="0"/>
              <a:t>次元情報を把握することが出来ます．</a:t>
            </a:r>
            <a:endParaRPr lang="en-US" altLang="ja-JP" dirty="0"/>
          </a:p>
          <a:p>
            <a:pPr defTabSz="990752">
              <a:defRPr/>
            </a:pPr>
            <a:r>
              <a:rPr lang="ja-JP" altLang="en-US" dirty="0"/>
              <a:t>二つ目は地図作成と自己位置推定を行うプログラムです．</a:t>
            </a:r>
            <a:endParaRPr lang="en-US" altLang="ja-JP" dirty="0"/>
          </a:p>
          <a:p>
            <a:pPr defTabSz="990752">
              <a:defRPr/>
            </a:pPr>
            <a:r>
              <a:rPr lang="ja-JP" altLang="en-US" dirty="0"/>
              <a:t>こちらは既存のプログラムを活用して，信頼性の高い</a:t>
            </a:r>
            <a:r>
              <a:rPr lang="en-US" altLang="ja-JP" dirty="0"/>
              <a:t>SLAM</a:t>
            </a:r>
            <a:r>
              <a:rPr lang="ja-JP" altLang="en-US" dirty="0"/>
              <a:t>システムを構成する予定です．</a:t>
            </a:r>
          </a:p>
          <a:p>
            <a:pPr defTabSz="990752">
              <a:defRPr/>
            </a:pPr>
            <a:endParaRPr lang="en-US" altLang="ja-JP"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5</a:t>
            </a:fld>
            <a:endParaRPr kumimoji="1" lang="ja-JP" altLang="en-US"/>
          </a:p>
        </p:txBody>
      </p:sp>
    </p:spTree>
    <p:extLst>
      <p:ext uri="{BB962C8B-B14F-4D97-AF65-F5344CB8AC3E}">
        <p14:creationId xmlns:p14="http://schemas.microsoft.com/office/powerpoint/2010/main" val="3953211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4CA3C-3033-E12E-5E03-0DD9963C0C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6D531D-971B-8142-91A8-4B568BFC2523}"/>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ACADABB5-62B1-1B69-25B9-4289CD8024E3}"/>
              </a:ext>
            </a:extLst>
          </p:cNvPr>
          <p:cNvSpPr>
            <a:spLocks noGrp="1"/>
          </p:cNvSpPr>
          <p:nvPr>
            <p:ph type="body" idx="1"/>
          </p:nvPr>
        </p:nvSpPr>
        <p:spPr/>
        <p:txBody>
          <a:bodyPr/>
          <a:lstStyle/>
          <a:p>
            <a:r>
              <a:rPr kumimoji="1" lang="ja-JP" altLang="en-US" dirty="0"/>
              <a:t>構築するプログラムのアルゴリズムについて改めて説明させていただきます．</a:t>
            </a:r>
            <a:endParaRPr kumimoji="1" lang="en-US" altLang="ja-JP" dirty="0"/>
          </a:p>
          <a:p>
            <a:r>
              <a:rPr kumimoji="1" lang="ja-JP" altLang="en-US" dirty="0"/>
              <a:t>こちらは先ほど説明したハードウェアを表した図です．</a:t>
            </a:r>
            <a:endParaRPr kumimoji="1" lang="en-US" altLang="ja-JP" dirty="0"/>
          </a:p>
          <a:p>
            <a:r>
              <a:rPr kumimoji="1" lang="ja-JP" altLang="en-US" dirty="0"/>
              <a:t>この扇形が魚眼カメラを表していて，かつその魚眼レンズの視野を表しています．</a:t>
            </a:r>
            <a:endParaRPr kumimoji="1" lang="en-US" altLang="ja-JP" dirty="0"/>
          </a:p>
          <a:p>
            <a:r>
              <a:rPr kumimoji="1" lang="ja-JP" altLang="en-US" dirty="0"/>
              <a:t>この画像は実際に研究室を撮影した写真です．</a:t>
            </a:r>
            <a:endParaRPr kumimoji="1" lang="en-US" altLang="ja-JP" dirty="0"/>
          </a:p>
          <a:p>
            <a:r>
              <a:rPr kumimoji="1" lang="ja-JP" altLang="en-US" dirty="0"/>
              <a:t>ある画像の深度を取得するためには二つのカメラに写っている必要があります．</a:t>
            </a:r>
            <a:endParaRPr kumimoji="1" lang="en-US" altLang="ja-JP" dirty="0"/>
          </a:p>
          <a:p>
            <a:r>
              <a:rPr kumimoji="1" lang="ja-JP" altLang="en-US" dirty="0"/>
              <a:t>今回青のカメラを基準カメラ，赤のカメラを補助カメラとして説明していきます．</a:t>
            </a:r>
            <a:endParaRPr kumimoji="1" lang="en-US" altLang="ja-JP" dirty="0"/>
          </a:p>
        </p:txBody>
      </p:sp>
      <p:sp>
        <p:nvSpPr>
          <p:cNvPr id="4" name="スライド番号プレースホルダー 3">
            <a:extLst>
              <a:ext uri="{FF2B5EF4-FFF2-40B4-BE49-F238E27FC236}">
                <a16:creationId xmlns:a16="http://schemas.microsoft.com/office/drawing/2014/main" id="{60C3BE54-0EF0-4F98-62EC-8D0DE4CD2CBA}"/>
              </a:ext>
            </a:extLst>
          </p:cNvPr>
          <p:cNvSpPr>
            <a:spLocks noGrp="1"/>
          </p:cNvSpPr>
          <p:nvPr>
            <p:ph type="sldNum" sz="quarter" idx="5"/>
          </p:nvPr>
        </p:nvSpPr>
        <p:spPr/>
        <p:txBody>
          <a:bodyPr/>
          <a:lstStyle/>
          <a:p>
            <a:fld id="{DA21F1EB-BD56-49F9-AE01-F1F4E146A1A8}" type="slidenum">
              <a:rPr kumimoji="1" lang="ja-JP" altLang="en-US" smtClean="0"/>
              <a:t>6</a:t>
            </a:fld>
            <a:endParaRPr kumimoji="1" lang="ja-JP" altLang="en-US"/>
          </a:p>
        </p:txBody>
      </p:sp>
    </p:spTree>
    <p:extLst>
      <p:ext uri="{BB962C8B-B14F-4D97-AF65-F5344CB8AC3E}">
        <p14:creationId xmlns:p14="http://schemas.microsoft.com/office/powerpoint/2010/main" val="3631446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6DB98-0111-B6CE-297D-CA405E15F3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16DC9D-7315-8FC3-29D8-2E5D4C923C3B}"/>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98958E96-45E3-6F81-3647-021F63A930B8}"/>
              </a:ext>
            </a:extLst>
          </p:cNvPr>
          <p:cNvSpPr>
            <a:spLocks noGrp="1"/>
          </p:cNvSpPr>
          <p:nvPr>
            <p:ph type="body" idx="1"/>
          </p:nvPr>
        </p:nvSpPr>
        <p:spPr/>
        <p:txBody>
          <a:bodyPr/>
          <a:lstStyle/>
          <a:p>
            <a:r>
              <a:rPr kumimoji="1" lang="ja-JP" altLang="en-US" dirty="0"/>
              <a:t>基準カメラの画像をご覧ください．</a:t>
            </a:r>
            <a:endParaRPr kumimoji="1" lang="en-US" altLang="ja-JP" dirty="0"/>
          </a:p>
          <a:p>
            <a:r>
              <a:rPr kumimoji="1" lang="ja-JP" altLang="en-US" dirty="0"/>
              <a:t>今回この青点の深度について考えていきます．</a:t>
            </a:r>
            <a:endParaRPr kumimoji="1" lang="en-US" altLang="ja-JP" dirty="0"/>
          </a:p>
          <a:p>
            <a:r>
              <a:rPr kumimoji="1" lang="ja-JP" altLang="en-US" dirty="0"/>
              <a:t>この図はハードウェアと映っている僕の配置を表した図です．</a:t>
            </a:r>
            <a:endParaRPr kumimoji="1" lang="en-US" altLang="ja-JP" dirty="0"/>
          </a:p>
          <a:p>
            <a:r>
              <a:rPr kumimoji="1" lang="ja-JP" altLang="en-US" dirty="0"/>
              <a:t>ここで魚眼カメラのピクセルの捉え方について説明します．</a:t>
            </a:r>
            <a:endParaRPr kumimoji="1" lang="en-US" altLang="ja-JP" dirty="0"/>
          </a:p>
          <a:p>
            <a:r>
              <a:rPr kumimoji="1" lang="ja-JP" altLang="en-US" dirty="0"/>
              <a:t>一般的なカメラは平面に投影されてるため</a:t>
            </a:r>
            <a:r>
              <a:rPr kumimoji="1" lang="en-US" altLang="ja-JP" dirty="0" err="1"/>
              <a:t>xy</a:t>
            </a:r>
            <a:r>
              <a:rPr kumimoji="1" lang="ja-JP" altLang="en-US" dirty="0"/>
              <a:t>平面で考えることが多いですが，魚眼カメラは球面に投影されているため極座標的にとらえられます．</a:t>
            </a:r>
            <a:endParaRPr kumimoji="1" lang="en-US" altLang="ja-JP" dirty="0"/>
          </a:p>
          <a:p>
            <a:r>
              <a:rPr kumimoji="1" lang="ja-JP" altLang="en-US" dirty="0"/>
              <a:t>よってそのピクセルの位置はカメラから見た方向ベクトルとなります．</a:t>
            </a:r>
            <a:endParaRPr kumimoji="1" lang="en-US" altLang="ja-JP" dirty="0"/>
          </a:p>
          <a:p>
            <a:r>
              <a:rPr kumimoji="1" lang="ja-JP" altLang="en-US" dirty="0"/>
              <a:t>ただ，カラー画像だけでは青点の方向にいる僕までの距離を推定することはできません．</a:t>
            </a:r>
            <a:endParaRPr kumimoji="1" lang="en-US" altLang="ja-JP" dirty="0"/>
          </a:p>
          <a:p>
            <a:r>
              <a:rPr kumimoji="1" lang="ja-JP" altLang="en-US" dirty="0"/>
              <a:t>この青い点線上のどこに僕がいるかわからないのです．</a:t>
            </a:r>
            <a:endParaRPr kumimoji="1" lang="en-US" altLang="ja-JP" dirty="0"/>
          </a:p>
          <a:p>
            <a:r>
              <a:rPr kumimoji="1" lang="ja-JP" altLang="en-US" dirty="0"/>
              <a:t>ここで深度を仮定して補助カメラから見るとどこに見えるかを考えてみます</a:t>
            </a:r>
          </a:p>
        </p:txBody>
      </p:sp>
      <p:sp>
        <p:nvSpPr>
          <p:cNvPr id="4" name="スライド番号プレースホルダー 3">
            <a:extLst>
              <a:ext uri="{FF2B5EF4-FFF2-40B4-BE49-F238E27FC236}">
                <a16:creationId xmlns:a16="http://schemas.microsoft.com/office/drawing/2014/main" id="{5A0DE83B-CC64-C431-3BF7-EB7054C74135}"/>
              </a:ext>
            </a:extLst>
          </p:cNvPr>
          <p:cNvSpPr>
            <a:spLocks noGrp="1"/>
          </p:cNvSpPr>
          <p:nvPr>
            <p:ph type="sldNum" sz="quarter" idx="5"/>
          </p:nvPr>
        </p:nvSpPr>
        <p:spPr/>
        <p:txBody>
          <a:bodyPr/>
          <a:lstStyle/>
          <a:p>
            <a:fld id="{DA21F1EB-BD56-49F9-AE01-F1F4E146A1A8}" type="slidenum">
              <a:rPr kumimoji="1" lang="ja-JP" altLang="en-US" smtClean="0"/>
              <a:t>7</a:t>
            </a:fld>
            <a:endParaRPr kumimoji="1" lang="ja-JP" altLang="en-US"/>
          </a:p>
        </p:txBody>
      </p:sp>
    </p:spTree>
    <p:extLst>
      <p:ext uri="{BB962C8B-B14F-4D97-AF65-F5344CB8AC3E}">
        <p14:creationId xmlns:p14="http://schemas.microsoft.com/office/powerpoint/2010/main" val="1996045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7C1C6-76FF-E0E7-153E-3AF98EBC240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0FB478-1775-BC1D-A0AA-3FB524B9D456}"/>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ED0FD9F8-F865-C9C7-0222-33E226843D83}"/>
              </a:ext>
            </a:extLst>
          </p:cNvPr>
          <p:cNvSpPr>
            <a:spLocks noGrp="1"/>
          </p:cNvSpPr>
          <p:nvPr>
            <p:ph type="body" idx="1"/>
          </p:nvPr>
        </p:nvSpPr>
        <p:spPr/>
        <p:txBody>
          <a:bodyPr/>
          <a:lstStyle/>
          <a:p>
            <a:r>
              <a:rPr kumimoji="1" lang="ja-JP" altLang="en-US" dirty="0"/>
              <a:t>例えば図の赤点のように基準カメラから近いところにいた場合，補助カメラに投影されるであろう場所は本来より左側となります．</a:t>
            </a:r>
            <a:endParaRPr kumimoji="1" lang="en-US" altLang="ja-JP" dirty="0"/>
          </a:p>
          <a:p>
            <a:r>
              <a:rPr kumimoji="1" lang="ja-JP" altLang="en-US" dirty="0"/>
              <a:t>このように深さを変化させると，補助カメラに投影される赤点の位置は大きく変わります．</a:t>
            </a:r>
            <a:endParaRPr kumimoji="1" lang="en-US" altLang="ja-JP" dirty="0"/>
          </a:p>
          <a:p>
            <a:r>
              <a:rPr kumimoji="1" lang="ja-JP" altLang="en-US" dirty="0"/>
              <a:t>つまり，正しい距離であれば補助カメラに再投影された赤点の色情報と基準カメラに投影されている青点の色情報は近しいものとなるはずです．</a:t>
            </a:r>
          </a:p>
        </p:txBody>
      </p:sp>
      <p:sp>
        <p:nvSpPr>
          <p:cNvPr id="4" name="スライド番号プレースホルダー 3">
            <a:extLst>
              <a:ext uri="{FF2B5EF4-FFF2-40B4-BE49-F238E27FC236}">
                <a16:creationId xmlns:a16="http://schemas.microsoft.com/office/drawing/2014/main" id="{E3D52460-D832-AF42-F64D-A10FA9A2DBA3}"/>
              </a:ext>
            </a:extLst>
          </p:cNvPr>
          <p:cNvSpPr>
            <a:spLocks noGrp="1"/>
          </p:cNvSpPr>
          <p:nvPr>
            <p:ph type="sldNum" sz="quarter" idx="5"/>
          </p:nvPr>
        </p:nvSpPr>
        <p:spPr/>
        <p:txBody>
          <a:bodyPr/>
          <a:lstStyle/>
          <a:p>
            <a:fld id="{DA21F1EB-BD56-49F9-AE01-F1F4E146A1A8}" type="slidenum">
              <a:rPr kumimoji="1" lang="ja-JP" altLang="en-US" smtClean="0"/>
              <a:t>8</a:t>
            </a:fld>
            <a:endParaRPr kumimoji="1" lang="ja-JP" altLang="en-US"/>
          </a:p>
        </p:txBody>
      </p:sp>
    </p:spTree>
    <p:extLst>
      <p:ext uri="{BB962C8B-B14F-4D97-AF65-F5344CB8AC3E}">
        <p14:creationId xmlns:p14="http://schemas.microsoft.com/office/powerpoint/2010/main" val="720786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BDF73-36F2-2794-78ED-AA547D0E1CD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6A3719-28A8-DC5B-48C7-E53416E96B35}"/>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47DDD6DC-920D-1089-D966-8ABFB478E2BE}"/>
              </a:ext>
            </a:extLst>
          </p:cNvPr>
          <p:cNvSpPr>
            <a:spLocks noGrp="1"/>
          </p:cNvSpPr>
          <p:nvPr>
            <p:ph type="body" idx="1"/>
          </p:nvPr>
        </p:nvSpPr>
        <p:spPr/>
        <p:txBody>
          <a:bodyPr/>
          <a:lstStyle/>
          <a:p>
            <a:r>
              <a:rPr kumimoji="1" lang="ja-JP" altLang="en-US" dirty="0"/>
              <a:t>灰色のオブジェクトは適当に配置した障害物で，図のように周囲が長方形の壁で囲われたような状況に関して考えます．</a:t>
            </a:r>
            <a:endParaRPr kumimoji="1" lang="en-US" altLang="ja-JP" dirty="0"/>
          </a:p>
          <a:p>
            <a:r>
              <a:rPr kumimoji="1" lang="ja-JP" altLang="en-US" dirty="0"/>
              <a:t>まず深度の候補をいくつか作ります</a:t>
            </a:r>
          </a:p>
          <a:p>
            <a:r>
              <a:rPr kumimoji="1" lang="ja-JP" altLang="en-US" dirty="0"/>
              <a:t>次に補助カメラを選び，各深さに対して再投影の座標を計算します．</a:t>
            </a:r>
            <a:endParaRPr kumimoji="1" lang="en-US" altLang="ja-JP" dirty="0"/>
          </a:p>
          <a:p>
            <a:r>
              <a:rPr kumimoji="1" lang="ja-JP" altLang="en-US" dirty="0"/>
              <a:t>そして実際の色と比較して類似度を表すマッチングコストという指標を計算します．</a:t>
            </a:r>
            <a:endParaRPr kumimoji="1" lang="en-US" altLang="ja-JP" dirty="0"/>
          </a:p>
          <a:p>
            <a:r>
              <a:rPr kumimoji="1" lang="ja-JP" altLang="en-US" dirty="0"/>
              <a:t>最後にマッチングコストから最適な深さを推定します．</a:t>
            </a:r>
            <a:endParaRPr kumimoji="1" lang="en-US" altLang="ja-JP" dirty="0"/>
          </a:p>
          <a:p>
            <a:r>
              <a:rPr kumimoji="1" lang="ja-JP" altLang="en-US" dirty="0"/>
              <a:t>これを全ピクセルに対して行うことで基準カメラのカラー画像を深さ画像に変換することが出来ます</a:t>
            </a:r>
            <a:endParaRPr kumimoji="1" lang="en-US" altLang="ja-JP" dirty="0"/>
          </a:p>
          <a:p>
            <a:r>
              <a:rPr kumimoji="1" lang="ja-JP" altLang="en-US" dirty="0"/>
              <a:t>これを各カメラに対して行います．</a:t>
            </a:r>
            <a:endParaRPr kumimoji="1" lang="en-US" altLang="ja-JP" dirty="0"/>
          </a:p>
          <a:p>
            <a:r>
              <a:rPr kumimoji="1" lang="ja-JP" altLang="en-US" dirty="0"/>
              <a:t>次に</a:t>
            </a:r>
            <a:r>
              <a:rPr kumimoji="1" lang="en-US" altLang="ja-JP" dirty="0"/>
              <a:t>4</a:t>
            </a:r>
            <a:r>
              <a:rPr kumimoji="1" lang="ja-JP" altLang="en-US" dirty="0"/>
              <a:t>つの魚眼カメラから得た深さ情報を統合する方法について説明します．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604F99C8-0305-37CD-6DC2-43EC3FE8667E}"/>
              </a:ext>
            </a:extLst>
          </p:cNvPr>
          <p:cNvSpPr>
            <a:spLocks noGrp="1"/>
          </p:cNvSpPr>
          <p:nvPr>
            <p:ph type="sldNum" sz="quarter" idx="5"/>
          </p:nvPr>
        </p:nvSpPr>
        <p:spPr/>
        <p:txBody>
          <a:bodyPr/>
          <a:lstStyle/>
          <a:p>
            <a:fld id="{DA21F1EB-BD56-49F9-AE01-F1F4E146A1A8}" type="slidenum">
              <a:rPr kumimoji="1" lang="ja-JP" altLang="en-US" smtClean="0"/>
              <a:t>9</a:t>
            </a:fld>
            <a:endParaRPr kumimoji="1" lang="ja-JP" altLang="en-US"/>
          </a:p>
        </p:txBody>
      </p:sp>
    </p:spTree>
    <p:extLst>
      <p:ext uri="{BB962C8B-B14F-4D97-AF65-F5344CB8AC3E}">
        <p14:creationId xmlns:p14="http://schemas.microsoft.com/office/powerpoint/2010/main" val="20567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01027-7623-A10A-932A-92B935FBE8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0C5AE0-3DE3-9134-986C-6E4215F19EAA}"/>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7167A2AC-9C01-6FD6-78A8-72129525EC25}"/>
              </a:ext>
            </a:extLst>
          </p:cNvPr>
          <p:cNvSpPr>
            <a:spLocks noGrp="1"/>
          </p:cNvSpPr>
          <p:nvPr>
            <p:ph type="body" idx="1"/>
          </p:nvPr>
        </p:nvSpPr>
        <p:spPr/>
        <p:txBody>
          <a:bodyPr/>
          <a:lstStyle/>
          <a:p>
            <a:r>
              <a:rPr kumimoji="1" lang="ja-JP" altLang="en-US" dirty="0"/>
              <a:t>まずある仮想点を置きます．</a:t>
            </a:r>
            <a:endParaRPr kumimoji="1" lang="en-US" altLang="ja-JP" dirty="0"/>
          </a:p>
          <a:p>
            <a:r>
              <a:rPr kumimoji="1" lang="en-US" altLang="ja-JP" dirty="0"/>
              <a:t>4</a:t>
            </a:r>
            <a:r>
              <a:rPr kumimoji="1" lang="ja-JP" altLang="en-US" dirty="0"/>
              <a:t>つの魚眼カメラから得た</a:t>
            </a:r>
            <a:r>
              <a:rPr kumimoji="1" lang="en-US" altLang="ja-JP" dirty="0"/>
              <a:t>3</a:t>
            </a:r>
            <a:r>
              <a:rPr kumimoji="1" lang="ja-JP" altLang="en-US" dirty="0"/>
              <a:t>次元情報を元に仮想点から見たときどの方向にどんな色と深度が投影されるかを計算して</a:t>
            </a:r>
            <a:br>
              <a:rPr kumimoji="1" lang="en-US" altLang="ja-JP" dirty="0"/>
            </a:br>
            <a:r>
              <a:rPr kumimoji="1" lang="ja-JP" altLang="en-US" dirty="0"/>
              <a:t>再投影することで情報を統合します．しかしここで一つ問題があります．</a:t>
            </a:r>
          </a:p>
        </p:txBody>
      </p:sp>
      <p:sp>
        <p:nvSpPr>
          <p:cNvPr id="4" name="スライド番号プレースホルダー 3">
            <a:extLst>
              <a:ext uri="{FF2B5EF4-FFF2-40B4-BE49-F238E27FC236}">
                <a16:creationId xmlns:a16="http://schemas.microsoft.com/office/drawing/2014/main" id="{46FD945A-C616-D978-15BF-01EA277E981F}"/>
              </a:ext>
            </a:extLst>
          </p:cNvPr>
          <p:cNvSpPr>
            <a:spLocks noGrp="1"/>
          </p:cNvSpPr>
          <p:nvPr>
            <p:ph type="sldNum" sz="quarter" idx="5"/>
          </p:nvPr>
        </p:nvSpPr>
        <p:spPr/>
        <p:txBody>
          <a:bodyPr/>
          <a:lstStyle/>
          <a:p>
            <a:fld id="{DA21F1EB-BD56-49F9-AE01-F1F4E146A1A8}" type="slidenum">
              <a:rPr kumimoji="1" lang="ja-JP" altLang="en-US" smtClean="0"/>
              <a:t>10</a:t>
            </a:fld>
            <a:endParaRPr kumimoji="1" lang="ja-JP" altLang="en-US"/>
          </a:p>
        </p:txBody>
      </p:sp>
    </p:spTree>
    <p:extLst>
      <p:ext uri="{BB962C8B-B14F-4D97-AF65-F5344CB8AC3E}">
        <p14:creationId xmlns:p14="http://schemas.microsoft.com/office/powerpoint/2010/main" val="1174434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E87D5-911A-A5E8-CD9D-44570EC2D87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6DC9AF-D13D-45D2-8212-44F2E0A824FF}"/>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AB378082-AB68-7EF1-9CAC-49A9C9ED3895}"/>
              </a:ext>
            </a:extLst>
          </p:cNvPr>
          <p:cNvSpPr>
            <a:spLocks noGrp="1"/>
          </p:cNvSpPr>
          <p:nvPr>
            <p:ph type="body" idx="1"/>
          </p:nvPr>
        </p:nvSpPr>
        <p:spPr/>
        <p:txBody>
          <a:bodyPr/>
          <a:lstStyle/>
          <a:p>
            <a:r>
              <a:rPr kumimoji="1" lang="ja-JP" altLang="en-US" dirty="0"/>
              <a:t>特定のピクセルの深度は二つのカメラから見えなければ深さは取得できません．</a:t>
            </a:r>
            <a:endParaRPr kumimoji="1" lang="en-US" altLang="ja-JP" dirty="0"/>
          </a:p>
          <a:p>
            <a:pPr defTabSz="990752">
              <a:defRPr/>
            </a:pPr>
            <a:r>
              <a:rPr kumimoji="1" lang="ja-JP" altLang="en-US" dirty="0"/>
              <a:t>この時</a:t>
            </a:r>
            <a:r>
              <a:rPr lang="ja-JP" altLang="en-US" dirty="0"/>
              <a:t>仮想点から見えているが深度情報を取れていない点が存在します．</a:t>
            </a:r>
          </a:p>
          <a:p>
            <a:endParaRPr kumimoji="1" lang="ja-JP" altLang="en-US" dirty="0"/>
          </a:p>
        </p:txBody>
      </p:sp>
      <p:sp>
        <p:nvSpPr>
          <p:cNvPr id="4" name="スライド番号プレースホルダー 3">
            <a:extLst>
              <a:ext uri="{FF2B5EF4-FFF2-40B4-BE49-F238E27FC236}">
                <a16:creationId xmlns:a16="http://schemas.microsoft.com/office/drawing/2014/main" id="{82E3B660-A164-0334-14CC-2A1A3764EC8C}"/>
              </a:ext>
            </a:extLst>
          </p:cNvPr>
          <p:cNvSpPr>
            <a:spLocks noGrp="1"/>
          </p:cNvSpPr>
          <p:nvPr>
            <p:ph type="sldNum" sz="quarter" idx="5"/>
          </p:nvPr>
        </p:nvSpPr>
        <p:spPr/>
        <p:txBody>
          <a:bodyPr/>
          <a:lstStyle/>
          <a:p>
            <a:fld id="{DA21F1EB-BD56-49F9-AE01-F1F4E146A1A8}" type="slidenum">
              <a:rPr kumimoji="1" lang="ja-JP" altLang="en-US" smtClean="0"/>
              <a:t>11</a:t>
            </a:fld>
            <a:endParaRPr kumimoji="1" lang="ja-JP" altLang="en-US"/>
          </a:p>
        </p:txBody>
      </p:sp>
    </p:spTree>
    <p:extLst>
      <p:ext uri="{BB962C8B-B14F-4D97-AF65-F5344CB8AC3E}">
        <p14:creationId xmlns:p14="http://schemas.microsoft.com/office/powerpoint/2010/main" val="3278546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この点を埋めるために方向性インペインティングという手法を使用します．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12</a:t>
            </a:fld>
            <a:endParaRPr kumimoji="1" lang="ja-JP" altLang="en-US"/>
          </a:p>
        </p:txBody>
      </p:sp>
    </p:spTree>
    <p:extLst>
      <p:ext uri="{BB962C8B-B14F-4D97-AF65-F5344CB8AC3E}">
        <p14:creationId xmlns:p14="http://schemas.microsoft.com/office/powerpoint/2010/main" val="3170697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14</a:t>
            </a:fld>
            <a:endParaRPr kumimoji="1" lang="ja-JP" altLang="en-US"/>
          </a:p>
        </p:txBody>
      </p:sp>
    </p:spTree>
    <p:extLst>
      <p:ext uri="{BB962C8B-B14F-4D97-AF65-F5344CB8AC3E}">
        <p14:creationId xmlns:p14="http://schemas.microsoft.com/office/powerpoint/2010/main" val="1941568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15</a:t>
            </a:fld>
            <a:endParaRPr kumimoji="1" lang="ja-JP" altLang="en-US"/>
          </a:p>
        </p:txBody>
      </p:sp>
    </p:spTree>
    <p:extLst>
      <p:ext uri="{BB962C8B-B14F-4D97-AF65-F5344CB8AC3E}">
        <p14:creationId xmlns:p14="http://schemas.microsoft.com/office/powerpoint/2010/main" val="2902551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A21F1EB-BD56-49F9-AE01-F1F4E146A1A8}" type="slidenum">
              <a:rPr kumimoji="1" lang="ja-JP" altLang="en-US" smtClean="0"/>
              <a:t>16</a:t>
            </a:fld>
            <a:endParaRPr kumimoji="1" lang="ja-JP" altLang="en-US"/>
          </a:p>
        </p:txBody>
      </p:sp>
    </p:spTree>
    <p:extLst>
      <p:ext uri="{BB962C8B-B14F-4D97-AF65-F5344CB8AC3E}">
        <p14:creationId xmlns:p14="http://schemas.microsoft.com/office/powerpoint/2010/main" val="2182887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17</a:t>
            </a:fld>
            <a:endParaRPr kumimoji="1" lang="ja-JP" altLang="en-US"/>
          </a:p>
        </p:txBody>
      </p:sp>
    </p:spTree>
    <p:extLst>
      <p:ext uri="{BB962C8B-B14F-4D97-AF65-F5344CB8AC3E}">
        <p14:creationId xmlns:p14="http://schemas.microsoft.com/office/powerpoint/2010/main" val="2375375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latin typeface="+mn-ea"/>
                <a:ea typeface="+mn-ea"/>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D8215A1-5493-4817-8D2A-8297ED30F9FA}"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bg2">
                    <a:lumMod val="75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2846637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0FF70FD-4300-ED9A-8308-03BD04CAED81}"/>
              </a:ext>
            </a:extLst>
          </p:cNvPr>
          <p:cNvSpPr/>
          <p:nvPr userDrawn="1"/>
        </p:nvSpPr>
        <p:spPr>
          <a:xfrm>
            <a:off x="0" y="6744"/>
            <a:ext cx="9144000" cy="12616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a:xfrm>
            <a:off x="450850" y="361948"/>
            <a:ext cx="8064500" cy="906465"/>
          </a:xfrm>
        </p:spPr>
        <p:txBody>
          <a:bodyPr/>
          <a:lstStyle>
            <a:lvl1pPr>
              <a:defRPr b="1">
                <a:solidFill>
                  <a:schemeClr val="bg1"/>
                </a:solidFill>
                <a:latin typeface="+mn-ea"/>
                <a:ea typeface="+mn-ea"/>
              </a:defRPr>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lvl1pPr>
              <a:defRPr b="1">
                <a:latin typeface="+mn-ea"/>
                <a:ea typeface="+mn-ea"/>
              </a:defRPr>
            </a:lvl1pPr>
            <a:lvl2pPr>
              <a:defRPr b="1">
                <a:latin typeface="+mn-ea"/>
                <a:ea typeface="+mn-ea"/>
              </a:defRPr>
            </a:lvl2pPr>
            <a:lvl3pPr>
              <a:defRPr sz="2400" b="1">
                <a:latin typeface="+mn-ea"/>
                <a:ea typeface="+mn-ea"/>
              </a:defRPr>
            </a:lvl3pPr>
            <a:lvl4pPr>
              <a:defRPr sz="2400" b="1">
                <a:latin typeface="+mn-ea"/>
                <a:ea typeface="+mn-ea"/>
              </a:defRPr>
            </a:lvl4pPr>
            <a:lvl5pPr>
              <a:defRPr sz="2400" b="1">
                <a:latin typeface="+mn-ea"/>
                <a:ea typeface="+mn-ea"/>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07B50341-56BB-43CE-B960-C2DCE68D0398}"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Slide Number Placeholder 5">
            <a:extLst>
              <a:ext uri="{FF2B5EF4-FFF2-40B4-BE49-F238E27FC236}">
                <a16:creationId xmlns:a16="http://schemas.microsoft.com/office/drawing/2014/main" id="{5BAA78B1-1F1C-67E5-BFD6-951C98B12DF4}"/>
              </a:ext>
            </a:extLst>
          </p:cNvPr>
          <p:cNvSpPr>
            <a:spLocks noGrp="1"/>
          </p:cNvSpPr>
          <p:nvPr>
            <p:ph type="sldNum" sz="quarter" idx="12"/>
          </p:nvPr>
        </p:nvSpPr>
        <p:spPr>
          <a:xfrm>
            <a:off x="6997700" y="361948"/>
            <a:ext cx="2057400" cy="365125"/>
          </a:xfrm>
        </p:spPr>
        <p:txBody>
          <a:bodyPr/>
          <a:lstStyle/>
          <a:p>
            <a:fld id="{673BA9A0-D382-41FB-AB73-7841F3556B1B}" type="slidenum">
              <a:rPr kumimoji="1" lang="ja-JP" altLang="en-US" smtClean="0"/>
              <a:t>‹#›</a:t>
            </a:fld>
            <a:endParaRPr kumimoji="1" lang="ja-JP" altLang="en-US" dirty="0"/>
          </a:p>
        </p:txBody>
      </p:sp>
    </p:spTree>
    <p:extLst>
      <p:ext uri="{BB962C8B-B14F-4D97-AF65-F5344CB8AC3E}">
        <p14:creationId xmlns:p14="http://schemas.microsoft.com/office/powerpoint/2010/main" val="1257412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dirty="0"/>
              <a:t>マスター テキストの書式設定</a:t>
            </a:r>
          </a:p>
        </p:txBody>
      </p:sp>
      <p:sp>
        <p:nvSpPr>
          <p:cNvPr id="4" name="Date Placeholder 3"/>
          <p:cNvSpPr>
            <a:spLocks noGrp="1"/>
          </p:cNvSpPr>
          <p:nvPr>
            <p:ph type="dt" sz="half" idx="10"/>
          </p:nvPr>
        </p:nvSpPr>
        <p:spPr/>
        <p:txBody>
          <a:bodyPr/>
          <a:lstStyle/>
          <a:p>
            <a:fld id="{12E356C9-4C4B-4DD9-B094-9C03179085A4}"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3769711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8E2A95E-679E-737D-43C3-314A376FE702}"/>
              </a:ext>
            </a:extLst>
          </p:cNvPr>
          <p:cNvSpPr/>
          <p:nvPr userDrawn="1"/>
        </p:nvSpPr>
        <p:spPr>
          <a:xfrm>
            <a:off x="0" y="0"/>
            <a:ext cx="9144000" cy="12684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p:txBody>
          <a:bodyPr/>
          <a:lstStyle>
            <a:lvl1pPr>
              <a:defRPr b="1">
                <a:solidFill>
                  <a:schemeClr val="bg1"/>
                </a:solidFill>
              </a:defRPr>
            </a:lvl1p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628650" y="1412875"/>
            <a:ext cx="3886200" cy="4764088"/>
          </a:xfrm>
        </p:spPr>
        <p:txBody>
          <a:bodyPr/>
          <a:lstStyle>
            <a:lvl2pPr>
              <a:defRPr sz="2400"/>
            </a:lvl2pPr>
            <a:lvl3pPr>
              <a:defRPr sz="2400"/>
            </a:lvl3pPr>
            <a:lvl4pPr>
              <a:defRPr sz="2400"/>
            </a:lvl4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4629150" y="1412875"/>
            <a:ext cx="3886200" cy="476408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fld id="{51E8F200-0F58-45BE-A385-F0B3FB854076}"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2451847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53440903-030B-EEC3-8A6B-A53E93DD63EC}"/>
              </a:ext>
            </a:extLst>
          </p:cNvPr>
          <p:cNvSpPr/>
          <p:nvPr userDrawn="1"/>
        </p:nvSpPr>
        <p:spPr>
          <a:xfrm>
            <a:off x="0" y="0"/>
            <a:ext cx="9144000" cy="1268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
        <p:nvSpPr>
          <p:cNvPr id="2" name="Title 1"/>
          <p:cNvSpPr>
            <a:spLocks noGrp="1"/>
          </p:cNvSpPr>
          <p:nvPr>
            <p:ph type="title"/>
          </p:nvPr>
        </p:nvSpPr>
        <p:spPr>
          <a:xfrm>
            <a:off x="628650" y="269087"/>
            <a:ext cx="7886700" cy="988216"/>
          </a:xfrm>
        </p:spPr>
        <p:txBody>
          <a:bodyPr/>
          <a:lstStyle>
            <a:lvl1pPr>
              <a:defRPr b="1">
                <a:solidFill>
                  <a:schemeClr val="bg1"/>
                </a:solidFill>
              </a:defRPr>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9842" y="1412875"/>
            <a:ext cx="3868340" cy="746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4" name="Content Placeholder 3"/>
          <p:cNvSpPr>
            <a:spLocks noGrp="1"/>
          </p:cNvSpPr>
          <p:nvPr>
            <p:ph sz="half" idx="2"/>
          </p:nvPr>
        </p:nvSpPr>
        <p:spPr>
          <a:xfrm>
            <a:off x="629842" y="2222500"/>
            <a:ext cx="3868340" cy="3967163"/>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Text Placeholder 4"/>
          <p:cNvSpPr>
            <a:spLocks noGrp="1"/>
          </p:cNvSpPr>
          <p:nvPr>
            <p:ph type="body" sz="quarter" idx="3"/>
          </p:nvPr>
        </p:nvSpPr>
        <p:spPr>
          <a:xfrm>
            <a:off x="4629150" y="1412875"/>
            <a:ext cx="3887391" cy="746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6" name="Content Placeholder 5"/>
          <p:cNvSpPr>
            <a:spLocks noGrp="1"/>
          </p:cNvSpPr>
          <p:nvPr>
            <p:ph sz="quarter" idx="4"/>
          </p:nvPr>
        </p:nvSpPr>
        <p:spPr>
          <a:xfrm>
            <a:off x="4629150" y="2222500"/>
            <a:ext cx="3887391" cy="3967163"/>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Date Placeholder 6"/>
          <p:cNvSpPr>
            <a:spLocks noGrp="1"/>
          </p:cNvSpPr>
          <p:nvPr>
            <p:ph type="dt" sz="half" idx="10"/>
          </p:nvPr>
        </p:nvSpPr>
        <p:spPr/>
        <p:txBody>
          <a:bodyPr/>
          <a:lstStyle/>
          <a:p>
            <a:fld id="{E12CD9C8-2732-4BDD-99D7-45669D759E5C}" type="datetime1">
              <a:rPr kumimoji="1" lang="ja-JP" altLang="en-US" smtClean="0"/>
              <a:t>2025/12/16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lvl1pPr>
              <a:defRPr>
                <a:solidFill>
                  <a:schemeClr val="bg1"/>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3961595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6407B1BD-5759-DD6F-13F5-0C0A358C0DA7}"/>
              </a:ext>
            </a:extLst>
          </p:cNvPr>
          <p:cNvSpPr/>
          <p:nvPr userDrawn="1"/>
        </p:nvSpPr>
        <p:spPr>
          <a:xfrm>
            <a:off x="0" y="0"/>
            <a:ext cx="9144000" cy="1268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p:txBody>
          <a:bodyPr/>
          <a:lstStyle>
            <a:lvl1pPr>
              <a:defRPr b="1">
                <a:solidFill>
                  <a:schemeClr val="bg1"/>
                </a:solidFill>
              </a:defRPr>
            </a:lvl1pPr>
          </a:lstStyle>
          <a:p>
            <a:r>
              <a:rPr lang="ja-JP" altLang="en-US" dirty="0"/>
              <a:t>マスター タイトルの書式設定</a:t>
            </a:r>
            <a:endParaRPr lang="en-US" dirty="0"/>
          </a:p>
        </p:txBody>
      </p:sp>
      <p:sp>
        <p:nvSpPr>
          <p:cNvPr id="3" name="Date Placeholder 2"/>
          <p:cNvSpPr>
            <a:spLocks noGrp="1"/>
          </p:cNvSpPr>
          <p:nvPr>
            <p:ph type="dt" sz="half" idx="10"/>
          </p:nvPr>
        </p:nvSpPr>
        <p:spPr/>
        <p:txBody>
          <a:bodyPr/>
          <a:lstStyle/>
          <a:p>
            <a:fld id="{8C99AE3E-1C1E-4B10-9F9E-C85E03497641}" type="datetime1">
              <a:rPr kumimoji="1" lang="ja-JP" altLang="en-US" smtClean="0"/>
              <a:t>2025/12/16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4277927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948811-F007-4E29-93D0-75187A250FE4}" type="datetime1">
              <a:rPr kumimoji="1" lang="ja-JP" altLang="en-US" smtClean="0"/>
              <a:t>2025/12/16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300306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029BC94-EF2B-4E2F-B3D2-31C51C465C19}"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4290994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74271BC-3867-4732-89C1-669315061D60}"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921878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FBB9DE8-644D-4017-B66D-219EB69E7A6C}"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036855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00B1E0F-0B1D-42B3-993D-EC5DE150199C}"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3876828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CAD847-A269-5665-0E9B-7EB51C0105A9}"/>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CC9EE38-A6A3-AB27-3FEC-E26B786B33A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4813901-2359-F332-5049-F6A6D76AEB4B}"/>
              </a:ext>
            </a:extLst>
          </p:cNvPr>
          <p:cNvSpPr>
            <a:spLocks noGrp="1"/>
          </p:cNvSpPr>
          <p:nvPr>
            <p:ph type="dt" sz="half" idx="10"/>
          </p:nvPr>
        </p:nvSpPr>
        <p:spPr/>
        <p:txBody>
          <a:bodyPr/>
          <a:lstStyle/>
          <a:p>
            <a:fld id="{18810CFE-F222-4559-A768-CC5A26C0B246}" type="datetime1">
              <a:rPr kumimoji="1" lang="ja-JP" altLang="en-US" smtClean="0"/>
              <a:t>2025/12/16</a:t>
            </a:fld>
            <a:endParaRPr kumimoji="1" lang="ja-JP" altLang="en-US"/>
          </a:p>
        </p:txBody>
      </p:sp>
      <p:sp>
        <p:nvSpPr>
          <p:cNvPr id="5" name="フッター プレースホルダー 4">
            <a:extLst>
              <a:ext uri="{FF2B5EF4-FFF2-40B4-BE49-F238E27FC236}">
                <a16:creationId xmlns:a16="http://schemas.microsoft.com/office/drawing/2014/main" id="{E0FD32CE-CDA4-08AF-B25C-3CECEE70BC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CBFAF0-B444-CA38-B0CC-6521370138B1}"/>
              </a:ext>
            </a:extLst>
          </p:cNvPr>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663023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1188" y="179388"/>
            <a:ext cx="7904162" cy="1089025"/>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11188" y="1592263"/>
            <a:ext cx="7904162" cy="4584700"/>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49099E-CA27-4256-B057-A4B9A0BDD2DF}" type="datetime1">
              <a:rPr kumimoji="1" lang="ja-JP" altLang="en-US" smtClean="0"/>
              <a:t>2025/12/16</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997700" y="361948"/>
            <a:ext cx="2057400" cy="365125"/>
          </a:xfrm>
          <a:prstGeom prst="rect">
            <a:avLst/>
          </a:prstGeom>
        </p:spPr>
        <p:txBody>
          <a:bodyPr vert="horz" lIns="91440" tIns="45720" rIns="91440" bIns="45720" rtlCol="0" anchor="ctr"/>
          <a:lstStyle>
            <a:lvl1pPr algn="r">
              <a:defRPr sz="3200">
                <a:solidFill>
                  <a:schemeClr val="bg2">
                    <a:lumMod val="90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15382224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p:hf hdr="0" ftr="0" dt="0"/>
  <p:txStyles>
    <p:titleStyle>
      <a:lvl1pPr algn="l" defTabSz="914400" rtl="0" eaLnBrk="1" latinLnBrk="0" hangingPunct="1">
        <a:lnSpc>
          <a:spcPct val="90000"/>
        </a:lnSpc>
        <a:spcBef>
          <a:spcPct val="0"/>
        </a:spcBef>
        <a:buNone/>
        <a:defRPr kumimoji="1" sz="4400" b="1"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F26B43"/>
          </p15:clr>
        </p15:guide>
        <p15:guide id="2" pos="2880" userDrawn="1">
          <p15:clr>
            <a:srgbClr val="F26B43"/>
          </p15:clr>
        </p15:guide>
        <p15:guide id="3" orient="horz" pos="799" userDrawn="1">
          <p15:clr>
            <a:srgbClr val="F26B43"/>
          </p15:clr>
        </p15:guide>
        <p15:guide id="4" pos="385" userDrawn="1">
          <p15:clr>
            <a:srgbClr val="F26B43"/>
          </p15:clr>
        </p15:guide>
        <p15:guide id="5"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0468BA-F33E-09BB-5F97-940FDF5A097A}"/>
              </a:ext>
            </a:extLst>
          </p:cNvPr>
          <p:cNvSpPr>
            <a:spLocks noGrp="1"/>
          </p:cNvSpPr>
          <p:nvPr>
            <p:ph type="ctrTitle"/>
          </p:nvPr>
        </p:nvSpPr>
        <p:spPr/>
        <p:txBody>
          <a:bodyPr>
            <a:normAutofit fontScale="90000"/>
          </a:bodyPr>
          <a:lstStyle/>
          <a:p>
            <a:r>
              <a:rPr lang="en-US" altLang="ja-JP" sz="4800" dirty="0"/>
              <a:t>4</a:t>
            </a:r>
            <a:r>
              <a:rPr lang="ja-JP" altLang="en-US" sz="4800" dirty="0"/>
              <a:t>つの魚眼カメラで</a:t>
            </a:r>
            <a:br>
              <a:rPr lang="en-US" altLang="ja-JP" sz="4800" dirty="0"/>
            </a:br>
            <a:r>
              <a:rPr lang="ja-JP" altLang="en-US" sz="4800" dirty="0"/>
              <a:t>生成したパノラマ深さ画像</a:t>
            </a:r>
            <a:br>
              <a:rPr lang="en-US" altLang="ja-JP" sz="4800" dirty="0"/>
            </a:br>
            <a:r>
              <a:rPr lang="ja-JP" altLang="en-US" sz="4800" dirty="0"/>
              <a:t>を用いた</a:t>
            </a:r>
            <a:r>
              <a:rPr lang="en-US" altLang="ja-JP" sz="4800" dirty="0"/>
              <a:t>SLAM</a:t>
            </a:r>
            <a:r>
              <a:rPr lang="ja-JP" altLang="en-US" sz="4800" dirty="0"/>
              <a:t>に関する研究</a:t>
            </a:r>
            <a:endParaRPr kumimoji="1" lang="ja-JP" altLang="en-US" sz="4800" dirty="0"/>
          </a:p>
        </p:txBody>
      </p:sp>
      <p:sp>
        <p:nvSpPr>
          <p:cNvPr id="3" name="字幕 2">
            <a:extLst>
              <a:ext uri="{FF2B5EF4-FFF2-40B4-BE49-F238E27FC236}">
                <a16:creationId xmlns:a16="http://schemas.microsoft.com/office/drawing/2014/main" id="{FB77B5F5-22C9-1C15-1FE0-139EA0B0715C}"/>
              </a:ext>
            </a:extLst>
          </p:cNvPr>
          <p:cNvSpPr>
            <a:spLocks noGrp="1"/>
          </p:cNvSpPr>
          <p:nvPr>
            <p:ph type="subTitle" idx="1"/>
          </p:nvPr>
        </p:nvSpPr>
        <p:spPr>
          <a:xfrm>
            <a:off x="2797790" y="4577853"/>
            <a:ext cx="3555245" cy="1655762"/>
          </a:xfrm>
        </p:spPr>
        <p:txBody>
          <a:bodyPr/>
          <a:lstStyle/>
          <a:p>
            <a:pPr algn="l"/>
            <a:r>
              <a:rPr kumimoji="1" lang="ja-JP" altLang="en-US" dirty="0"/>
              <a:t>システム制御工学研究室</a:t>
            </a:r>
            <a:endParaRPr kumimoji="1" lang="en-US" altLang="ja-JP" dirty="0"/>
          </a:p>
          <a:p>
            <a:pPr algn="l"/>
            <a:r>
              <a:rPr lang="ja-JP" altLang="en-US" dirty="0"/>
              <a:t>学生氏名　髙岸 司</a:t>
            </a:r>
            <a:endParaRPr lang="en-US" altLang="ja-JP" dirty="0"/>
          </a:p>
          <a:p>
            <a:pPr algn="l"/>
            <a:r>
              <a:rPr kumimoji="1" lang="ja-JP" altLang="en-US" dirty="0"/>
              <a:t>指導教員</a:t>
            </a:r>
            <a:r>
              <a:rPr lang="ja-JP" altLang="en-US" dirty="0"/>
              <a:t>　本仲 君子</a:t>
            </a:r>
            <a:endParaRPr kumimoji="1" lang="ja-JP" altLang="en-US" dirty="0"/>
          </a:p>
        </p:txBody>
      </p:sp>
      <p:sp>
        <p:nvSpPr>
          <p:cNvPr id="4" name="スライド番号プレースホルダー 3">
            <a:extLst>
              <a:ext uri="{FF2B5EF4-FFF2-40B4-BE49-F238E27FC236}">
                <a16:creationId xmlns:a16="http://schemas.microsoft.com/office/drawing/2014/main" id="{A26F5F3A-96CD-BA77-1826-166EBFA2F415}"/>
              </a:ext>
            </a:extLst>
          </p:cNvPr>
          <p:cNvSpPr>
            <a:spLocks noGrp="1"/>
          </p:cNvSpPr>
          <p:nvPr>
            <p:ph type="sldNum" sz="quarter" idx="12"/>
          </p:nvPr>
        </p:nvSpPr>
        <p:spPr/>
        <p:txBody>
          <a:bodyPr/>
          <a:lstStyle/>
          <a:p>
            <a:fld id="{673BA9A0-D382-41FB-AB73-7841F3556B1B}" type="slidenum">
              <a:rPr kumimoji="1" lang="ja-JP" altLang="en-US" smtClean="0"/>
              <a:t>1</a:t>
            </a:fld>
            <a:endParaRPr kumimoji="1" lang="ja-JP" altLang="en-US"/>
          </a:p>
        </p:txBody>
      </p:sp>
    </p:spTree>
    <p:extLst>
      <p:ext uri="{BB962C8B-B14F-4D97-AF65-F5344CB8AC3E}">
        <p14:creationId xmlns:p14="http://schemas.microsoft.com/office/powerpoint/2010/main" val="3683096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54895E-F127-97E6-BB3D-D65594467F62}"/>
              </a:ext>
            </a:extLst>
          </p:cNvPr>
          <p:cNvSpPr>
            <a:spLocks noGrp="1"/>
          </p:cNvSpPr>
          <p:nvPr>
            <p:ph type="title"/>
          </p:nvPr>
        </p:nvSpPr>
        <p:spPr/>
        <p:txBody>
          <a:bodyPr>
            <a:normAutofit/>
          </a:bodyPr>
          <a:lstStyle/>
          <a:p>
            <a:r>
              <a:rPr kumimoji="1" lang="ja-JP" altLang="en-US" dirty="0"/>
              <a:t>背景と目的</a:t>
            </a:r>
          </a:p>
        </p:txBody>
      </p:sp>
      <p:sp>
        <p:nvSpPr>
          <p:cNvPr id="3" name="コンテンツ プレースホルダー 2">
            <a:extLst>
              <a:ext uri="{FF2B5EF4-FFF2-40B4-BE49-F238E27FC236}">
                <a16:creationId xmlns:a16="http://schemas.microsoft.com/office/drawing/2014/main" id="{48B86F84-0FEF-392D-4B18-64B0D4394532}"/>
              </a:ext>
            </a:extLst>
          </p:cNvPr>
          <p:cNvSpPr>
            <a:spLocks noGrp="1"/>
          </p:cNvSpPr>
          <p:nvPr>
            <p:ph idx="1"/>
          </p:nvPr>
        </p:nvSpPr>
        <p:spPr>
          <a:xfrm>
            <a:off x="624836" y="3097743"/>
            <a:ext cx="7886700" cy="2702256"/>
          </a:xfrm>
        </p:spPr>
        <p:txBody>
          <a:bodyPr>
            <a:normAutofit/>
          </a:bodyPr>
          <a:lstStyle/>
          <a:p>
            <a:r>
              <a:rPr lang="en-US" altLang="ja-JP" dirty="0"/>
              <a:t>LiDAR</a:t>
            </a:r>
            <a:r>
              <a:rPr lang="ja-JP" altLang="en-US" dirty="0"/>
              <a:t> </a:t>
            </a:r>
            <a:r>
              <a:rPr lang="en-US" altLang="ja-JP" dirty="0"/>
              <a:t>SLAM</a:t>
            </a:r>
          </a:p>
          <a:p>
            <a:pPr lvl="1"/>
            <a:r>
              <a:rPr lang="ja-JP" altLang="en-US" dirty="0"/>
              <a:t>高精度</a:t>
            </a:r>
            <a:endParaRPr lang="en-US" altLang="ja-JP" dirty="0"/>
          </a:p>
          <a:p>
            <a:pPr lvl="1"/>
            <a:r>
              <a:rPr lang="ja-JP" altLang="en-US" dirty="0"/>
              <a:t>センサが高価で重く，消費電力が大きい</a:t>
            </a:r>
            <a:endParaRPr lang="en-US" altLang="ja-JP" dirty="0"/>
          </a:p>
          <a:p>
            <a:r>
              <a:rPr lang="en-US" altLang="ja-JP" dirty="0"/>
              <a:t>Visual</a:t>
            </a:r>
            <a:r>
              <a:rPr lang="ja-JP" altLang="en-US" dirty="0"/>
              <a:t> </a:t>
            </a:r>
            <a:r>
              <a:rPr lang="en-US" altLang="ja-JP" dirty="0"/>
              <a:t>SLAM</a:t>
            </a:r>
            <a:r>
              <a:rPr lang="ja-JP" altLang="en-US" dirty="0"/>
              <a:t>（カメラベース</a:t>
            </a:r>
            <a:r>
              <a:rPr lang="en-US" altLang="ja-JP" dirty="0"/>
              <a:t>SLAM</a:t>
            </a:r>
            <a:r>
              <a:rPr lang="ja-JP" altLang="en-US" dirty="0"/>
              <a:t>）</a:t>
            </a:r>
            <a:endParaRPr lang="en-US" altLang="ja-JP" dirty="0"/>
          </a:p>
          <a:p>
            <a:pPr lvl="1"/>
            <a:r>
              <a:rPr lang="ja-JP" altLang="en-US" dirty="0"/>
              <a:t>安価で軽量，設置自由度が高い</a:t>
            </a:r>
            <a:endParaRPr lang="en-US" altLang="ja-JP" dirty="0"/>
          </a:p>
          <a:p>
            <a:pPr lvl="1"/>
            <a:r>
              <a:rPr lang="ja-JP" altLang="en-US" dirty="0">
                <a:solidFill>
                  <a:srgbClr val="FF0000"/>
                </a:solidFill>
              </a:rPr>
              <a:t>視野が狭く特徴点が少ない環境で精度が低下する</a:t>
            </a:r>
            <a:endParaRPr lang="en-US" altLang="ja-JP" dirty="0">
              <a:solidFill>
                <a:srgbClr val="FF0000"/>
              </a:solidFill>
            </a:endParaRPr>
          </a:p>
          <a:p>
            <a:pPr marL="0" indent="0">
              <a:buNone/>
            </a:pPr>
            <a:endParaRPr lang="en-US" altLang="ja-JP" dirty="0"/>
          </a:p>
          <a:p>
            <a:pPr marL="0" indent="0">
              <a:buNone/>
            </a:pPr>
            <a:endParaRPr lang="en-US" altLang="ja-JP" dirty="0"/>
          </a:p>
          <a:p>
            <a:pPr marL="0" indent="0">
              <a:buNone/>
            </a:pPr>
            <a:endParaRPr lang="en-US" altLang="ja-JP" dirty="0"/>
          </a:p>
        </p:txBody>
      </p:sp>
      <p:sp>
        <p:nvSpPr>
          <p:cNvPr id="4" name="スライド番号プレースホルダー 3">
            <a:extLst>
              <a:ext uri="{FF2B5EF4-FFF2-40B4-BE49-F238E27FC236}">
                <a16:creationId xmlns:a16="http://schemas.microsoft.com/office/drawing/2014/main" id="{4E998F65-3DB7-4881-2E56-9614B35F8134}"/>
              </a:ext>
            </a:extLst>
          </p:cNvPr>
          <p:cNvSpPr>
            <a:spLocks noGrp="1"/>
          </p:cNvSpPr>
          <p:nvPr>
            <p:ph type="sldNum" sz="quarter" idx="12"/>
          </p:nvPr>
        </p:nvSpPr>
        <p:spPr>
          <a:xfrm>
            <a:off x="7029450" y="361948"/>
            <a:ext cx="2057400" cy="365125"/>
          </a:xfrm>
        </p:spPr>
        <p:txBody>
          <a:bodyPr/>
          <a:lstStyle/>
          <a:p>
            <a:fld id="{673BA9A0-D382-41FB-AB73-7841F3556B1B}" type="slidenum">
              <a:rPr kumimoji="1" lang="ja-JP" altLang="en-US" smtClean="0"/>
              <a:t>2</a:t>
            </a:fld>
            <a:endParaRPr kumimoji="1" lang="ja-JP" altLang="en-US" dirty="0"/>
          </a:p>
        </p:txBody>
      </p:sp>
      <p:sp>
        <p:nvSpPr>
          <p:cNvPr id="5" name="コンテンツ プレースホルダー 1">
            <a:extLst>
              <a:ext uri="{FF2B5EF4-FFF2-40B4-BE49-F238E27FC236}">
                <a16:creationId xmlns:a16="http://schemas.microsoft.com/office/drawing/2014/main" id="{0FB2E913-28E7-ADDA-0254-A7E8F23DDFC6}"/>
              </a:ext>
            </a:extLst>
          </p:cNvPr>
          <p:cNvSpPr txBox="1">
            <a:spLocks/>
          </p:cNvSpPr>
          <p:nvPr/>
        </p:nvSpPr>
        <p:spPr>
          <a:xfrm>
            <a:off x="629841" y="5881351"/>
            <a:ext cx="10515600" cy="614339"/>
          </a:xfrm>
          <a:prstGeom prst="rect">
            <a:avLst/>
          </a:prstGeom>
        </p:spPr>
        <p:txBody>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000" b="1" dirty="0"/>
              <a:t>超広角カメラによる視野の広い</a:t>
            </a:r>
            <a:r>
              <a:rPr lang="en-US" altLang="ja-JP" sz="3000" b="1" dirty="0">
                <a:latin typeface="+mn-ea"/>
              </a:rPr>
              <a:t>SLAM</a:t>
            </a:r>
            <a:r>
              <a:rPr lang="ja-JP" altLang="en-US" sz="3000" b="1" dirty="0"/>
              <a:t>を目指す</a:t>
            </a:r>
          </a:p>
          <a:p>
            <a:endParaRPr lang="ja-JP" altLang="en-US" sz="3000" dirty="0"/>
          </a:p>
        </p:txBody>
      </p:sp>
      <p:sp>
        <p:nvSpPr>
          <p:cNvPr id="6" name="テキスト ボックス 5">
            <a:extLst>
              <a:ext uri="{FF2B5EF4-FFF2-40B4-BE49-F238E27FC236}">
                <a16:creationId xmlns:a16="http://schemas.microsoft.com/office/drawing/2014/main" id="{14A1973D-5AEA-160A-AE92-E617E1C3238F}"/>
              </a:ext>
            </a:extLst>
          </p:cNvPr>
          <p:cNvSpPr txBox="1"/>
          <p:nvPr/>
        </p:nvSpPr>
        <p:spPr>
          <a:xfrm>
            <a:off x="-75063" y="3534770"/>
            <a:ext cx="184731" cy="369332"/>
          </a:xfrm>
          <a:prstGeom prst="rect">
            <a:avLst/>
          </a:prstGeom>
          <a:noFill/>
        </p:spPr>
        <p:txBody>
          <a:bodyPr wrap="none" rtlCol="0">
            <a:spAutoFit/>
          </a:bodyPr>
          <a:lstStyle/>
          <a:p>
            <a:endParaRPr kumimoji="1" lang="ja-JP" altLang="en-US" dirty="0"/>
          </a:p>
        </p:txBody>
      </p:sp>
      <p:sp>
        <p:nvSpPr>
          <p:cNvPr id="7" name="テキスト ボックス 6">
            <a:extLst>
              <a:ext uri="{FF2B5EF4-FFF2-40B4-BE49-F238E27FC236}">
                <a16:creationId xmlns:a16="http://schemas.microsoft.com/office/drawing/2014/main" id="{E0433B2C-3590-ADDF-8B7B-D06EBCEA480B}"/>
              </a:ext>
            </a:extLst>
          </p:cNvPr>
          <p:cNvSpPr txBox="1"/>
          <p:nvPr/>
        </p:nvSpPr>
        <p:spPr>
          <a:xfrm>
            <a:off x="611188" y="1601249"/>
            <a:ext cx="8332217" cy="1384995"/>
          </a:xfrm>
          <a:prstGeom prst="rect">
            <a:avLst/>
          </a:prstGeom>
          <a:noFill/>
        </p:spPr>
        <p:txBody>
          <a:bodyPr wrap="none" rtlCol="0">
            <a:spAutoFit/>
          </a:bodyPr>
          <a:lstStyle/>
          <a:p>
            <a:r>
              <a:rPr lang="en-US" altLang="ja-JP" sz="2800" b="1" dirty="0"/>
              <a:t>SLAM</a:t>
            </a:r>
            <a:r>
              <a:rPr lang="ja-JP" altLang="en-US" sz="2800" b="1" dirty="0"/>
              <a:t>（</a:t>
            </a:r>
            <a:r>
              <a:rPr lang="en-US" altLang="ja-JP" sz="2800" b="1" dirty="0"/>
              <a:t>Simultaneous Localization and Mapping</a:t>
            </a:r>
            <a:r>
              <a:rPr lang="ja-JP" altLang="en-US" sz="2800" b="1" dirty="0"/>
              <a:t>）</a:t>
            </a:r>
            <a:endParaRPr lang="en-US" altLang="ja-JP" sz="2800" b="1" dirty="0"/>
          </a:p>
          <a:p>
            <a:pPr lvl="1"/>
            <a:r>
              <a:rPr lang="ja-JP" altLang="en-US" sz="2800" b="1" dirty="0"/>
              <a:t>自律移動ロボットが未知の環境下で</a:t>
            </a:r>
            <a:br>
              <a:rPr lang="en-US" altLang="ja-JP" sz="2800" b="1" dirty="0"/>
            </a:br>
            <a:r>
              <a:rPr lang="ja-JP" altLang="en-US" sz="2800" b="1" dirty="0"/>
              <a:t>周辺を把握する技術</a:t>
            </a:r>
            <a:endParaRPr lang="en-US" altLang="ja-JP" sz="2800" b="1" dirty="0"/>
          </a:p>
        </p:txBody>
      </p:sp>
    </p:spTree>
    <p:extLst>
      <p:ext uri="{BB962C8B-B14F-4D97-AF65-F5344CB8AC3E}">
        <p14:creationId xmlns:p14="http://schemas.microsoft.com/office/powerpoint/2010/main" val="3680496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095561-6141-9871-DA03-2A524883B14A}"/>
              </a:ext>
            </a:extLst>
          </p:cNvPr>
          <p:cNvSpPr>
            <a:spLocks noGrp="1"/>
          </p:cNvSpPr>
          <p:nvPr>
            <p:ph type="title"/>
          </p:nvPr>
        </p:nvSpPr>
        <p:spPr/>
        <p:txBody>
          <a:bodyPr/>
          <a:lstStyle/>
          <a:p>
            <a:r>
              <a:rPr kumimoji="1" lang="en-US" altLang="ja-JP" dirty="0"/>
              <a:t>SLAM</a:t>
            </a:r>
            <a:endParaRPr kumimoji="1" lang="ja-JP" altLang="en-US" dirty="0"/>
          </a:p>
        </p:txBody>
      </p:sp>
      <p:sp>
        <p:nvSpPr>
          <p:cNvPr id="3" name="コンテンツ プレースホルダー 2">
            <a:extLst>
              <a:ext uri="{FF2B5EF4-FFF2-40B4-BE49-F238E27FC236}">
                <a16:creationId xmlns:a16="http://schemas.microsoft.com/office/drawing/2014/main" id="{C0AF161B-55AE-B131-5D26-B8B97ECBFF29}"/>
              </a:ext>
            </a:extLst>
          </p:cNvPr>
          <p:cNvSpPr>
            <a:spLocks noGrp="1"/>
          </p:cNvSpPr>
          <p:nvPr>
            <p:ph idx="4294967295"/>
          </p:nvPr>
        </p:nvSpPr>
        <p:spPr>
          <a:xfrm>
            <a:off x="638885" y="2472925"/>
            <a:ext cx="2513747" cy="3863577"/>
          </a:xfrm>
        </p:spPr>
        <p:txBody>
          <a:bodyPr/>
          <a:lstStyle/>
          <a:p>
            <a:r>
              <a:rPr lang="ja-JP" altLang="en-US" sz="2400" b="1" dirty="0"/>
              <a:t>センサで観測</a:t>
            </a:r>
            <a:endParaRPr lang="en-US" altLang="ja-JP" sz="2400" b="1" dirty="0"/>
          </a:p>
          <a:p>
            <a:pPr marL="342892" lvl="1" indent="0">
              <a:buNone/>
            </a:pPr>
            <a:r>
              <a:rPr lang="ja-JP" altLang="en-US" sz="2200" dirty="0"/>
              <a:t>周囲の環境を</a:t>
            </a:r>
            <a:br>
              <a:rPr lang="en-US" altLang="ja-JP" sz="2200" dirty="0"/>
            </a:br>
            <a:r>
              <a:rPr lang="ja-JP" altLang="en-US" sz="2200" dirty="0"/>
              <a:t>把握する</a:t>
            </a:r>
            <a:endParaRPr lang="en-US" altLang="ja-JP" sz="2200" dirty="0"/>
          </a:p>
          <a:p>
            <a:pPr lvl="1"/>
            <a:endParaRPr lang="en-US" altLang="ja-JP" dirty="0"/>
          </a:p>
        </p:txBody>
      </p:sp>
      <p:sp>
        <p:nvSpPr>
          <p:cNvPr id="4" name="スライド番号プレースホルダー 3">
            <a:extLst>
              <a:ext uri="{FF2B5EF4-FFF2-40B4-BE49-F238E27FC236}">
                <a16:creationId xmlns:a16="http://schemas.microsoft.com/office/drawing/2014/main" id="{1E596246-4994-E686-DC23-C70B62969E57}"/>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3</a:t>
            </a:fld>
            <a:endParaRPr kumimoji="1" lang="ja-JP" altLang="en-US" dirty="0"/>
          </a:p>
        </p:txBody>
      </p:sp>
      <p:sp>
        <p:nvSpPr>
          <p:cNvPr id="7" name="コンテンツ プレースホルダー 2">
            <a:extLst>
              <a:ext uri="{FF2B5EF4-FFF2-40B4-BE49-F238E27FC236}">
                <a16:creationId xmlns:a16="http://schemas.microsoft.com/office/drawing/2014/main" id="{BB325A85-B012-14D1-80C5-2CD06730BA5B}"/>
              </a:ext>
            </a:extLst>
          </p:cNvPr>
          <p:cNvSpPr txBox="1">
            <a:spLocks/>
          </p:cNvSpPr>
          <p:nvPr/>
        </p:nvSpPr>
        <p:spPr>
          <a:xfrm>
            <a:off x="3354179" y="2470545"/>
            <a:ext cx="2513747" cy="3863577"/>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b="1" dirty="0"/>
              <a:t>地図の作成</a:t>
            </a:r>
            <a:endParaRPr lang="en-US" altLang="ja-JP" sz="2400" b="1" dirty="0"/>
          </a:p>
          <a:p>
            <a:pPr marL="342892" lvl="1" indent="0">
              <a:buNone/>
            </a:pPr>
            <a:r>
              <a:rPr lang="ja-JP" altLang="en-US" sz="2200" b="1" dirty="0"/>
              <a:t>情報を蓄積して</a:t>
            </a:r>
            <a:br>
              <a:rPr lang="en-US" altLang="ja-JP" sz="2200" b="1" dirty="0"/>
            </a:br>
            <a:r>
              <a:rPr lang="ja-JP" altLang="en-US" sz="2200" b="1" dirty="0"/>
              <a:t>整理する</a:t>
            </a:r>
            <a:endParaRPr lang="en-US" altLang="ja-JP" sz="2200" b="1" dirty="0"/>
          </a:p>
        </p:txBody>
      </p:sp>
      <p:sp>
        <p:nvSpPr>
          <p:cNvPr id="8" name="コンテンツ プレースホルダー 2">
            <a:extLst>
              <a:ext uri="{FF2B5EF4-FFF2-40B4-BE49-F238E27FC236}">
                <a16:creationId xmlns:a16="http://schemas.microsoft.com/office/drawing/2014/main" id="{392D1F7D-0D2F-121B-B950-C72A39F58C03}"/>
              </a:ext>
            </a:extLst>
          </p:cNvPr>
          <p:cNvSpPr txBox="1">
            <a:spLocks/>
          </p:cNvSpPr>
          <p:nvPr/>
        </p:nvSpPr>
        <p:spPr>
          <a:xfrm>
            <a:off x="6069471" y="2483749"/>
            <a:ext cx="2801574" cy="3863577"/>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b="1" dirty="0"/>
              <a:t>自己位置推定</a:t>
            </a:r>
            <a:endParaRPr lang="en-US" altLang="ja-JP" sz="2400" b="1" dirty="0"/>
          </a:p>
          <a:p>
            <a:pPr marL="342892" lvl="1" indent="0">
              <a:buNone/>
            </a:pPr>
            <a:r>
              <a:rPr lang="ja-JP" altLang="en-US" sz="2200" b="1" dirty="0"/>
              <a:t>自分が地図のどこにいるか考える</a:t>
            </a:r>
            <a:endParaRPr lang="en-US" altLang="ja-JP" sz="2200" b="1" dirty="0"/>
          </a:p>
        </p:txBody>
      </p:sp>
      <p:pic>
        <p:nvPicPr>
          <p:cNvPr id="10" name="図 9" descr="時計, 部屋 が含まれている画像&#10;&#10;AI によって生成されたコンテンツは間違っている可能性があります。">
            <a:extLst>
              <a:ext uri="{FF2B5EF4-FFF2-40B4-BE49-F238E27FC236}">
                <a16:creationId xmlns:a16="http://schemas.microsoft.com/office/drawing/2014/main" id="{C6A3346A-E407-03AB-66BA-44F6033C34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117" y="3852609"/>
            <a:ext cx="2481513" cy="2481513"/>
          </a:xfrm>
          <a:prstGeom prst="rect">
            <a:avLst/>
          </a:prstGeom>
        </p:spPr>
      </p:pic>
      <p:pic>
        <p:nvPicPr>
          <p:cNvPr id="14" name="図 13" descr="おもちゃ, レゴ が含まれている画像&#10;&#10;AI によって生成されたコンテンツは間違っている可能性があります。">
            <a:extLst>
              <a:ext uri="{FF2B5EF4-FFF2-40B4-BE49-F238E27FC236}">
                <a16:creationId xmlns:a16="http://schemas.microsoft.com/office/drawing/2014/main" id="{EAE4A71C-B44C-AB58-4BC3-A41CDD0E56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4175" y="3963944"/>
            <a:ext cx="2383382" cy="2383382"/>
          </a:xfrm>
          <a:prstGeom prst="rect">
            <a:avLst/>
          </a:prstGeom>
        </p:spPr>
      </p:pic>
      <p:pic>
        <p:nvPicPr>
          <p:cNvPr id="17" name="図 16" descr="テーブル が含まれている画像&#10;&#10;AI によって生成されたコンテンツは間違っている可能性があります。">
            <a:extLst>
              <a:ext uri="{FF2B5EF4-FFF2-40B4-BE49-F238E27FC236}">
                <a16:creationId xmlns:a16="http://schemas.microsoft.com/office/drawing/2014/main" id="{00D0A744-0870-0293-AF41-1AC4FE09CBBD}"/>
              </a:ext>
            </a:extLst>
          </p:cNvPr>
          <p:cNvPicPr>
            <a:picLocks noChangeAspect="1"/>
          </p:cNvPicPr>
          <p:nvPr/>
        </p:nvPicPr>
        <p:blipFill>
          <a:blip r:embed="rId5">
            <a:extLst>
              <a:ext uri="{28A0092B-C50C-407E-A947-70E740481C1C}">
                <a14:useLocalDpi xmlns:a14="http://schemas.microsoft.com/office/drawing/2010/main" val="0"/>
              </a:ext>
            </a:extLst>
          </a:blip>
          <a:srcRect b="20335"/>
          <a:stretch/>
        </p:blipFill>
        <p:spPr>
          <a:xfrm>
            <a:off x="6199834" y="4038597"/>
            <a:ext cx="2483750" cy="2104982"/>
          </a:xfrm>
          <a:prstGeom prst="rect">
            <a:avLst/>
          </a:prstGeom>
        </p:spPr>
      </p:pic>
      <p:sp>
        <p:nvSpPr>
          <p:cNvPr id="5" name="コンテンツ プレースホルダー 2">
            <a:extLst>
              <a:ext uri="{FF2B5EF4-FFF2-40B4-BE49-F238E27FC236}">
                <a16:creationId xmlns:a16="http://schemas.microsoft.com/office/drawing/2014/main" id="{ED82B357-73D7-9F47-2F89-84F6C0670149}"/>
              </a:ext>
            </a:extLst>
          </p:cNvPr>
          <p:cNvSpPr>
            <a:spLocks noGrp="1"/>
          </p:cNvSpPr>
          <p:nvPr>
            <p:ph idx="1"/>
          </p:nvPr>
        </p:nvSpPr>
        <p:spPr>
          <a:xfrm>
            <a:off x="628650" y="1628921"/>
            <a:ext cx="7886700" cy="693882"/>
          </a:xfrm>
        </p:spPr>
        <p:txBody>
          <a:bodyPr/>
          <a:lstStyle/>
          <a:p>
            <a:pPr marL="0" indent="0">
              <a:buNone/>
            </a:pPr>
            <a:r>
              <a:rPr lang="ja-JP" altLang="en-US" b="1" dirty="0"/>
              <a:t>自己位置推定と地図作成を同時に行う技術</a:t>
            </a:r>
            <a:endParaRPr lang="en-US" altLang="ja-JP" b="1" dirty="0"/>
          </a:p>
          <a:p>
            <a:pPr marL="0" indent="0">
              <a:buNone/>
            </a:pPr>
            <a:endParaRPr lang="en-US" altLang="ja-JP" dirty="0"/>
          </a:p>
        </p:txBody>
      </p:sp>
    </p:spTree>
    <p:extLst>
      <p:ext uri="{BB962C8B-B14F-4D97-AF65-F5344CB8AC3E}">
        <p14:creationId xmlns:p14="http://schemas.microsoft.com/office/powerpoint/2010/main" val="169014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descr="屋内, 座る, 小さい, フロント が含まれている画像&#10;&#10;AI によって生成されたコンテンツは間違っている可能性があります。">
            <a:extLst>
              <a:ext uri="{FF2B5EF4-FFF2-40B4-BE49-F238E27FC236}">
                <a16:creationId xmlns:a16="http://schemas.microsoft.com/office/drawing/2014/main" id="{8257E3CC-C7AC-A9E2-5968-598B7DB7C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813" y="2189912"/>
            <a:ext cx="2700488" cy="3706064"/>
          </a:xfrm>
          <a:prstGeom prst="rect">
            <a:avLst/>
          </a:prstGeom>
        </p:spPr>
      </p:pic>
      <p:sp>
        <p:nvSpPr>
          <p:cNvPr id="2" name="タイトル 1">
            <a:extLst>
              <a:ext uri="{FF2B5EF4-FFF2-40B4-BE49-F238E27FC236}">
                <a16:creationId xmlns:a16="http://schemas.microsoft.com/office/drawing/2014/main" id="{435B0217-AEAB-2091-AC1D-8AD8B64B440A}"/>
              </a:ext>
            </a:extLst>
          </p:cNvPr>
          <p:cNvSpPr>
            <a:spLocks noGrp="1"/>
          </p:cNvSpPr>
          <p:nvPr>
            <p:ph type="title"/>
          </p:nvPr>
        </p:nvSpPr>
        <p:spPr/>
        <p:txBody>
          <a:bodyPr>
            <a:normAutofit/>
          </a:bodyPr>
          <a:lstStyle/>
          <a:p>
            <a:r>
              <a:rPr lang="ja-JP" altLang="en-US" dirty="0"/>
              <a:t>ハードウェア構成</a:t>
            </a:r>
            <a:endParaRPr kumimoji="1" lang="ja-JP" altLang="en-US" dirty="0"/>
          </a:p>
        </p:txBody>
      </p:sp>
      <p:sp>
        <p:nvSpPr>
          <p:cNvPr id="3" name="コンテンツ プレースホルダー 2">
            <a:extLst>
              <a:ext uri="{FF2B5EF4-FFF2-40B4-BE49-F238E27FC236}">
                <a16:creationId xmlns:a16="http://schemas.microsoft.com/office/drawing/2014/main" id="{2912CE58-DC6D-E37F-433E-2A344E12DA65}"/>
              </a:ext>
            </a:extLst>
          </p:cNvPr>
          <p:cNvSpPr>
            <a:spLocks noGrp="1"/>
          </p:cNvSpPr>
          <p:nvPr>
            <p:ph idx="1"/>
          </p:nvPr>
        </p:nvSpPr>
        <p:spPr>
          <a:xfrm>
            <a:off x="619919" y="5172756"/>
            <a:ext cx="7904162" cy="1253295"/>
          </a:xfrm>
        </p:spPr>
        <p:txBody>
          <a:bodyPr>
            <a:normAutofit/>
          </a:bodyPr>
          <a:lstStyle/>
          <a:p>
            <a:pPr>
              <a:lnSpc>
                <a:spcPct val="100000"/>
              </a:lnSpc>
            </a:pPr>
            <a:r>
              <a:rPr lang="ja-JP" altLang="en-US" dirty="0"/>
              <a:t>カメラフレーム</a:t>
            </a:r>
            <a:endParaRPr lang="en-US" altLang="ja-JP" dirty="0"/>
          </a:p>
          <a:p>
            <a:pPr lvl="1">
              <a:lnSpc>
                <a:spcPct val="100000"/>
              </a:lnSpc>
            </a:pPr>
            <a:r>
              <a:rPr lang="en-US" altLang="ja-JP" dirty="0"/>
              <a:t>3D</a:t>
            </a:r>
            <a:r>
              <a:rPr lang="ja-JP" altLang="en-US" dirty="0"/>
              <a:t>プリンターで作成</a:t>
            </a:r>
            <a:endParaRPr lang="en-US" altLang="ja-JP" dirty="0"/>
          </a:p>
        </p:txBody>
      </p:sp>
      <p:sp>
        <p:nvSpPr>
          <p:cNvPr id="4" name="スライド番号プレースホルダー 3">
            <a:extLst>
              <a:ext uri="{FF2B5EF4-FFF2-40B4-BE49-F238E27FC236}">
                <a16:creationId xmlns:a16="http://schemas.microsoft.com/office/drawing/2014/main" id="{E828B81A-0DE4-FB4F-17BD-84F5FDF3BDC9}"/>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4</a:t>
            </a:fld>
            <a:endParaRPr kumimoji="1" lang="ja-JP" altLang="en-US" dirty="0"/>
          </a:p>
        </p:txBody>
      </p:sp>
      <p:pic>
        <p:nvPicPr>
          <p:cNvPr id="7" name="図 6">
            <a:extLst>
              <a:ext uri="{FF2B5EF4-FFF2-40B4-BE49-F238E27FC236}">
                <a16:creationId xmlns:a16="http://schemas.microsoft.com/office/drawing/2014/main" id="{CB9AF75E-A4DC-012D-9A4F-74E5033D6A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7349" y="3147446"/>
            <a:ext cx="1704819" cy="1727278"/>
          </a:xfrm>
          <a:prstGeom prst="rect">
            <a:avLst/>
          </a:prstGeom>
        </p:spPr>
      </p:pic>
      <p:pic>
        <p:nvPicPr>
          <p:cNvPr id="9" name="図 8" descr="座る, コンピュータ が含まれている画像&#10;&#10;AI によって生成されたコンテンツは間違っている可能性があります。">
            <a:extLst>
              <a:ext uri="{FF2B5EF4-FFF2-40B4-BE49-F238E27FC236}">
                <a16:creationId xmlns:a16="http://schemas.microsoft.com/office/drawing/2014/main" id="{A55BC63D-C7E7-7D84-5FA9-40BF652AD7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7349" y="1438750"/>
            <a:ext cx="1704819" cy="1708696"/>
          </a:xfrm>
          <a:prstGeom prst="rect">
            <a:avLst/>
          </a:prstGeom>
        </p:spPr>
      </p:pic>
      <p:pic>
        <p:nvPicPr>
          <p:cNvPr id="11" name="図 10" descr="屋内, テーブル, 座る, 小さい が含まれている画像&#10;&#10;AI によって生成されたコンテンツは間違っている可能性があります。">
            <a:extLst>
              <a:ext uri="{FF2B5EF4-FFF2-40B4-BE49-F238E27FC236}">
                <a16:creationId xmlns:a16="http://schemas.microsoft.com/office/drawing/2014/main" id="{A36C6C5B-4560-3879-44CA-525DCEEE10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37348" y="4848977"/>
            <a:ext cx="1704819" cy="1980448"/>
          </a:xfrm>
          <a:prstGeom prst="rect">
            <a:avLst/>
          </a:prstGeom>
        </p:spPr>
      </p:pic>
      <p:sp>
        <p:nvSpPr>
          <p:cNvPr id="6" name="コンテンツ プレースホルダー 2">
            <a:extLst>
              <a:ext uri="{FF2B5EF4-FFF2-40B4-BE49-F238E27FC236}">
                <a16:creationId xmlns:a16="http://schemas.microsoft.com/office/drawing/2014/main" id="{90F5A91B-FFA9-A8A9-8A10-591BC768FB10}"/>
              </a:ext>
            </a:extLst>
          </p:cNvPr>
          <p:cNvSpPr txBox="1">
            <a:spLocks/>
          </p:cNvSpPr>
          <p:nvPr/>
        </p:nvSpPr>
        <p:spPr>
          <a:xfrm>
            <a:off x="619919" y="1592263"/>
            <a:ext cx="7904162" cy="17086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dirty="0"/>
              <a:t>Jetson AGX Orin</a:t>
            </a:r>
          </a:p>
          <a:p>
            <a:pPr lvl="1">
              <a:lnSpc>
                <a:spcPct val="100000"/>
              </a:lnSpc>
            </a:pPr>
            <a:r>
              <a:rPr lang="ja-JP" altLang="en-US" dirty="0"/>
              <a:t>小型で高性能な組み込み</a:t>
            </a:r>
            <a:br>
              <a:rPr lang="en-US" altLang="ja-JP" dirty="0"/>
            </a:br>
            <a:r>
              <a:rPr lang="en-US" altLang="ja-JP" dirty="0"/>
              <a:t>AI</a:t>
            </a:r>
            <a:r>
              <a:rPr lang="ja-JP" altLang="en-US" dirty="0"/>
              <a:t>コンピューティング</a:t>
            </a:r>
            <a:br>
              <a:rPr lang="en-US" altLang="ja-JP" dirty="0"/>
            </a:br>
            <a:r>
              <a:rPr lang="ja-JP" altLang="en-US" dirty="0"/>
              <a:t>プラットフォーム</a:t>
            </a:r>
            <a:endParaRPr lang="en-US" altLang="ja-JP" dirty="0"/>
          </a:p>
        </p:txBody>
      </p:sp>
      <p:sp>
        <p:nvSpPr>
          <p:cNvPr id="8" name="コンテンツ プレースホルダー 2">
            <a:extLst>
              <a:ext uri="{FF2B5EF4-FFF2-40B4-BE49-F238E27FC236}">
                <a16:creationId xmlns:a16="http://schemas.microsoft.com/office/drawing/2014/main" id="{C43BD384-9524-BB9A-40E5-C427A8BDC381}"/>
              </a:ext>
            </a:extLst>
          </p:cNvPr>
          <p:cNvSpPr txBox="1">
            <a:spLocks/>
          </p:cNvSpPr>
          <p:nvPr/>
        </p:nvSpPr>
        <p:spPr>
          <a:xfrm>
            <a:off x="619919" y="3359624"/>
            <a:ext cx="7904162" cy="17721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ja-JP" altLang="en-US" dirty="0"/>
              <a:t>魚眼カメラ</a:t>
            </a:r>
            <a:endParaRPr lang="en-US" altLang="ja-JP" dirty="0"/>
          </a:p>
          <a:p>
            <a:pPr lvl="1">
              <a:lnSpc>
                <a:spcPct val="100000"/>
              </a:lnSpc>
            </a:pPr>
            <a:r>
              <a:rPr lang="ja-JP" altLang="en-US" dirty="0"/>
              <a:t>約</a:t>
            </a:r>
            <a:r>
              <a:rPr lang="en-US" altLang="ja-JP" dirty="0"/>
              <a:t>220°</a:t>
            </a:r>
            <a:r>
              <a:rPr lang="ja-JP" altLang="en-US" dirty="0"/>
              <a:t>の視野角を持つ</a:t>
            </a:r>
            <a:endParaRPr lang="en-US" altLang="ja-JP" dirty="0"/>
          </a:p>
          <a:p>
            <a:pPr lvl="1">
              <a:lnSpc>
                <a:spcPct val="100000"/>
              </a:lnSpc>
            </a:pPr>
            <a:r>
              <a:rPr lang="ja-JP" altLang="en-US" dirty="0"/>
              <a:t>上段</a:t>
            </a:r>
            <a:r>
              <a:rPr lang="en-US" altLang="ja-JP" dirty="0"/>
              <a:t>2</a:t>
            </a:r>
            <a:r>
              <a:rPr lang="ja-JP" altLang="en-US" dirty="0"/>
              <a:t>つ下段</a:t>
            </a:r>
            <a:r>
              <a:rPr lang="en-US" altLang="ja-JP" dirty="0"/>
              <a:t>2</a:t>
            </a:r>
            <a:r>
              <a:rPr lang="ja-JP" altLang="en-US" dirty="0"/>
              <a:t>つ</a:t>
            </a:r>
            <a:br>
              <a:rPr lang="en-US" altLang="ja-JP" dirty="0"/>
            </a:br>
            <a:r>
              <a:rPr lang="ja-JP" altLang="en-US" dirty="0"/>
              <a:t>四方に向くように配置</a:t>
            </a:r>
            <a:endParaRPr lang="en-US" altLang="ja-JP" dirty="0"/>
          </a:p>
          <a:p>
            <a:pPr lvl="1">
              <a:lnSpc>
                <a:spcPct val="100000"/>
              </a:lnSpc>
            </a:pPr>
            <a:endParaRPr lang="ja-JP" altLang="en-US" dirty="0"/>
          </a:p>
        </p:txBody>
      </p:sp>
    </p:spTree>
    <p:extLst>
      <p:ext uri="{BB962C8B-B14F-4D97-AF65-F5344CB8AC3E}">
        <p14:creationId xmlns:p14="http://schemas.microsoft.com/office/powerpoint/2010/main" val="2029674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6C0EB-2E19-38D2-9CCF-62B06160A6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3C5531-3E22-0420-CA22-3977D3FF3B5A}"/>
              </a:ext>
            </a:extLst>
          </p:cNvPr>
          <p:cNvSpPr>
            <a:spLocks noGrp="1"/>
          </p:cNvSpPr>
          <p:nvPr>
            <p:ph type="title"/>
          </p:nvPr>
        </p:nvSpPr>
        <p:spPr/>
        <p:txBody>
          <a:bodyPr/>
          <a:lstStyle/>
          <a:p>
            <a:r>
              <a:rPr kumimoji="1" lang="ja-JP" altLang="en-US" dirty="0"/>
              <a:t>ソフトウェア構成</a:t>
            </a:r>
          </a:p>
        </p:txBody>
      </p:sp>
      <p:sp>
        <p:nvSpPr>
          <p:cNvPr id="4" name="スライド番号プレースホルダー 3">
            <a:extLst>
              <a:ext uri="{FF2B5EF4-FFF2-40B4-BE49-F238E27FC236}">
                <a16:creationId xmlns:a16="http://schemas.microsoft.com/office/drawing/2014/main" id="{62138B49-FF19-6013-6FA6-6CF3399258E5}"/>
              </a:ext>
            </a:extLst>
          </p:cNvPr>
          <p:cNvSpPr>
            <a:spLocks noGrp="1"/>
          </p:cNvSpPr>
          <p:nvPr>
            <p:ph type="sldNum" sz="quarter" idx="12"/>
          </p:nvPr>
        </p:nvSpPr>
        <p:spPr>
          <a:xfrm>
            <a:off x="7029450" y="361948"/>
            <a:ext cx="2057400" cy="365125"/>
          </a:xfrm>
        </p:spPr>
        <p:txBody>
          <a:bodyPr/>
          <a:lstStyle/>
          <a:p>
            <a:fld id="{673BA9A0-D382-41FB-AB73-7841F3556B1B}" type="slidenum">
              <a:rPr kumimoji="1" lang="ja-JP" altLang="en-US" smtClean="0"/>
              <a:pPr/>
              <a:t>5</a:t>
            </a:fld>
            <a:endParaRPr kumimoji="1" lang="ja-JP" altLang="en-US" dirty="0"/>
          </a:p>
        </p:txBody>
      </p:sp>
      <p:sp>
        <p:nvSpPr>
          <p:cNvPr id="6" name="コンテンツ プレースホルダー 5">
            <a:extLst>
              <a:ext uri="{FF2B5EF4-FFF2-40B4-BE49-F238E27FC236}">
                <a16:creationId xmlns:a16="http://schemas.microsoft.com/office/drawing/2014/main" id="{65D22137-028A-280E-FCB8-A33DDCD92D22}"/>
              </a:ext>
            </a:extLst>
          </p:cNvPr>
          <p:cNvSpPr>
            <a:spLocks noGrp="1"/>
          </p:cNvSpPr>
          <p:nvPr>
            <p:ph idx="1"/>
          </p:nvPr>
        </p:nvSpPr>
        <p:spPr>
          <a:xfrm>
            <a:off x="611188" y="1592262"/>
            <a:ext cx="7904162" cy="4608513"/>
          </a:xfrm>
        </p:spPr>
        <p:txBody>
          <a:bodyPr>
            <a:normAutofit lnSpcReduction="10000"/>
          </a:bodyPr>
          <a:lstStyle/>
          <a:p>
            <a:pPr>
              <a:lnSpc>
                <a:spcPct val="110000"/>
              </a:lnSpc>
            </a:pPr>
            <a:r>
              <a:rPr lang="ja-JP" altLang="en-US" dirty="0"/>
              <a:t>魚眼カメラから取得してきた</a:t>
            </a:r>
            <a:r>
              <a:rPr lang="en-US" altLang="ja-JP" dirty="0"/>
              <a:t>4</a:t>
            </a:r>
            <a:r>
              <a:rPr lang="ja-JP" altLang="en-US" dirty="0"/>
              <a:t>枚のカラー画像をパノラマ深度画像に変換するプログラム</a:t>
            </a:r>
            <a:endParaRPr lang="en-US" altLang="ja-JP" dirty="0"/>
          </a:p>
          <a:p>
            <a:pPr lvl="1">
              <a:lnSpc>
                <a:spcPct val="150000"/>
              </a:lnSpc>
            </a:pPr>
            <a:r>
              <a:rPr lang="ja-JP" altLang="en-US" dirty="0"/>
              <a:t>深度画像とは各ピクセルにカメラからの距離情報が入ったマップ</a:t>
            </a:r>
            <a:endParaRPr lang="en-US" altLang="ja-JP" dirty="0"/>
          </a:p>
          <a:p>
            <a:pPr lvl="1">
              <a:lnSpc>
                <a:spcPct val="150000"/>
              </a:lnSpc>
            </a:pPr>
            <a:r>
              <a:rPr lang="en-US" altLang="ja-JP" dirty="0"/>
              <a:t>3</a:t>
            </a:r>
            <a:r>
              <a:rPr lang="ja-JP" altLang="en-US" dirty="0"/>
              <a:t>次元極座標系で周囲を把握することが出来る</a:t>
            </a:r>
            <a:endParaRPr lang="en-US" altLang="ja-JP" dirty="0"/>
          </a:p>
          <a:p>
            <a:pPr>
              <a:lnSpc>
                <a:spcPct val="150000"/>
              </a:lnSpc>
            </a:pPr>
            <a:r>
              <a:rPr lang="ja-JP" altLang="en-US" dirty="0"/>
              <a:t>地図作成と自己位置推定を行うプログラム</a:t>
            </a:r>
            <a:endParaRPr lang="en-US" altLang="ja-JP" dirty="0"/>
          </a:p>
          <a:p>
            <a:pPr lvl="1">
              <a:lnSpc>
                <a:spcPct val="150000"/>
              </a:lnSpc>
            </a:pPr>
            <a:r>
              <a:rPr lang="ja-JP" altLang="en-US" dirty="0"/>
              <a:t>既存のプログラムを活用して，信頼性の高い</a:t>
            </a:r>
            <a:br>
              <a:rPr lang="en-US" altLang="ja-JP" dirty="0"/>
            </a:br>
            <a:r>
              <a:rPr lang="en-US" altLang="ja-JP" dirty="0"/>
              <a:t>SLAM</a:t>
            </a:r>
            <a:r>
              <a:rPr lang="ja-JP" altLang="en-US" dirty="0"/>
              <a:t>システムを構成する</a:t>
            </a:r>
          </a:p>
        </p:txBody>
      </p:sp>
    </p:spTree>
    <p:extLst>
      <p:ext uri="{BB962C8B-B14F-4D97-AF65-F5344CB8AC3E}">
        <p14:creationId xmlns:p14="http://schemas.microsoft.com/office/powerpoint/2010/main" val="2878589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7EACB-E4E8-4F06-A9D8-EB6B2844DEED}"/>
            </a:ext>
          </a:extLst>
        </p:cNvPr>
        <p:cNvGrpSpPr/>
        <p:nvPr/>
      </p:nvGrpSpPr>
      <p:grpSpPr>
        <a:xfrm>
          <a:off x="0" y="0"/>
          <a:ext cx="0" cy="0"/>
          <a:chOff x="0" y="0"/>
          <a:chExt cx="0" cy="0"/>
        </a:xfrm>
      </p:grpSpPr>
      <p:sp>
        <p:nvSpPr>
          <p:cNvPr id="22" name="吹き出し: 四角形 21">
            <a:extLst>
              <a:ext uri="{FF2B5EF4-FFF2-40B4-BE49-F238E27FC236}">
                <a16:creationId xmlns:a16="http://schemas.microsoft.com/office/drawing/2014/main" id="{D85B1BAC-C225-B639-1B93-D46E44D130B7}"/>
              </a:ext>
            </a:extLst>
          </p:cNvPr>
          <p:cNvSpPr/>
          <p:nvPr/>
        </p:nvSpPr>
        <p:spPr>
          <a:xfrm>
            <a:off x="1025193" y="1602678"/>
            <a:ext cx="3197784" cy="1798753"/>
          </a:xfrm>
          <a:prstGeom prst="wedgeRectCallout">
            <a:avLst>
              <a:gd name="adj1" fmla="val 43088"/>
              <a:gd name="adj2" fmla="val 64283"/>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吹き出し: 四角形 41">
            <a:extLst>
              <a:ext uri="{FF2B5EF4-FFF2-40B4-BE49-F238E27FC236}">
                <a16:creationId xmlns:a16="http://schemas.microsoft.com/office/drawing/2014/main" id="{94589DFB-ACCC-A37A-8322-6346AB037A01}"/>
              </a:ext>
            </a:extLst>
          </p:cNvPr>
          <p:cNvSpPr/>
          <p:nvPr/>
        </p:nvSpPr>
        <p:spPr>
          <a:xfrm flipV="1">
            <a:off x="4861316" y="4021721"/>
            <a:ext cx="3197783" cy="1790768"/>
          </a:xfrm>
          <a:prstGeom prst="wedgeRectCallout">
            <a:avLst>
              <a:gd name="adj1" fmla="val -40102"/>
              <a:gd name="adj2" fmla="val 64274"/>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descr="屋内, 鏡, 眺め, 反射 が含まれている画像&#10;&#10;AI によって生成されたコンテンツは間違っている可能性があります。">
            <a:extLst>
              <a:ext uri="{FF2B5EF4-FFF2-40B4-BE49-F238E27FC236}">
                <a16:creationId xmlns:a16="http://schemas.microsoft.com/office/drawing/2014/main" id="{622B6672-08AE-2D5A-B111-3C8772803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1316" y="4013734"/>
            <a:ext cx="3197784" cy="1798755"/>
          </a:xfrm>
          <a:prstGeom prst="rect">
            <a:avLst/>
          </a:prstGeom>
        </p:spPr>
      </p:pic>
      <p:pic>
        <p:nvPicPr>
          <p:cNvPr id="44" name="図 43" descr="屋内, 鏡, 眺め, 座る が含まれている画像&#10;&#10;AI によって生成されたコンテンツは間違っている可能性があります。">
            <a:extLst>
              <a:ext uri="{FF2B5EF4-FFF2-40B4-BE49-F238E27FC236}">
                <a16:creationId xmlns:a16="http://schemas.microsoft.com/office/drawing/2014/main" id="{4F49059C-8CC3-0C0A-6DCD-1004F43BBA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671" y="4013735"/>
            <a:ext cx="3197786" cy="1798755"/>
          </a:xfrm>
          <a:prstGeom prst="rect">
            <a:avLst/>
          </a:prstGeom>
        </p:spPr>
      </p:pic>
      <p:pic>
        <p:nvPicPr>
          <p:cNvPr id="45" name="図 44" descr="屋内, 鏡, 眺め, 反射 が含まれている画像&#10;&#10;AI によって生成されたコンテンツは間違っている可能性があります。">
            <a:extLst>
              <a:ext uri="{FF2B5EF4-FFF2-40B4-BE49-F238E27FC236}">
                <a16:creationId xmlns:a16="http://schemas.microsoft.com/office/drawing/2014/main" id="{BF829582-299D-DCE1-7F5E-BB23BE6706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5191" y="1621656"/>
            <a:ext cx="3197786" cy="1804637"/>
          </a:xfrm>
          <a:prstGeom prst="rect">
            <a:avLst/>
          </a:prstGeom>
        </p:spPr>
      </p:pic>
      <p:sp>
        <p:nvSpPr>
          <p:cNvPr id="14" name="吹き出し: 四角形 13">
            <a:extLst>
              <a:ext uri="{FF2B5EF4-FFF2-40B4-BE49-F238E27FC236}">
                <a16:creationId xmlns:a16="http://schemas.microsoft.com/office/drawing/2014/main" id="{9B37554D-EF59-A458-A25C-6DD3DE1D9CE5}"/>
              </a:ext>
            </a:extLst>
          </p:cNvPr>
          <p:cNvSpPr/>
          <p:nvPr/>
        </p:nvSpPr>
        <p:spPr>
          <a:xfrm>
            <a:off x="4861316" y="1602678"/>
            <a:ext cx="3197783" cy="1798753"/>
          </a:xfrm>
          <a:prstGeom prst="wedgeRectCallout">
            <a:avLst>
              <a:gd name="adj1" fmla="val -57857"/>
              <a:gd name="adj2" fmla="val 33958"/>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1" name="図 40" descr="屋内, 眺め, 鏡, 座る が含まれている画像&#10;&#10;AI によって生成されたコンテンツは間違っている可能性があります。">
            <a:extLst>
              <a:ext uri="{FF2B5EF4-FFF2-40B4-BE49-F238E27FC236}">
                <a16:creationId xmlns:a16="http://schemas.microsoft.com/office/drawing/2014/main" id="{31034760-19F0-AAB0-EBBE-C4A81BE990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61317" y="1600777"/>
            <a:ext cx="3197783" cy="1798755"/>
          </a:xfrm>
          <a:prstGeom prst="rect">
            <a:avLst/>
          </a:prstGeom>
        </p:spPr>
      </p:pic>
      <p:sp>
        <p:nvSpPr>
          <p:cNvPr id="39" name="部分円 38">
            <a:extLst>
              <a:ext uri="{FF2B5EF4-FFF2-40B4-BE49-F238E27FC236}">
                <a16:creationId xmlns:a16="http://schemas.microsoft.com/office/drawing/2014/main" id="{D4CDC5C6-9748-D17F-EFA9-2A4E2D91064F}"/>
              </a:ext>
            </a:extLst>
          </p:cNvPr>
          <p:cNvSpPr/>
          <p:nvPr/>
        </p:nvSpPr>
        <p:spPr>
          <a:xfrm rot="5400000">
            <a:off x="4679056" y="3496701"/>
            <a:ext cx="476962" cy="467119"/>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38" name="部分円 37">
            <a:extLst>
              <a:ext uri="{FF2B5EF4-FFF2-40B4-BE49-F238E27FC236}">
                <a16:creationId xmlns:a16="http://schemas.microsoft.com/office/drawing/2014/main" id="{33F4AB8B-A8C1-D7B4-E30C-9B6B6097B927}"/>
              </a:ext>
            </a:extLst>
          </p:cNvPr>
          <p:cNvSpPr/>
          <p:nvPr/>
        </p:nvSpPr>
        <p:spPr>
          <a:xfrm rot="21447112">
            <a:off x="4352087" y="3144661"/>
            <a:ext cx="465848" cy="47826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17" name="吹き出し: 四角形 16">
            <a:extLst>
              <a:ext uri="{FF2B5EF4-FFF2-40B4-BE49-F238E27FC236}">
                <a16:creationId xmlns:a16="http://schemas.microsoft.com/office/drawing/2014/main" id="{0E3644CB-9B43-B0DA-8924-C6ECBA2CF993}"/>
              </a:ext>
            </a:extLst>
          </p:cNvPr>
          <p:cNvSpPr/>
          <p:nvPr/>
        </p:nvSpPr>
        <p:spPr>
          <a:xfrm flipV="1">
            <a:off x="1051670" y="4017733"/>
            <a:ext cx="3197786" cy="1790769"/>
          </a:xfrm>
          <a:prstGeom prst="wedgeRectCallout">
            <a:avLst>
              <a:gd name="adj1" fmla="val 55714"/>
              <a:gd name="adj2" fmla="val 35619"/>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吹き出し: 四角形 15">
            <a:extLst>
              <a:ext uri="{FF2B5EF4-FFF2-40B4-BE49-F238E27FC236}">
                <a16:creationId xmlns:a16="http://schemas.microsoft.com/office/drawing/2014/main" id="{F499DC48-E240-D503-146D-1AB0D80A494A}"/>
              </a:ext>
            </a:extLst>
          </p:cNvPr>
          <p:cNvSpPr/>
          <p:nvPr/>
        </p:nvSpPr>
        <p:spPr>
          <a:xfrm flipV="1">
            <a:off x="4861316" y="4017735"/>
            <a:ext cx="3197783" cy="1798755"/>
          </a:xfrm>
          <a:prstGeom prst="wedgeRectCallout">
            <a:avLst>
              <a:gd name="adj1" fmla="val -40102"/>
              <a:gd name="adj2" fmla="val 64274"/>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7D065F1-4917-1D97-DBC3-1EBED70D449F}"/>
              </a:ext>
            </a:extLst>
          </p:cNvPr>
          <p:cNvSpPr>
            <a:spLocks noGrp="1"/>
          </p:cNvSpPr>
          <p:nvPr>
            <p:ph type="title"/>
          </p:nvPr>
        </p:nvSpPr>
        <p:spPr/>
        <p:txBody>
          <a:bodyPr>
            <a:normAutofit/>
          </a:bodyPr>
          <a:lstStyle/>
          <a:p>
            <a:r>
              <a:rPr kumimoji="1" lang="ja-JP" altLang="en-US" dirty="0"/>
              <a:t>深度を取得する原理１</a:t>
            </a:r>
          </a:p>
        </p:txBody>
      </p:sp>
      <p:sp>
        <p:nvSpPr>
          <p:cNvPr id="4" name="スライド番号プレースホルダー 3">
            <a:extLst>
              <a:ext uri="{FF2B5EF4-FFF2-40B4-BE49-F238E27FC236}">
                <a16:creationId xmlns:a16="http://schemas.microsoft.com/office/drawing/2014/main" id="{E40AEA2C-4CD3-668D-CF7F-70E6CD55A30D}"/>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6</a:t>
            </a:fld>
            <a:endParaRPr kumimoji="1" lang="ja-JP" altLang="en-US" dirty="0"/>
          </a:p>
        </p:txBody>
      </p:sp>
      <p:sp>
        <p:nvSpPr>
          <p:cNvPr id="5" name="部分円 4">
            <a:extLst>
              <a:ext uri="{FF2B5EF4-FFF2-40B4-BE49-F238E27FC236}">
                <a16:creationId xmlns:a16="http://schemas.microsoft.com/office/drawing/2014/main" id="{AB22D8BA-C0C8-5721-20B5-516EFD2126CC}"/>
              </a:ext>
            </a:extLst>
          </p:cNvPr>
          <p:cNvSpPr/>
          <p:nvPr/>
        </p:nvSpPr>
        <p:spPr>
          <a:xfrm rot="21447112">
            <a:off x="4352088" y="3144661"/>
            <a:ext cx="465848" cy="478263"/>
          </a:xfrm>
          <a:prstGeom prst="pie">
            <a:avLst>
              <a:gd name="adj1" fmla="val 8998221"/>
              <a:gd name="adj2" fmla="val 1857598"/>
            </a:avLst>
          </a:prstGeom>
          <a:noFill/>
          <a:ln>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B3DFBCA2-00C1-45E4-26F1-B2595D087FA1}"/>
              </a:ext>
            </a:extLst>
          </p:cNvPr>
          <p:cNvSpPr/>
          <p:nvPr/>
        </p:nvSpPr>
        <p:spPr>
          <a:xfrm rot="5400000">
            <a:off x="4679056" y="3496701"/>
            <a:ext cx="476962" cy="467119"/>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35D7A86E-4C57-80A1-5B57-C10764EC4C74}"/>
              </a:ext>
            </a:extLst>
          </p:cNvPr>
          <p:cNvSpPr/>
          <p:nvPr/>
        </p:nvSpPr>
        <p:spPr>
          <a:xfrm rot="16200000">
            <a:off x="4009115" y="3496701"/>
            <a:ext cx="476962" cy="467120"/>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3098C9AE-EF6D-FAC4-2AFF-2E442333E516}"/>
              </a:ext>
            </a:extLst>
          </p:cNvPr>
          <p:cNvSpPr/>
          <p:nvPr/>
        </p:nvSpPr>
        <p:spPr>
          <a:xfrm>
            <a:off x="4257377" y="3394809"/>
            <a:ext cx="655272" cy="670904"/>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7D03A6BF-5577-98B1-E263-F2BB58D8A66D}"/>
              </a:ext>
            </a:extLst>
          </p:cNvPr>
          <p:cNvSpPr/>
          <p:nvPr/>
        </p:nvSpPr>
        <p:spPr>
          <a:xfrm rot="10800000">
            <a:off x="4353456" y="3829608"/>
            <a:ext cx="465848" cy="47826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pic>
        <p:nvPicPr>
          <p:cNvPr id="18" name="図 17" descr="屋内, 鏡, 眺め, 反射 が含まれている画像&#10;&#10;AI によって生成されたコンテンツは間違っている可能性があります。">
            <a:extLst>
              <a:ext uri="{FF2B5EF4-FFF2-40B4-BE49-F238E27FC236}">
                <a16:creationId xmlns:a16="http://schemas.microsoft.com/office/drawing/2014/main" id="{E32FB9F8-A5CE-CF8D-0581-67F1C00535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1316" y="4009748"/>
            <a:ext cx="3197784" cy="1798755"/>
          </a:xfrm>
          <a:prstGeom prst="rect">
            <a:avLst/>
          </a:prstGeom>
        </p:spPr>
      </p:pic>
      <p:pic>
        <p:nvPicPr>
          <p:cNvPr id="3" name="図 2" descr="屋内, 鏡, 眺め, 座る が含まれている画像&#10;&#10;AI によって生成されたコンテンツは間違っている可能性があります。">
            <a:extLst>
              <a:ext uri="{FF2B5EF4-FFF2-40B4-BE49-F238E27FC236}">
                <a16:creationId xmlns:a16="http://schemas.microsoft.com/office/drawing/2014/main" id="{5056A2E9-A1AC-42F2-F03C-F22CC2A55D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671" y="4009749"/>
            <a:ext cx="3197786" cy="1798755"/>
          </a:xfrm>
          <a:prstGeom prst="rect">
            <a:avLst/>
          </a:prstGeom>
        </p:spPr>
      </p:pic>
    </p:spTree>
    <p:extLst>
      <p:ext uri="{BB962C8B-B14F-4D97-AF65-F5344CB8AC3E}">
        <p14:creationId xmlns:p14="http://schemas.microsoft.com/office/powerpoint/2010/main" val="231043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8"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2AAA2-49D1-6EDF-0D0A-007ADDE23E63}"/>
            </a:ext>
          </a:extLst>
        </p:cNvPr>
        <p:cNvGrpSpPr/>
        <p:nvPr/>
      </p:nvGrpSpPr>
      <p:grpSpPr>
        <a:xfrm>
          <a:off x="0" y="0"/>
          <a:ext cx="0" cy="0"/>
          <a:chOff x="0" y="0"/>
          <a:chExt cx="0" cy="0"/>
        </a:xfrm>
      </p:grpSpPr>
      <p:sp>
        <p:nvSpPr>
          <p:cNvPr id="3" name="吹き出し: 四角形 2">
            <a:extLst>
              <a:ext uri="{FF2B5EF4-FFF2-40B4-BE49-F238E27FC236}">
                <a16:creationId xmlns:a16="http://schemas.microsoft.com/office/drawing/2014/main" id="{C204E26D-89DA-C227-82F4-A083EC806DF3}"/>
              </a:ext>
            </a:extLst>
          </p:cNvPr>
          <p:cNvSpPr/>
          <p:nvPr/>
        </p:nvSpPr>
        <p:spPr>
          <a:xfrm>
            <a:off x="628649" y="1672405"/>
            <a:ext cx="3171417" cy="1691678"/>
          </a:xfrm>
          <a:prstGeom prst="wedgeRectCallout">
            <a:avLst>
              <a:gd name="adj1" fmla="val 67631"/>
              <a:gd name="adj2" fmla="val 51138"/>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descr="屋内, 鏡, 眺め, 反射 が含まれている画像&#10;&#10;AI によって生成されたコンテンツは間違っている可能性があります。">
            <a:extLst>
              <a:ext uri="{FF2B5EF4-FFF2-40B4-BE49-F238E27FC236}">
                <a16:creationId xmlns:a16="http://schemas.microsoft.com/office/drawing/2014/main" id="{05400096-4116-3865-CB7B-053778856C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191" y="1621656"/>
            <a:ext cx="3197786" cy="1804637"/>
          </a:xfrm>
          <a:prstGeom prst="rect">
            <a:avLst/>
          </a:prstGeom>
        </p:spPr>
      </p:pic>
      <p:sp>
        <p:nvSpPr>
          <p:cNvPr id="12" name="吹き出し: 四角形 11">
            <a:extLst>
              <a:ext uri="{FF2B5EF4-FFF2-40B4-BE49-F238E27FC236}">
                <a16:creationId xmlns:a16="http://schemas.microsoft.com/office/drawing/2014/main" id="{BCCF19B2-B3CA-7C57-B9D2-FCB7E48C3BEF}"/>
              </a:ext>
            </a:extLst>
          </p:cNvPr>
          <p:cNvSpPr/>
          <p:nvPr/>
        </p:nvSpPr>
        <p:spPr>
          <a:xfrm>
            <a:off x="4861316" y="1602678"/>
            <a:ext cx="3197783" cy="1798753"/>
          </a:xfrm>
          <a:prstGeom prst="wedgeRectCallout">
            <a:avLst>
              <a:gd name="adj1" fmla="val -57857"/>
              <a:gd name="adj2" fmla="val 33958"/>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descr="屋内, 眺め, 鏡, 座る が含まれている画像&#10;&#10;AI によって生成されたコンテンツは間違っている可能性があります。">
            <a:extLst>
              <a:ext uri="{FF2B5EF4-FFF2-40B4-BE49-F238E27FC236}">
                <a16:creationId xmlns:a16="http://schemas.microsoft.com/office/drawing/2014/main" id="{E15859BD-951B-2CD7-315C-08D413A9EB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1317" y="1600777"/>
            <a:ext cx="3197783" cy="1798755"/>
          </a:xfrm>
          <a:prstGeom prst="rect">
            <a:avLst/>
          </a:prstGeom>
        </p:spPr>
      </p:pic>
      <p:sp>
        <p:nvSpPr>
          <p:cNvPr id="14" name="吹き出し: 四角形 13">
            <a:extLst>
              <a:ext uri="{FF2B5EF4-FFF2-40B4-BE49-F238E27FC236}">
                <a16:creationId xmlns:a16="http://schemas.microsoft.com/office/drawing/2014/main" id="{4F91BECF-AABD-2075-F741-0FB4C5B9FA94}"/>
              </a:ext>
            </a:extLst>
          </p:cNvPr>
          <p:cNvSpPr/>
          <p:nvPr/>
        </p:nvSpPr>
        <p:spPr>
          <a:xfrm flipV="1">
            <a:off x="1051670" y="4017733"/>
            <a:ext cx="3197786" cy="1790769"/>
          </a:xfrm>
          <a:prstGeom prst="wedgeRectCallout">
            <a:avLst>
              <a:gd name="adj1" fmla="val 55714"/>
              <a:gd name="adj2" fmla="val 35619"/>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吹き出し: 四角形 14">
            <a:extLst>
              <a:ext uri="{FF2B5EF4-FFF2-40B4-BE49-F238E27FC236}">
                <a16:creationId xmlns:a16="http://schemas.microsoft.com/office/drawing/2014/main" id="{F3AE2D12-87FF-31FC-C185-730A213752C7}"/>
              </a:ext>
            </a:extLst>
          </p:cNvPr>
          <p:cNvSpPr/>
          <p:nvPr/>
        </p:nvSpPr>
        <p:spPr>
          <a:xfrm flipV="1">
            <a:off x="4861316" y="4017735"/>
            <a:ext cx="3197783" cy="1798755"/>
          </a:xfrm>
          <a:prstGeom prst="wedgeRectCallout">
            <a:avLst>
              <a:gd name="adj1" fmla="val -40102"/>
              <a:gd name="adj2" fmla="val 64274"/>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descr="屋内, 鏡, 眺め, 反射 が含まれている画像&#10;&#10;AI によって生成されたコンテンツは間違っている可能性があります。">
            <a:extLst>
              <a:ext uri="{FF2B5EF4-FFF2-40B4-BE49-F238E27FC236}">
                <a16:creationId xmlns:a16="http://schemas.microsoft.com/office/drawing/2014/main" id="{E882918A-113C-A968-2A1D-9EF7AF026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1316" y="4009748"/>
            <a:ext cx="3197784" cy="1798755"/>
          </a:xfrm>
          <a:prstGeom prst="rect">
            <a:avLst/>
          </a:prstGeom>
        </p:spPr>
      </p:pic>
      <p:pic>
        <p:nvPicPr>
          <p:cNvPr id="17" name="図 16" descr="屋内, 鏡, 眺め, 座る が含まれている画像&#10;&#10;AI によって生成されたコンテンツは間違っている可能性があります。">
            <a:extLst>
              <a:ext uri="{FF2B5EF4-FFF2-40B4-BE49-F238E27FC236}">
                <a16:creationId xmlns:a16="http://schemas.microsoft.com/office/drawing/2014/main" id="{7357AFF9-5772-5B4D-0C24-465759E806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1671" y="4009749"/>
            <a:ext cx="3197786" cy="1798755"/>
          </a:xfrm>
          <a:prstGeom prst="rect">
            <a:avLst/>
          </a:prstGeom>
        </p:spPr>
      </p:pic>
      <p:grpSp>
        <p:nvGrpSpPr>
          <p:cNvPr id="10" name="グループ化 9">
            <a:extLst>
              <a:ext uri="{FF2B5EF4-FFF2-40B4-BE49-F238E27FC236}">
                <a16:creationId xmlns:a16="http://schemas.microsoft.com/office/drawing/2014/main" id="{5B719A22-F9AC-3AAA-D04F-5D4D86D98207}"/>
              </a:ext>
            </a:extLst>
          </p:cNvPr>
          <p:cNvGrpSpPr/>
          <p:nvPr/>
        </p:nvGrpSpPr>
        <p:grpSpPr>
          <a:xfrm>
            <a:off x="4014037" y="3148647"/>
            <a:ext cx="1137059" cy="1163206"/>
            <a:chOff x="5664126" y="3576222"/>
            <a:chExt cx="1586712" cy="1585378"/>
          </a:xfrm>
        </p:grpSpPr>
        <p:sp>
          <p:nvSpPr>
            <p:cNvPr id="5" name="部分円 4">
              <a:extLst>
                <a:ext uri="{FF2B5EF4-FFF2-40B4-BE49-F238E27FC236}">
                  <a16:creationId xmlns:a16="http://schemas.microsoft.com/office/drawing/2014/main" id="{29F2E9CA-29D4-460D-6CD3-A3C60349F083}"/>
                </a:ext>
              </a:extLst>
            </p:cNvPr>
            <p:cNvSpPr/>
            <p:nvPr/>
          </p:nvSpPr>
          <p:spPr>
            <a:xfrm rot="21447112">
              <a:off x="6135859" y="3576222"/>
              <a:ext cx="650069" cy="65184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A839E820-C857-EEAB-B6A5-0F71B8D77D09}"/>
                </a:ext>
              </a:extLst>
            </p:cNvPr>
            <p:cNvSpPr/>
            <p:nvPr/>
          </p:nvSpPr>
          <p:spPr>
            <a:xfrm rot="5400000">
              <a:off x="6599882" y="4048435"/>
              <a:ext cx="650070" cy="651842"/>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FE61B03E-94A8-A19F-34A9-EB8FD30B3FE7}"/>
                </a:ext>
              </a:extLst>
            </p:cNvPr>
            <p:cNvSpPr/>
            <p:nvPr/>
          </p:nvSpPr>
          <p:spPr>
            <a:xfrm rot="16200000">
              <a:off x="5665013" y="4048435"/>
              <a:ext cx="650070"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F6C2AD59-3C51-C96A-B70C-D57C24B11CAE}"/>
                </a:ext>
              </a:extLst>
            </p:cNvPr>
            <p:cNvSpPr/>
            <p:nvPr/>
          </p:nvSpPr>
          <p:spPr>
            <a:xfrm>
              <a:off x="6003695" y="3917157"/>
              <a:ext cx="914400" cy="914401"/>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D247CC71-4D0B-1CF9-C44B-2666FC6865ED}"/>
                </a:ext>
              </a:extLst>
            </p:cNvPr>
            <p:cNvSpPr/>
            <p:nvPr/>
          </p:nvSpPr>
          <p:spPr>
            <a:xfrm rot="10800000">
              <a:off x="6137766"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2" name="タイトル 1">
            <a:extLst>
              <a:ext uri="{FF2B5EF4-FFF2-40B4-BE49-F238E27FC236}">
                <a16:creationId xmlns:a16="http://schemas.microsoft.com/office/drawing/2014/main" id="{01DCB360-E374-CDE2-6CB8-EA66B30FCD6D}"/>
              </a:ext>
            </a:extLst>
          </p:cNvPr>
          <p:cNvSpPr>
            <a:spLocks noGrp="1"/>
          </p:cNvSpPr>
          <p:nvPr>
            <p:ph type="title"/>
          </p:nvPr>
        </p:nvSpPr>
        <p:spPr/>
        <p:txBody>
          <a:bodyPr>
            <a:normAutofit/>
          </a:bodyPr>
          <a:lstStyle/>
          <a:p>
            <a:r>
              <a:rPr kumimoji="1" lang="ja-JP" altLang="en-US" dirty="0"/>
              <a:t>深度を取得する原理</a:t>
            </a:r>
            <a:r>
              <a:rPr lang="ja-JP" altLang="en-US" dirty="0"/>
              <a:t>２</a:t>
            </a:r>
            <a:endParaRPr kumimoji="1" lang="ja-JP" altLang="en-US" dirty="0"/>
          </a:p>
        </p:txBody>
      </p:sp>
      <p:sp>
        <p:nvSpPr>
          <p:cNvPr id="4" name="スライド番号プレースホルダー 3">
            <a:extLst>
              <a:ext uri="{FF2B5EF4-FFF2-40B4-BE49-F238E27FC236}">
                <a16:creationId xmlns:a16="http://schemas.microsoft.com/office/drawing/2014/main" id="{C9558BE3-BD22-FCE0-839C-52F9430C46FF}"/>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7</a:t>
            </a:fld>
            <a:endParaRPr kumimoji="1" lang="ja-JP" altLang="en-US" dirty="0"/>
          </a:p>
        </p:txBody>
      </p:sp>
      <p:cxnSp>
        <p:nvCxnSpPr>
          <p:cNvPr id="42" name="直線コネクタ 41">
            <a:extLst>
              <a:ext uri="{FF2B5EF4-FFF2-40B4-BE49-F238E27FC236}">
                <a16:creationId xmlns:a16="http://schemas.microsoft.com/office/drawing/2014/main" id="{7D386739-9489-4DF0-B3E5-AB098AE34A7A}"/>
              </a:ext>
            </a:extLst>
          </p:cNvPr>
          <p:cNvCxnSpPr>
            <a:cxnSpLocks/>
          </p:cNvCxnSpPr>
          <p:nvPr/>
        </p:nvCxnSpPr>
        <p:spPr>
          <a:xfrm flipV="1">
            <a:off x="4576972" y="1294822"/>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088C45EB-7494-471F-EEC9-DEF5CBB161FA}"/>
              </a:ext>
            </a:extLst>
          </p:cNvPr>
          <p:cNvCxnSpPr>
            <a:cxnSpLocks/>
          </p:cNvCxnSpPr>
          <p:nvPr/>
        </p:nvCxnSpPr>
        <p:spPr>
          <a:xfrm flipV="1">
            <a:off x="4600784" y="3225311"/>
            <a:ext cx="175841" cy="162938"/>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1" name="スマイル 20">
            <a:extLst>
              <a:ext uri="{FF2B5EF4-FFF2-40B4-BE49-F238E27FC236}">
                <a16:creationId xmlns:a16="http://schemas.microsoft.com/office/drawing/2014/main" id="{C26BA6B0-DCA5-59A9-F3E8-3104962025C9}"/>
              </a:ext>
            </a:extLst>
          </p:cNvPr>
          <p:cNvSpPr/>
          <p:nvPr/>
        </p:nvSpPr>
        <p:spPr>
          <a:xfrm>
            <a:off x="5586038" y="1993629"/>
            <a:ext cx="471862" cy="478688"/>
          </a:xfrm>
          <a:prstGeom prst="smileyFac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72582FDD-0741-CD54-BB94-041990D09696}"/>
              </a:ext>
            </a:extLst>
          </p:cNvPr>
          <p:cNvSpPr/>
          <p:nvPr/>
        </p:nvSpPr>
        <p:spPr>
          <a:xfrm>
            <a:off x="5526279" y="1280122"/>
            <a:ext cx="3472758" cy="323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19EA1E6B-0E8D-EB1C-4AD3-A425BF514E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8930" y="3603228"/>
            <a:ext cx="2217248" cy="2217248"/>
          </a:xfrm>
          <a:prstGeom prst="rect">
            <a:avLst/>
          </a:prstGeom>
          <a:noFill/>
          <a:extLst>
            <a:ext uri="{909E8E84-426E-40DD-AFC4-6F175D3DCCD1}">
              <a14:hiddenFill xmlns:a14="http://schemas.microsoft.com/office/drawing/2010/main">
                <a:solidFill>
                  <a:srgbClr val="FFFFFF"/>
                </a:solidFill>
              </a14:hiddenFill>
            </a:ext>
          </a:extLst>
        </p:spPr>
      </p:pic>
      <p:sp>
        <p:nvSpPr>
          <p:cNvPr id="45" name="テキスト ボックス 44">
            <a:extLst>
              <a:ext uri="{FF2B5EF4-FFF2-40B4-BE49-F238E27FC236}">
                <a16:creationId xmlns:a16="http://schemas.microsoft.com/office/drawing/2014/main" id="{9C45988D-B027-4C3E-CC8D-8CD67670A575}"/>
              </a:ext>
            </a:extLst>
          </p:cNvPr>
          <p:cNvSpPr txBox="1"/>
          <p:nvPr/>
        </p:nvSpPr>
        <p:spPr>
          <a:xfrm>
            <a:off x="3861442" y="5516872"/>
            <a:ext cx="550151" cy="369332"/>
          </a:xfrm>
          <a:prstGeom prst="rect">
            <a:avLst/>
          </a:prstGeom>
          <a:noFill/>
        </p:spPr>
        <p:txBody>
          <a:bodyPr wrap="none" rtlCol="0">
            <a:spAutoFit/>
          </a:bodyPr>
          <a:lstStyle/>
          <a:p>
            <a:r>
              <a:rPr kumimoji="1" lang="en-US" altLang="ja-JP" dirty="0"/>
              <a:t>[</a:t>
            </a:r>
            <a:r>
              <a:rPr kumimoji="1" lang="ja-JP" altLang="en-US" dirty="0"/>
              <a:t>１</a:t>
            </a:r>
            <a:r>
              <a:rPr kumimoji="1" lang="en-US" altLang="ja-JP" dirty="0"/>
              <a:t>]</a:t>
            </a:r>
            <a:endParaRPr kumimoji="1" lang="ja-JP" altLang="en-US" dirty="0"/>
          </a:p>
        </p:txBody>
      </p:sp>
      <p:sp>
        <p:nvSpPr>
          <p:cNvPr id="47" name="テキスト ボックス 46">
            <a:extLst>
              <a:ext uri="{FF2B5EF4-FFF2-40B4-BE49-F238E27FC236}">
                <a16:creationId xmlns:a16="http://schemas.microsoft.com/office/drawing/2014/main" id="{45587CE1-AAA7-912E-A935-2C8019E7360B}"/>
              </a:ext>
            </a:extLst>
          </p:cNvPr>
          <p:cNvSpPr txBox="1"/>
          <p:nvPr/>
        </p:nvSpPr>
        <p:spPr>
          <a:xfrm>
            <a:off x="594061" y="6610352"/>
            <a:ext cx="7326630" cy="338554"/>
          </a:xfrm>
          <a:prstGeom prst="rect">
            <a:avLst/>
          </a:prstGeom>
          <a:noFill/>
        </p:spPr>
        <p:txBody>
          <a:bodyPr wrap="square" rtlCol="0">
            <a:spAutoFit/>
          </a:bodyPr>
          <a:lstStyle/>
          <a:p>
            <a:r>
              <a:rPr kumimoji="1" lang="en-US" altLang="ja-JP" sz="1600" dirty="0"/>
              <a:t>[</a:t>
            </a:r>
            <a:r>
              <a:rPr kumimoji="1" lang="ja-JP" altLang="en-US" sz="1600" dirty="0"/>
              <a:t>１</a:t>
            </a:r>
            <a:r>
              <a:rPr kumimoji="1" lang="en-US" altLang="ja-JP" sz="1600" dirty="0"/>
              <a:t>] https://moromisenpy.com/polar_coordinate_transformation/</a:t>
            </a:r>
            <a:endParaRPr kumimoji="1" lang="ja-JP" altLang="en-US" sz="1600" dirty="0"/>
          </a:p>
        </p:txBody>
      </p:sp>
      <p:sp>
        <p:nvSpPr>
          <p:cNvPr id="49" name="テキスト ボックス 48">
            <a:extLst>
              <a:ext uri="{FF2B5EF4-FFF2-40B4-BE49-F238E27FC236}">
                <a16:creationId xmlns:a16="http://schemas.microsoft.com/office/drawing/2014/main" id="{3FE92343-94CD-CC60-BA0F-E621829EA7DC}"/>
              </a:ext>
            </a:extLst>
          </p:cNvPr>
          <p:cNvSpPr txBox="1"/>
          <p:nvPr/>
        </p:nvSpPr>
        <p:spPr>
          <a:xfrm>
            <a:off x="5108365" y="3472141"/>
            <a:ext cx="1338828" cy="369332"/>
          </a:xfrm>
          <a:prstGeom prst="rect">
            <a:avLst/>
          </a:prstGeom>
          <a:noFill/>
        </p:spPr>
        <p:txBody>
          <a:bodyPr wrap="none" rtlCol="0">
            <a:spAutoFit/>
          </a:bodyPr>
          <a:lstStyle/>
          <a:p>
            <a:r>
              <a:rPr kumimoji="1" lang="ja-JP" altLang="en-US" dirty="0">
                <a:solidFill>
                  <a:srgbClr val="FF0000"/>
                </a:solidFill>
              </a:rPr>
              <a:t>補助カメラ</a:t>
            </a:r>
          </a:p>
        </p:txBody>
      </p:sp>
      <p:sp>
        <p:nvSpPr>
          <p:cNvPr id="52" name="フローチャート: 結合子 51">
            <a:extLst>
              <a:ext uri="{FF2B5EF4-FFF2-40B4-BE49-F238E27FC236}">
                <a16:creationId xmlns:a16="http://schemas.microsoft.com/office/drawing/2014/main" id="{457274DE-7830-351D-8719-B7A7CB3562A6}"/>
              </a:ext>
            </a:extLst>
          </p:cNvPr>
          <p:cNvSpPr/>
          <p:nvPr/>
        </p:nvSpPr>
        <p:spPr>
          <a:xfrm>
            <a:off x="2621375" y="2989987"/>
            <a:ext cx="175165" cy="158251"/>
          </a:xfrm>
          <a:prstGeom prst="flowChartConnector">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1C6BB225-BBD3-3B40-7C37-575AF2708779}"/>
              </a:ext>
            </a:extLst>
          </p:cNvPr>
          <p:cNvSpPr txBox="1"/>
          <p:nvPr/>
        </p:nvSpPr>
        <p:spPr>
          <a:xfrm>
            <a:off x="3907866" y="2557555"/>
            <a:ext cx="1387692" cy="369332"/>
          </a:xfrm>
          <a:prstGeom prst="rect">
            <a:avLst/>
          </a:prstGeom>
          <a:noFill/>
        </p:spPr>
        <p:txBody>
          <a:bodyPr wrap="square" rtlCol="0">
            <a:spAutoFit/>
          </a:bodyPr>
          <a:lstStyle/>
          <a:p>
            <a:r>
              <a:rPr kumimoji="1" lang="ja-JP" altLang="en-US" dirty="0">
                <a:solidFill>
                  <a:srgbClr val="0070C0"/>
                </a:solidFill>
              </a:rPr>
              <a:t>基準カメラ</a:t>
            </a:r>
          </a:p>
        </p:txBody>
      </p:sp>
    </p:spTree>
    <p:extLst>
      <p:ext uri="{BB962C8B-B14F-4D97-AF65-F5344CB8AC3E}">
        <p14:creationId xmlns:p14="http://schemas.microsoft.com/office/powerpoint/2010/main" val="212830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10000" decel="10000" fill="hold" nodeType="withEffect">
                                  <p:stCondLst>
                                    <p:cond delay="0"/>
                                  </p:stCondLst>
                                  <p:childTnLst>
                                    <p:animMotion origin="layout" path="M 0.00851 -1.85185E-6 L -0.46545 -0.00393 " pathEditMode="relative" rAng="0" ptsTypes="AA">
                                      <p:cBhvr>
                                        <p:cTn id="6" dur="500" fill="hold"/>
                                        <p:tgtEl>
                                          <p:spTgt spid="13"/>
                                        </p:tgtEl>
                                        <p:attrNameLst>
                                          <p:attrName>ppt_x</p:attrName>
                                          <p:attrName>ppt_y</p:attrName>
                                        </p:attrNameLst>
                                      </p:cBhvr>
                                      <p:rCtr x="-23698" y="-208"/>
                                    </p:animMotion>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7"/>
                                        </p:tgtEl>
                                        <p:attrNameLst>
                                          <p:attrName>style.visibility</p:attrName>
                                        </p:attrNameLst>
                                      </p:cBhvr>
                                      <p:to>
                                        <p:strVal val="hidden"/>
                                      </p:to>
                                    </p:se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02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4" grpId="0" animBg="1"/>
      <p:bldP spid="21" grpId="0" animBg="1"/>
      <p:bldP spid="45" grpId="0"/>
      <p:bldP spid="47" grpId="0"/>
      <p:bldP spid="49" grpId="0"/>
      <p:bldP spid="52" grpId="0" animBg="1"/>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41B8C-8FFD-0597-2688-3FEDEB0C4350}"/>
            </a:ext>
          </a:extLst>
        </p:cNvPr>
        <p:cNvGrpSpPr/>
        <p:nvPr/>
      </p:nvGrpSpPr>
      <p:grpSpPr>
        <a:xfrm>
          <a:off x="0" y="0"/>
          <a:ext cx="0" cy="0"/>
          <a:chOff x="0" y="0"/>
          <a:chExt cx="0" cy="0"/>
        </a:xfrm>
      </p:grpSpPr>
      <p:cxnSp>
        <p:nvCxnSpPr>
          <p:cNvPr id="28" name="直線コネクタ 27">
            <a:extLst>
              <a:ext uri="{FF2B5EF4-FFF2-40B4-BE49-F238E27FC236}">
                <a16:creationId xmlns:a16="http://schemas.microsoft.com/office/drawing/2014/main" id="{AAF72152-E661-FA74-3705-1C1B0AFFFE82}"/>
              </a:ext>
            </a:extLst>
          </p:cNvPr>
          <p:cNvCxnSpPr>
            <a:cxnSpLocks/>
          </p:cNvCxnSpPr>
          <p:nvPr/>
        </p:nvCxnSpPr>
        <p:spPr>
          <a:xfrm flipH="1">
            <a:off x="4932357" y="1742121"/>
            <a:ext cx="1457858" cy="1989854"/>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06A8CAA0-42CA-A93A-88AA-CCAA3F664A88}"/>
              </a:ext>
            </a:extLst>
          </p:cNvPr>
          <p:cNvCxnSpPr>
            <a:cxnSpLocks/>
          </p:cNvCxnSpPr>
          <p:nvPr/>
        </p:nvCxnSpPr>
        <p:spPr>
          <a:xfrm flipH="1">
            <a:off x="4927467" y="2728635"/>
            <a:ext cx="368091" cy="989948"/>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83" name="直線矢印コネクタ 82">
            <a:extLst>
              <a:ext uri="{FF2B5EF4-FFF2-40B4-BE49-F238E27FC236}">
                <a16:creationId xmlns:a16="http://schemas.microsoft.com/office/drawing/2014/main" id="{2C56E2A3-868E-EDB3-79B6-A4AC490D5299}"/>
              </a:ext>
            </a:extLst>
          </p:cNvPr>
          <p:cNvCxnSpPr>
            <a:cxnSpLocks/>
          </p:cNvCxnSpPr>
          <p:nvPr/>
        </p:nvCxnSpPr>
        <p:spPr>
          <a:xfrm flipV="1">
            <a:off x="4909079" y="3493383"/>
            <a:ext cx="91093" cy="238482"/>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吹き出し: 四角形 56">
            <a:extLst>
              <a:ext uri="{FF2B5EF4-FFF2-40B4-BE49-F238E27FC236}">
                <a16:creationId xmlns:a16="http://schemas.microsoft.com/office/drawing/2014/main" id="{599C608A-CEE7-AC2C-E08C-C3BDD83877FD}"/>
              </a:ext>
            </a:extLst>
          </p:cNvPr>
          <p:cNvSpPr/>
          <p:nvPr/>
        </p:nvSpPr>
        <p:spPr>
          <a:xfrm flipV="1">
            <a:off x="4861316" y="4021721"/>
            <a:ext cx="3197783" cy="1798755"/>
          </a:xfrm>
          <a:prstGeom prst="wedgeRectCallout">
            <a:avLst>
              <a:gd name="adj1" fmla="val -40102"/>
              <a:gd name="adj2" fmla="val 64274"/>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8" name="図 57" descr="屋内, 鏡, 眺め, 反射 が含まれている画像&#10;&#10;AI によって生成されたコンテンツは間違っている可能性があります。">
            <a:extLst>
              <a:ext uri="{FF2B5EF4-FFF2-40B4-BE49-F238E27FC236}">
                <a16:creationId xmlns:a16="http://schemas.microsoft.com/office/drawing/2014/main" id="{5E4AB169-5B99-C4EB-26BF-2593A91A3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1316" y="4013734"/>
            <a:ext cx="3197784" cy="1798755"/>
          </a:xfrm>
          <a:prstGeom prst="rect">
            <a:avLst/>
          </a:prstGeom>
        </p:spPr>
      </p:pic>
      <p:sp>
        <p:nvSpPr>
          <p:cNvPr id="45" name="吹き出し: 四角形 44">
            <a:extLst>
              <a:ext uri="{FF2B5EF4-FFF2-40B4-BE49-F238E27FC236}">
                <a16:creationId xmlns:a16="http://schemas.microsoft.com/office/drawing/2014/main" id="{5D1DF18F-29EB-C335-F280-CA716F167729}"/>
              </a:ext>
            </a:extLst>
          </p:cNvPr>
          <p:cNvSpPr/>
          <p:nvPr/>
        </p:nvSpPr>
        <p:spPr>
          <a:xfrm>
            <a:off x="628649" y="1672405"/>
            <a:ext cx="3171417" cy="1691678"/>
          </a:xfrm>
          <a:prstGeom prst="wedgeRectCallout">
            <a:avLst>
              <a:gd name="adj1" fmla="val 67631"/>
              <a:gd name="adj2" fmla="val 51138"/>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0EF4FE4-501B-151B-5CB5-CF33F70C1904}"/>
              </a:ext>
            </a:extLst>
          </p:cNvPr>
          <p:cNvSpPr>
            <a:spLocks noGrp="1"/>
          </p:cNvSpPr>
          <p:nvPr>
            <p:ph type="title"/>
          </p:nvPr>
        </p:nvSpPr>
        <p:spPr/>
        <p:txBody>
          <a:bodyPr>
            <a:normAutofit/>
          </a:bodyPr>
          <a:lstStyle/>
          <a:p>
            <a:r>
              <a:rPr kumimoji="1" lang="ja-JP" altLang="en-US" dirty="0"/>
              <a:t>深度を取得する原理</a:t>
            </a:r>
            <a:r>
              <a:rPr lang="ja-JP" altLang="en-US" dirty="0"/>
              <a:t>３</a:t>
            </a:r>
            <a:endParaRPr kumimoji="1" lang="ja-JP" altLang="en-US" dirty="0"/>
          </a:p>
        </p:txBody>
      </p:sp>
      <p:sp>
        <p:nvSpPr>
          <p:cNvPr id="4" name="スライド番号プレースホルダー 3">
            <a:extLst>
              <a:ext uri="{FF2B5EF4-FFF2-40B4-BE49-F238E27FC236}">
                <a16:creationId xmlns:a16="http://schemas.microsoft.com/office/drawing/2014/main" id="{F9EFA992-6573-5418-01AA-1A62C74ACEFD}"/>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8</a:t>
            </a:fld>
            <a:endParaRPr kumimoji="1" lang="ja-JP" altLang="en-US" dirty="0"/>
          </a:p>
        </p:txBody>
      </p:sp>
      <p:pic>
        <p:nvPicPr>
          <p:cNvPr id="31" name="図 30" descr="屋内, 眺め, 鏡, 座る が含まれている画像&#10;&#10;AI によって生成されたコンテンツは間違っている可能性があります。">
            <a:extLst>
              <a:ext uri="{FF2B5EF4-FFF2-40B4-BE49-F238E27FC236}">
                <a16:creationId xmlns:a16="http://schemas.microsoft.com/office/drawing/2014/main" id="{CFFF75C2-B3CB-0E28-D4A4-FC8BA66F08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815" y="1572841"/>
            <a:ext cx="3197783" cy="1798753"/>
          </a:xfrm>
          <a:prstGeom prst="rect">
            <a:avLst/>
          </a:prstGeom>
        </p:spPr>
      </p:pic>
      <p:sp>
        <p:nvSpPr>
          <p:cNvPr id="35" name="楕円 34">
            <a:extLst>
              <a:ext uri="{FF2B5EF4-FFF2-40B4-BE49-F238E27FC236}">
                <a16:creationId xmlns:a16="http://schemas.microsoft.com/office/drawing/2014/main" id="{F3380FE2-05C0-9781-9A7C-FE7E75F0E2AF}"/>
              </a:ext>
            </a:extLst>
          </p:cNvPr>
          <p:cNvSpPr/>
          <p:nvPr/>
        </p:nvSpPr>
        <p:spPr>
          <a:xfrm>
            <a:off x="5913105" y="5558354"/>
            <a:ext cx="144795" cy="147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7" name="フローチャート: 結合子 36">
            <a:extLst>
              <a:ext uri="{FF2B5EF4-FFF2-40B4-BE49-F238E27FC236}">
                <a16:creationId xmlns:a16="http://schemas.microsoft.com/office/drawing/2014/main" id="{75E5854C-FF12-9CC4-F6A6-533F8AE89F94}"/>
              </a:ext>
            </a:extLst>
          </p:cNvPr>
          <p:cNvSpPr/>
          <p:nvPr/>
        </p:nvSpPr>
        <p:spPr>
          <a:xfrm>
            <a:off x="2621375" y="2989987"/>
            <a:ext cx="175165" cy="158251"/>
          </a:xfrm>
          <a:prstGeom prst="flowChartConnector">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36ACF797-08CC-B1F6-541C-A135EEFE2582}"/>
              </a:ext>
            </a:extLst>
          </p:cNvPr>
          <p:cNvSpPr/>
          <p:nvPr/>
        </p:nvSpPr>
        <p:spPr>
          <a:xfrm>
            <a:off x="5526279" y="1268413"/>
            <a:ext cx="3472758" cy="323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コンテンツ プレースホルダー 13">
            <a:extLst>
              <a:ext uri="{FF2B5EF4-FFF2-40B4-BE49-F238E27FC236}">
                <a16:creationId xmlns:a16="http://schemas.microsoft.com/office/drawing/2014/main" id="{EBEB9949-5462-FA03-BC34-5D6693FFE763}"/>
              </a:ext>
            </a:extLst>
          </p:cNvPr>
          <p:cNvSpPr txBox="1">
            <a:spLocks/>
          </p:cNvSpPr>
          <p:nvPr/>
        </p:nvSpPr>
        <p:spPr>
          <a:xfrm>
            <a:off x="628650" y="5860398"/>
            <a:ext cx="7886700" cy="8864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dirty="0"/>
              <a:t>正しい距離であれば</a:t>
            </a:r>
            <a:r>
              <a:rPr lang="ja-JP" altLang="en-US" dirty="0">
                <a:solidFill>
                  <a:srgbClr val="FF0000"/>
                </a:solidFill>
              </a:rPr>
              <a:t>再投影されたピクセル</a:t>
            </a:r>
            <a:r>
              <a:rPr lang="ja-JP" altLang="en-US" dirty="0"/>
              <a:t>は</a:t>
            </a:r>
            <a:br>
              <a:rPr lang="en-US" altLang="ja-JP" dirty="0"/>
            </a:br>
            <a:r>
              <a:rPr lang="ja-JP" altLang="en-US" dirty="0">
                <a:solidFill>
                  <a:srgbClr val="0070C0"/>
                </a:solidFill>
              </a:rPr>
              <a:t>基準カメラでのピクセル</a:t>
            </a:r>
            <a:r>
              <a:rPr lang="ja-JP" altLang="en-US" dirty="0"/>
              <a:t>と近しい色となる</a:t>
            </a:r>
          </a:p>
        </p:txBody>
      </p:sp>
      <p:sp>
        <p:nvSpPr>
          <p:cNvPr id="48" name="テキスト ボックス 47">
            <a:extLst>
              <a:ext uri="{FF2B5EF4-FFF2-40B4-BE49-F238E27FC236}">
                <a16:creationId xmlns:a16="http://schemas.microsoft.com/office/drawing/2014/main" id="{3BDB4900-531F-674F-67D2-E4048C73127A}"/>
              </a:ext>
            </a:extLst>
          </p:cNvPr>
          <p:cNvSpPr txBox="1"/>
          <p:nvPr/>
        </p:nvSpPr>
        <p:spPr>
          <a:xfrm>
            <a:off x="3907866" y="2557555"/>
            <a:ext cx="1387692" cy="369332"/>
          </a:xfrm>
          <a:prstGeom prst="rect">
            <a:avLst/>
          </a:prstGeom>
          <a:noFill/>
        </p:spPr>
        <p:txBody>
          <a:bodyPr wrap="square" rtlCol="0">
            <a:spAutoFit/>
          </a:bodyPr>
          <a:lstStyle/>
          <a:p>
            <a:r>
              <a:rPr kumimoji="1" lang="ja-JP" altLang="en-US" dirty="0">
                <a:solidFill>
                  <a:srgbClr val="0070C0"/>
                </a:solidFill>
              </a:rPr>
              <a:t>基準カメラ</a:t>
            </a:r>
          </a:p>
        </p:txBody>
      </p:sp>
      <p:sp>
        <p:nvSpPr>
          <p:cNvPr id="49" name="テキスト ボックス 48">
            <a:extLst>
              <a:ext uri="{FF2B5EF4-FFF2-40B4-BE49-F238E27FC236}">
                <a16:creationId xmlns:a16="http://schemas.microsoft.com/office/drawing/2014/main" id="{B88C77E4-43AD-ED8E-B83A-51CA6D56139C}"/>
              </a:ext>
            </a:extLst>
          </p:cNvPr>
          <p:cNvSpPr txBox="1"/>
          <p:nvPr/>
        </p:nvSpPr>
        <p:spPr>
          <a:xfrm>
            <a:off x="5108365" y="3472141"/>
            <a:ext cx="1338828" cy="369332"/>
          </a:xfrm>
          <a:prstGeom prst="rect">
            <a:avLst/>
          </a:prstGeom>
          <a:noFill/>
        </p:spPr>
        <p:txBody>
          <a:bodyPr wrap="none" rtlCol="0">
            <a:spAutoFit/>
          </a:bodyPr>
          <a:lstStyle/>
          <a:p>
            <a:r>
              <a:rPr kumimoji="1" lang="ja-JP" altLang="en-US" dirty="0">
                <a:solidFill>
                  <a:srgbClr val="FF0000"/>
                </a:solidFill>
              </a:rPr>
              <a:t>補助カメラ</a:t>
            </a:r>
          </a:p>
        </p:txBody>
      </p:sp>
      <p:cxnSp>
        <p:nvCxnSpPr>
          <p:cNvPr id="50" name="直線コネクタ 49">
            <a:extLst>
              <a:ext uri="{FF2B5EF4-FFF2-40B4-BE49-F238E27FC236}">
                <a16:creationId xmlns:a16="http://schemas.microsoft.com/office/drawing/2014/main" id="{EB5DC4B8-0B71-8435-EEFE-FE7426854E51}"/>
              </a:ext>
            </a:extLst>
          </p:cNvPr>
          <p:cNvCxnSpPr>
            <a:cxnSpLocks/>
          </p:cNvCxnSpPr>
          <p:nvPr/>
        </p:nvCxnSpPr>
        <p:spPr>
          <a:xfrm flipV="1">
            <a:off x="4576972" y="1294822"/>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grpSp>
        <p:nvGrpSpPr>
          <p:cNvPr id="51" name="グループ化 50">
            <a:extLst>
              <a:ext uri="{FF2B5EF4-FFF2-40B4-BE49-F238E27FC236}">
                <a16:creationId xmlns:a16="http://schemas.microsoft.com/office/drawing/2014/main" id="{67F67B40-FD9C-FDF3-7CEC-8BA956ACAA9B}"/>
              </a:ext>
            </a:extLst>
          </p:cNvPr>
          <p:cNvGrpSpPr/>
          <p:nvPr/>
        </p:nvGrpSpPr>
        <p:grpSpPr>
          <a:xfrm>
            <a:off x="4014035" y="3148647"/>
            <a:ext cx="1137062" cy="1163209"/>
            <a:chOff x="5664122" y="3576219"/>
            <a:chExt cx="1586716" cy="1585381"/>
          </a:xfrm>
        </p:grpSpPr>
        <p:sp>
          <p:nvSpPr>
            <p:cNvPr id="52" name="部分円 51">
              <a:extLst>
                <a:ext uri="{FF2B5EF4-FFF2-40B4-BE49-F238E27FC236}">
                  <a16:creationId xmlns:a16="http://schemas.microsoft.com/office/drawing/2014/main" id="{865C55E2-0E99-5322-6BE5-2D8D0C9CBB75}"/>
                </a:ext>
              </a:extLst>
            </p:cNvPr>
            <p:cNvSpPr/>
            <p:nvPr/>
          </p:nvSpPr>
          <p:spPr>
            <a:xfrm rot="21447112">
              <a:off x="6135858" y="3576219"/>
              <a:ext cx="650069" cy="65184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53" name="部分円 52">
              <a:extLst>
                <a:ext uri="{FF2B5EF4-FFF2-40B4-BE49-F238E27FC236}">
                  <a16:creationId xmlns:a16="http://schemas.microsoft.com/office/drawing/2014/main" id="{EB8255E5-3937-D2B5-E8E1-23FDE880B9D3}"/>
                </a:ext>
              </a:extLst>
            </p:cNvPr>
            <p:cNvSpPr/>
            <p:nvPr/>
          </p:nvSpPr>
          <p:spPr>
            <a:xfrm rot="5400000">
              <a:off x="6599882" y="4048432"/>
              <a:ext cx="650069" cy="651843"/>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54" name="部分円 53">
              <a:extLst>
                <a:ext uri="{FF2B5EF4-FFF2-40B4-BE49-F238E27FC236}">
                  <a16:creationId xmlns:a16="http://schemas.microsoft.com/office/drawing/2014/main" id="{0F95CDE0-088F-7A59-DBB5-60EC02E11E3C}"/>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55" name="ひし形 54">
              <a:extLst>
                <a:ext uri="{FF2B5EF4-FFF2-40B4-BE49-F238E27FC236}">
                  <a16:creationId xmlns:a16="http://schemas.microsoft.com/office/drawing/2014/main" id="{DF468C86-DCB7-6AB5-AB47-632F9800AF7A}"/>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56" name="部分円 55">
              <a:extLst>
                <a:ext uri="{FF2B5EF4-FFF2-40B4-BE49-F238E27FC236}">
                  <a16:creationId xmlns:a16="http://schemas.microsoft.com/office/drawing/2014/main" id="{A6320AAD-F4F7-11AF-F713-045018B7B9E0}"/>
                </a:ext>
              </a:extLst>
            </p:cNvPr>
            <p:cNvSpPr/>
            <p:nvPr/>
          </p:nvSpPr>
          <p:spPr>
            <a:xfrm rot="10800000">
              <a:off x="6137767"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cxnSp>
        <p:nvCxnSpPr>
          <p:cNvPr id="59" name="直線矢印コネクタ 58">
            <a:extLst>
              <a:ext uri="{FF2B5EF4-FFF2-40B4-BE49-F238E27FC236}">
                <a16:creationId xmlns:a16="http://schemas.microsoft.com/office/drawing/2014/main" id="{95FDB482-98A7-084E-DB72-471AC6AA6AD4}"/>
              </a:ext>
            </a:extLst>
          </p:cNvPr>
          <p:cNvCxnSpPr>
            <a:cxnSpLocks/>
          </p:cNvCxnSpPr>
          <p:nvPr/>
        </p:nvCxnSpPr>
        <p:spPr>
          <a:xfrm flipV="1">
            <a:off x="4600784" y="3225311"/>
            <a:ext cx="175841" cy="162938"/>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60" name="スマイル 59">
            <a:extLst>
              <a:ext uri="{FF2B5EF4-FFF2-40B4-BE49-F238E27FC236}">
                <a16:creationId xmlns:a16="http://schemas.microsoft.com/office/drawing/2014/main" id="{97E1E1C4-9714-F3E0-5217-9DF7F2088513}"/>
              </a:ext>
            </a:extLst>
          </p:cNvPr>
          <p:cNvSpPr/>
          <p:nvPr/>
        </p:nvSpPr>
        <p:spPr>
          <a:xfrm>
            <a:off x="5586038" y="1993629"/>
            <a:ext cx="471862" cy="478688"/>
          </a:xfrm>
          <a:prstGeom prst="smileyFac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8123F21A-13B7-831A-22C8-BBBE29295707}"/>
              </a:ext>
            </a:extLst>
          </p:cNvPr>
          <p:cNvSpPr/>
          <p:nvPr/>
        </p:nvSpPr>
        <p:spPr>
          <a:xfrm>
            <a:off x="5218098" y="2699196"/>
            <a:ext cx="125074" cy="12237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3" name="Picture 2">
            <a:extLst>
              <a:ext uri="{FF2B5EF4-FFF2-40B4-BE49-F238E27FC236}">
                <a16:creationId xmlns:a16="http://schemas.microsoft.com/office/drawing/2014/main" id="{5B873FE7-C7C7-D353-0C0B-8A8D6B46B1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8930" y="3603228"/>
            <a:ext cx="2217248" cy="2217248"/>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36F5D4DF-865F-764A-92F5-360A21EFA49E}"/>
              </a:ext>
            </a:extLst>
          </p:cNvPr>
          <p:cNvSpPr txBox="1"/>
          <p:nvPr/>
        </p:nvSpPr>
        <p:spPr>
          <a:xfrm>
            <a:off x="3861442" y="5516872"/>
            <a:ext cx="550151" cy="369332"/>
          </a:xfrm>
          <a:prstGeom prst="rect">
            <a:avLst/>
          </a:prstGeom>
          <a:noFill/>
        </p:spPr>
        <p:txBody>
          <a:bodyPr wrap="none" rtlCol="0">
            <a:spAutoFit/>
          </a:bodyPr>
          <a:lstStyle/>
          <a:p>
            <a:r>
              <a:rPr kumimoji="1" lang="en-US" altLang="ja-JP" dirty="0"/>
              <a:t>[</a:t>
            </a:r>
            <a:r>
              <a:rPr kumimoji="1" lang="ja-JP" altLang="en-US" dirty="0"/>
              <a:t>１</a:t>
            </a:r>
            <a:r>
              <a:rPr kumimoji="1" lang="en-US" altLang="ja-JP" dirty="0"/>
              <a:t>]</a:t>
            </a:r>
            <a:endParaRPr kumimoji="1" lang="ja-JP" altLang="en-US" dirty="0"/>
          </a:p>
        </p:txBody>
      </p:sp>
      <p:sp>
        <p:nvSpPr>
          <p:cNvPr id="6" name="テキスト ボックス 5">
            <a:extLst>
              <a:ext uri="{FF2B5EF4-FFF2-40B4-BE49-F238E27FC236}">
                <a16:creationId xmlns:a16="http://schemas.microsoft.com/office/drawing/2014/main" id="{8D92C75F-8ABF-0994-2631-EC17044BF9E0}"/>
              </a:ext>
            </a:extLst>
          </p:cNvPr>
          <p:cNvSpPr txBox="1"/>
          <p:nvPr/>
        </p:nvSpPr>
        <p:spPr>
          <a:xfrm>
            <a:off x="594061" y="6610352"/>
            <a:ext cx="7326630" cy="338554"/>
          </a:xfrm>
          <a:prstGeom prst="rect">
            <a:avLst/>
          </a:prstGeom>
          <a:noFill/>
        </p:spPr>
        <p:txBody>
          <a:bodyPr wrap="square" rtlCol="0">
            <a:spAutoFit/>
          </a:bodyPr>
          <a:lstStyle/>
          <a:p>
            <a:r>
              <a:rPr kumimoji="1" lang="en-US" altLang="ja-JP" sz="1600" dirty="0"/>
              <a:t>[</a:t>
            </a:r>
            <a:r>
              <a:rPr kumimoji="1" lang="ja-JP" altLang="en-US" sz="1600" dirty="0"/>
              <a:t>１</a:t>
            </a:r>
            <a:r>
              <a:rPr kumimoji="1" lang="en-US" altLang="ja-JP" sz="1600" dirty="0"/>
              <a:t>] https://moromisenpy.com/polar_coordinate_transformation/</a:t>
            </a:r>
            <a:endParaRPr kumimoji="1" lang="ja-JP" altLang="en-US" sz="1600" dirty="0"/>
          </a:p>
        </p:txBody>
      </p:sp>
    </p:spTree>
    <p:extLst>
      <p:ext uri="{BB962C8B-B14F-4D97-AF65-F5344CB8AC3E}">
        <p14:creationId xmlns:p14="http://schemas.microsoft.com/office/powerpoint/2010/main" val="399764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path" presetSubtype="0" repeatCount="indefinite" accel="50000" decel="50000" autoRev="1" fill="hold" grpId="0" nodeType="clickEffect">
                                  <p:stCondLst>
                                    <p:cond delay="0"/>
                                  </p:stCondLst>
                                  <p:endCondLst>
                                    <p:cond evt="onNext" delay="0">
                                      <p:tgtEl>
                                        <p:sldTgt/>
                                      </p:tgtEl>
                                    </p:cond>
                                  </p:endCondLst>
                                  <p:childTnLst>
                                    <p:animMotion origin="layout" path="M -5.55556E-7 -4.81481E-6 L 0.11979 -0.14722 " pathEditMode="relative" rAng="0" ptsTypes="AA">
                                      <p:cBhvr>
                                        <p:cTn id="6" dur="2000" fill="hold"/>
                                        <p:tgtEl>
                                          <p:spTgt spid="25"/>
                                        </p:tgtEl>
                                        <p:attrNameLst>
                                          <p:attrName>ppt_x</p:attrName>
                                          <p:attrName>ppt_y</p:attrName>
                                        </p:attrNameLst>
                                      </p:cBhvr>
                                      <p:rCtr x="5990" y="-7361"/>
                                    </p:animMotion>
                                  </p:childTnLst>
                                </p:cTn>
                              </p:par>
                              <p:par>
                                <p:cTn id="7" presetID="10"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animEffect transition="in" filter="fade">
                                      <p:cBhvr>
                                        <p:cTn id="9" dur="500"/>
                                        <p:tgtEl>
                                          <p:spTgt spid="28"/>
                                        </p:tgtEl>
                                      </p:cBhvr>
                                    </p:animEffect>
                                  </p:childTnLst>
                                </p:cTn>
                              </p:par>
                              <p:par>
                                <p:cTn id="10" presetID="58" presetClass="path" presetSubtype="0" repeatCount="indefinite" accel="50000" decel="50000" autoRev="1" fill="hold" grpId="0" nodeType="withEffect">
                                  <p:stCondLst>
                                    <p:cond delay="0"/>
                                  </p:stCondLst>
                                  <p:endCondLst>
                                    <p:cond evt="onNext" delay="0">
                                      <p:tgtEl>
                                        <p:sldTgt/>
                                      </p:tgtEl>
                                    </p:cond>
                                  </p:endCondLst>
                                  <p:childTnLst>
                                    <p:animMotion origin="layout" path="M 0.00035 -0.00023 L 0.01233 -0.01643 C 0.01459 -0.01921 0.01667 -0.02638 0.01771 -0.03425 C 0.02171 -0.04143 0.02084 -0.04629 0.02257 -0.05231 L 0.02188 -0.07731 " pathEditMode="relative" rAng="1200000" ptsTypes="AAAAA">
                                      <p:cBhvr>
                                        <p:cTn id="11" dur="2000" fill="hold"/>
                                        <p:tgtEl>
                                          <p:spTgt spid="35"/>
                                        </p:tgtEl>
                                        <p:attrNameLst>
                                          <p:attrName>ppt_x</p:attrName>
                                          <p:attrName>ppt_y</p:attrName>
                                        </p:attrNameLst>
                                      </p:cBhvr>
                                      <p:rCtr x="1441" y="-3681"/>
                                    </p:animMotion>
                                  </p:childTnLst>
                                </p:cTn>
                              </p:par>
                              <p:par>
                                <p:cTn id="12" presetID="42" presetClass="path" presetSubtype="0" repeatCount="indefinite" accel="50000" decel="50000" autoRev="1" fill="hold" nodeType="withEffect">
                                  <p:stCondLst>
                                    <p:cond delay="0"/>
                                  </p:stCondLst>
                                  <p:endCondLst>
                                    <p:cond evt="onNext" delay="0">
                                      <p:tgtEl>
                                        <p:sldTgt/>
                                      </p:tgtEl>
                                    </p:cond>
                                  </p:endCondLst>
                                  <p:childTnLst>
                                    <p:animMotion origin="layout" path="M -2.77778E-7 -0.00023 L 0.00556 0.00417 " pathEditMode="relative" rAng="0" ptsTypes="AA">
                                      <p:cBhvr>
                                        <p:cTn id="13" dur="2000" fill="hold"/>
                                        <p:tgtEl>
                                          <p:spTgt spid="83"/>
                                        </p:tgtEl>
                                        <p:attrNameLst>
                                          <p:attrName>ppt_x</p:attrName>
                                          <p:attrName>ppt_y</p:attrName>
                                        </p:attrNameLst>
                                      </p:cBhvr>
                                      <p:rCtr x="278" y="208"/>
                                    </p:animMotion>
                                  </p:childTnLst>
                                </p:cTn>
                              </p:par>
                              <p:par>
                                <p:cTn id="14" presetID="8" presetClass="emph" presetSubtype="0" repeatCount="indefinite" autoRev="1" fill="remove" nodeType="withEffect">
                                  <p:stCondLst>
                                    <p:cond delay="0"/>
                                  </p:stCondLst>
                                  <p:endCondLst>
                                    <p:cond evt="onNext" delay="0">
                                      <p:tgtEl>
                                        <p:sldTgt/>
                                      </p:tgtEl>
                                    </p:cond>
                                  </p:endCondLst>
                                  <p:childTnLst>
                                    <p:animRot by="900000">
                                      <p:cBhvr>
                                        <p:cTn id="15" dur="2000" fill="hold"/>
                                        <p:tgtEl>
                                          <p:spTgt spid="83"/>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7" grpId="0"/>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582F-F9B8-8478-4752-6EE2001454A4}"/>
            </a:ext>
          </a:extLst>
        </p:cNvPr>
        <p:cNvGrpSpPr/>
        <p:nvPr/>
      </p:nvGrpSpPr>
      <p:grpSpPr>
        <a:xfrm>
          <a:off x="0" y="0"/>
          <a:ext cx="0" cy="0"/>
          <a:chOff x="0" y="0"/>
          <a:chExt cx="0" cy="0"/>
        </a:xfrm>
      </p:grpSpPr>
      <p:sp>
        <p:nvSpPr>
          <p:cNvPr id="16" name="部分円 15">
            <a:extLst>
              <a:ext uri="{FF2B5EF4-FFF2-40B4-BE49-F238E27FC236}">
                <a16:creationId xmlns:a16="http://schemas.microsoft.com/office/drawing/2014/main" id="{EEA200C7-C251-A057-1882-2053B77B1FF8}"/>
              </a:ext>
            </a:extLst>
          </p:cNvPr>
          <p:cNvSpPr/>
          <p:nvPr/>
        </p:nvSpPr>
        <p:spPr>
          <a:xfrm rot="5400000">
            <a:off x="3054309" y="4430097"/>
            <a:ext cx="476962" cy="467119"/>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47" name="部分円 46">
            <a:extLst>
              <a:ext uri="{FF2B5EF4-FFF2-40B4-BE49-F238E27FC236}">
                <a16:creationId xmlns:a16="http://schemas.microsoft.com/office/drawing/2014/main" id="{04AA6D3D-D789-D40B-019B-0744CF363F2F}"/>
              </a:ext>
            </a:extLst>
          </p:cNvPr>
          <p:cNvSpPr/>
          <p:nvPr/>
        </p:nvSpPr>
        <p:spPr>
          <a:xfrm>
            <a:off x="168019" y="2581161"/>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46" name="正方形/長方形 45">
            <a:extLst>
              <a:ext uri="{FF2B5EF4-FFF2-40B4-BE49-F238E27FC236}">
                <a16:creationId xmlns:a16="http://schemas.microsoft.com/office/drawing/2014/main" id="{62D83763-68DE-6BF5-C3DD-2015254DA167}"/>
              </a:ext>
            </a:extLst>
          </p:cNvPr>
          <p:cNvSpPr/>
          <p:nvPr/>
        </p:nvSpPr>
        <p:spPr>
          <a:xfrm>
            <a:off x="1092533" y="4858552"/>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6" name="フローチャート: 結合子 25">
            <a:extLst>
              <a:ext uri="{FF2B5EF4-FFF2-40B4-BE49-F238E27FC236}">
                <a16:creationId xmlns:a16="http://schemas.microsoft.com/office/drawing/2014/main" id="{BB9EB5F7-708C-5AEC-5730-258E345DAE59}"/>
              </a:ext>
            </a:extLst>
          </p:cNvPr>
          <p:cNvSpPr/>
          <p:nvPr/>
        </p:nvSpPr>
        <p:spPr>
          <a:xfrm>
            <a:off x="591572" y="1978609"/>
            <a:ext cx="4875304" cy="4747020"/>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54BB2A37-629B-10A9-332C-6C284A72C867}"/>
              </a:ext>
            </a:extLst>
          </p:cNvPr>
          <p:cNvSpPr>
            <a:spLocks noGrp="1"/>
          </p:cNvSpPr>
          <p:nvPr>
            <p:ph type="title"/>
          </p:nvPr>
        </p:nvSpPr>
        <p:spPr/>
        <p:txBody>
          <a:bodyPr>
            <a:normAutofit/>
          </a:bodyPr>
          <a:lstStyle/>
          <a:p>
            <a:r>
              <a:rPr lang="ja-JP" altLang="en-US" dirty="0"/>
              <a:t>カラー画像を深度画像に変換１</a:t>
            </a:r>
            <a:endParaRPr kumimoji="1" lang="ja-JP" altLang="en-US" dirty="0"/>
          </a:p>
        </p:txBody>
      </p:sp>
      <p:sp>
        <p:nvSpPr>
          <p:cNvPr id="4" name="スライド番号プレースホルダー 3">
            <a:extLst>
              <a:ext uri="{FF2B5EF4-FFF2-40B4-BE49-F238E27FC236}">
                <a16:creationId xmlns:a16="http://schemas.microsoft.com/office/drawing/2014/main" id="{D7D1F5A5-C539-FAD4-7470-EBFAA4637C79}"/>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9</a:t>
            </a:fld>
            <a:endParaRPr kumimoji="1" lang="ja-JP" altLang="en-US" dirty="0"/>
          </a:p>
        </p:txBody>
      </p:sp>
      <p:sp>
        <p:nvSpPr>
          <p:cNvPr id="5" name="部分円 4">
            <a:extLst>
              <a:ext uri="{FF2B5EF4-FFF2-40B4-BE49-F238E27FC236}">
                <a16:creationId xmlns:a16="http://schemas.microsoft.com/office/drawing/2014/main" id="{1F238E1B-29D7-7E8C-6A19-5847C8B48A2D}"/>
              </a:ext>
            </a:extLst>
          </p:cNvPr>
          <p:cNvSpPr/>
          <p:nvPr/>
        </p:nvSpPr>
        <p:spPr>
          <a:xfrm rot="21447112">
            <a:off x="2727340" y="4078051"/>
            <a:ext cx="465848" cy="47826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3A049258-1771-54BC-4606-955A61B2E8B8}"/>
              </a:ext>
            </a:extLst>
          </p:cNvPr>
          <p:cNvSpPr/>
          <p:nvPr/>
        </p:nvSpPr>
        <p:spPr>
          <a:xfrm rot="5400000">
            <a:off x="3054309" y="4430090"/>
            <a:ext cx="476962" cy="467119"/>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7A9E8CEB-D8AC-21DE-4B98-EBE8150C7C06}"/>
              </a:ext>
            </a:extLst>
          </p:cNvPr>
          <p:cNvSpPr/>
          <p:nvPr/>
        </p:nvSpPr>
        <p:spPr>
          <a:xfrm rot="16200000">
            <a:off x="2384367" y="4430090"/>
            <a:ext cx="476962" cy="467119"/>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D922BCD1-06B7-F9A4-7825-901293DF6204}"/>
              </a:ext>
            </a:extLst>
          </p:cNvPr>
          <p:cNvSpPr/>
          <p:nvPr/>
        </p:nvSpPr>
        <p:spPr>
          <a:xfrm>
            <a:off x="2632629" y="4328198"/>
            <a:ext cx="655271" cy="670904"/>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9A1C9D59-777A-C2B7-B471-C703C13870EB}"/>
              </a:ext>
            </a:extLst>
          </p:cNvPr>
          <p:cNvSpPr/>
          <p:nvPr/>
        </p:nvSpPr>
        <p:spPr>
          <a:xfrm rot="10800000">
            <a:off x="2728708" y="4762997"/>
            <a:ext cx="465848" cy="47826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11" name="正方形/長方形 10">
            <a:extLst>
              <a:ext uri="{FF2B5EF4-FFF2-40B4-BE49-F238E27FC236}">
                <a16:creationId xmlns:a16="http://schemas.microsoft.com/office/drawing/2014/main" id="{E6BA547F-DE20-77E8-7098-28B7A2761CCA}"/>
              </a:ext>
            </a:extLst>
          </p:cNvPr>
          <p:cNvSpPr/>
          <p:nvPr/>
        </p:nvSpPr>
        <p:spPr>
          <a:xfrm>
            <a:off x="634370" y="3025696"/>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13" name="直線コネクタ 12">
            <a:extLst>
              <a:ext uri="{FF2B5EF4-FFF2-40B4-BE49-F238E27FC236}">
                <a16:creationId xmlns:a16="http://schemas.microsoft.com/office/drawing/2014/main" id="{6ECF2A28-88A7-237D-5D80-C30FA6DABECD}"/>
              </a:ext>
            </a:extLst>
          </p:cNvPr>
          <p:cNvCxnSpPr>
            <a:cxnSpLocks/>
            <a:stCxn id="8" idx="0"/>
          </p:cNvCxnSpPr>
          <p:nvPr/>
        </p:nvCxnSpPr>
        <p:spPr>
          <a:xfrm flipV="1">
            <a:off x="2960269" y="2213499"/>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sp>
        <p:nvSpPr>
          <p:cNvPr id="22" name="フローチャート: 結合子 21">
            <a:extLst>
              <a:ext uri="{FF2B5EF4-FFF2-40B4-BE49-F238E27FC236}">
                <a16:creationId xmlns:a16="http://schemas.microsoft.com/office/drawing/2014/main" id="{20BC14F2-19CC-6A32-EB0B-883D674EE267}"/>
              </a:ext>
            </a:extLst>
          </p:cNvPr>
          <p:cNvSpPr/>
          <p:nvPr/>
        </p:nvSpPr>
        <p:spPr>
          <a:xfrm>
            <a:off x="2060741" y="3395131"/>
            <a:ext cx="1868957" cy="1902176"/>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3" name="フローチャート: 結合子 22">
            <a:extLst>
              <a:ext uri="{FF2B5EF4-FFF2-40B4-BE49-F238E27FC236}">
                <a16:creationId xmlns:a16="http://schemas.microsoft.com/office/drawing/2014/main" id="{AB36C600-D056-17FC-A9F2-BA274B30B16E}"/>
              </a:ext>
            </a:extLst>
          </p:cNvPr>
          <p:cNvSpPr/>
          <p:nvPr/>
        </p:nvSpPr>
        <p:spPr>
          <a:xfrm>
            <a:off x="1313771" y="2683372"/>
            <a:ext cx="3405690" cy="3378227"/>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4" name="フローチャート: 結合子 23">
            <a:extLst>
              <a:ext uri="{FF2B5EF4-FFF2-40B4-BE49-F238E27FC236}">
                <a16:creationId xmlns:a16="http://schemas.microsoft.com/office/drawing/2014/main" id="{9A5E1625-F24F-4B50-486C-BB20767CF7A9}"/>
              </a:ext>
            </a:extLst>
          </p:cNvPr>
          <p:cNvSpPr/>
          <p:nvPr/>
        </p:nvSpPr>
        <p:spPr>
          <a:xfrm>
            <a:off x="1683887" y="3028903"/>
            <a:ext cx="2658319" cy="2634771"/>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5" name="フローチャート: 結合子 24">
            <a:extLst>
              <a:ext uri="{FF2B5EF4-FFF2-40B4-BE49-F238E27FC236}">
                <a16:creationId xmlns:a16="http://schemas.microsoft.com/office/drawing/2014/main" id="{1670B2D0-FF63-13B4-8ACB-88746563C41A}"/>
              </a:ext>
            </a:extLst>
          </p:cNvPr>
          <p:cNvSpPr/>
          <p:nvPr/>
        </p:nvSpPr>
        <p:spPr>
          <a:xfrm>
            <a:off x="987199" y="2318587"/>
            <a:ext cx="4124819" cy="4078766"/>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 name="テキスト ボックス 2">
            <a:extLst>
              <a:ext uri="{FF2B5EF4-FFF2-40B4-BE49-F238E27FC236}">
                <a16:creationId xmlns:a16="http://schemas.microsoft.com/office/drawing/2014/main" id="{D922CE58-AB6D-A1F7-223B-FE3AF4BC11EF}"/>
              </a:ext>
            </a:extLst>
          </p:cNvPr>
          <p:cNvSpPr txBox="1"/>
          <p:nvPr/>
        </p:nvSpPr>
        <p:spPr>
          <a:xfrm>
            <a:off x="3393865" y="4786591"/>
            <a:ext cx="1338828" cy="369332"/>
          </a:xfrm>
          <a:prstGeom prst="rect">
            <a:avLst/>
          </a:prstGeom>
          <a:noFill/>
        </p:spPr>
        <p:txBody>
          <a:bodyPr wrap="none" rtlCol="0">
            <a:spAutoFit/>
          </a:bodyPr>
          <a:lstStyle/>
          <a:p>
            <a:r>
              <a:rPr kumimoji="1" lang="ja-JP" altLang="en-US" dirty="0">
                <a:solidFill>
                  <a:srgbClr val="FF0000"/>
                </a:solidFill>
              </a:rPr>
              <a:t>補助カメラ</a:t>
            </a:r>
          </a:p>
        </p:txBody>
      </p:sp>
      <p:cxnSp>
        <p:nvCxnSpPr>
          <p:cNvPr id="12" name="直線コネクタ 11">
            <a:extLst>
              <a:ext uri="{FF2B5EF4-FFF2-40B4-BE49-F238E27FC236}">
                <a16:creationId xmlns:a16="http://schemas.microsoft.com/office/drawing/2014/main" id="{4B4EF64D-EF54-AE9A-6456-3F47A80038FF}"/>
              </a:ext>
            </a:extLst>
          </p:cNvPr>
          <p:cNvCxnSpPr>
            <a:cxnSpLocks/>
            <a:stCxn id="22" idx="7"/>
            <a:endCxn id="8" idx="3"/>
          </p:cNvCxnSpPr>
          <p:nvPr/>
        </p:nvCxnSpPr>
        <p:spPr>
          <a:xfrm flipH="1">
            <a:off x="3287902" y="3673702"/>
            <a:ext cx="368091" cy="989948"/>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C56D5BFF-43B3-ADAF-8586-C5FBCF7DAFAC}"/>
              </a:ext>
            </a:extLst>
          </p:cNvPr>
          <p:cNvCxnSpPr>
            <a:cxnSpLocks/>
            <a:stCxn id="24" idx="7"/>
            <a:endCxn id="8" idx="3"/>
          </p:cNvCxnSpPr>
          <p:nvPr/>
        </p:nvCxnSpPr>
        <p:spPr>
          <a:xfrm flipH="1">
            <a:off x="3287904" y="3414758"/>
            <a:ext cx="665000" cy="1248892"/>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4E6B5B3B-20F0-3108-48CE-52A019402449}"/>
              </a:ext>
            </a:extLst>
          </p:cNvPr>
          <p:cNvCxnSpPr>
            <a:cxnSpLocks/>
            <a:stCxn id="23" idx="7"/>
            <a:endCxn id="8" idx="3"/>
          </p:cNvCxnSpPr>
          <p:nvPr/>
        </p:nvCxnSpPr>
        <p:spPr>
          <a:xfrm flipH="1">
            <a:off x="3287901" y="3178102"/>
            <a:ext cx="932808" cy="1485548"/>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C07B847-8CCE-EA62-FC6C-8D6A2985AC65}"/>
              </a:ext>
            </a:extLst>
          </p:cNvPr>
          <p:cNvCxnSpPr>
            <a:cxnSpLocks/>
            <a:stCxn id="25" idx="7"/>
            <a:endCxn id="8" idx="3"/>
          </p:cNvCxnSpPr>
          <p:nvPr/>
        </p:nvCxnSpPr>
        <p:spPr>
          <a:xfrm flipH="1">
            <a:off x="3287904" y="2915907"/>
            <a:ext cx="1220050" cy="174774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B15A4AFB-78F0-5EB1-60BF-D5066F163AC7}"/>
              </a:ext>
            </a:extLst>
          </p:cNvPr>
          <p:cNvCxnSpPr>
            <a:cxnSpLocks/>
            <a:endCxn id="8" idx="3"/>
          </p:cNvCxnSpPr>
          <p:nvPr/>
        </p:nvCxnSpPr>
        <p:spPr>
          <a:xfrm flipH="1">
            <a:off x="3287904" y="2673793"/>
            <a:ext cx="1457858" cy="1989854"/>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sp>
        <p:nvSpPr>
          <p:cNvPr id="45" name="正方形/長方形 44">
            <a:extLst>
              <a:ext uri="{FF2B5EF4-FFF2-40B4-BE49-F238E27FC236}">
                <a16:creationId xmlns:a16="http://schemas.microsoft.com/office/drawing/2014/main" id="{EBC1BA99-13EC-7528-8F02-4984A9BDD18B}"/>
              </a:ext>
            </a:extLst>
          </p:cNvPr>
          <p:cNvSpPr/>
          <p:nvPr/>
        </p:nvSpPr>
        <p:spPr>
          <a:xfrm>
            <a:off x="3679296" y="4222019"/>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8" name="テキスト ボックス 47">
            <a:extLst>
              <a:ext uri="{FF2B5EF4-FFF2-40B4-BE49-F238E27FC236}">
                <a16:creationId xmlns:a16="http://schemas.microsoft.com/office/drawing/2014/main" id="{4806C50D-72FA-DED0-E0FF-32149624C521}"/>
              </a:ext>
            </a:extLst>
          </p:cNvPr>
          <p:cNvSpPr txBox="1"/>
          <p:nvPr/>
        </p:nvSpPr>
        <p:spPr>
          <a:xfrm>
            <a:off x="5494048" y="1463117"/>
            <a:ext cx="3608680" cy="5126275"/>
          </a:xfrm>
          <a:prstGeom prst="rect">
            <a:avLst/>
          </a:prstGeom>
          <a:noFill/>
        </p:spPr>
        <p:txBody>
          <a:bodyPr wrap="none" rtlCol="0">
            <a:spAutoFit/>
          </a:bodyPr>
          <a:lstStyle/>
          <a:p>
            <a:pPr marL="257168" indent="-342892">
              <a:lnSpc>
                <a:spcPct val="150000"/>
              </a:lnSpc>
              <a:buFont typeface="+mj-lt"/>
              <a:buAutoNum type="arabicPeriod"/>
            </a:pPr>
            <a:r>
              <a:rPr lang="ja-JP" altLang="en-US" sz="2000" b="1" dirty="0"/>
              <a:t>深度の候補を作る</a:t>
            </a:r>
            <a:endParaRPr lang="en-US" altLang="ja-JP" sz="2000" b="1" dirty="0"/>
          </a:p>
          <a:p>
            <a:pPr marL="257168" indent="-342892">
              <a:lnSpc>
                <a:spcPct val="150000"/>
              </a:lnSpc>
              <a:buFont typeface="+mj-lt"/>
              <a:buAutoNum type="arabicPeriod"/>
            </a:pPr>
            <a:r>
              <a:rPr kumimoji="1" lang="ja-JP" altLang="en-US" sz="2000" b="1" dirty="0"/>
              <a:t>補助カメラを選ぶ</a:t>
            </a:r>
            <a:endParaRPr kumimoji="1" lang="en-US" altLang="ja-JP" sz="2000" b="1" dirty="0"/>
          </a:p>
          <a:p>
            <a:pPr marL="257168" indent="-342892">
              <a:lnSpc>
                <a:spcPct val="150000"/>
              </a:lnSpc>
              <a:buFont typeface="+mj-lt"/>
              <a:buAutoNum type="arabicPeriod"/>
            </a:pPr>
            <a:r>
              <a:rPr kumimoji="1" lang="ja-JP" altLang="en-US" sz="2000" b="1" dirty="0"/>
              <a:t>各深さに対して再投影の</a:t>
            </a:r>
            <a:br>
              <a:rPr kumimoji="1" lang="en-US" altLang="ja-JP" sz="2000" b="1" dirty="0"/>
            </a:br>
            <a:r>
              <a:rPr kumimoji="1" lang="ja-JP" altLang="en-US" sz="2000" b="1" dirty="0"/>
              <a:t>座標を計算</a:t>
            </a:r>
            <a:endParaRPr lang="en-US" altLang="ja-JP" sz="2000" b="1" dirty="0"/>
          </a:p>
          <a:p>
            <a:pPr marL="257168" indent="-342892">
              <a:lnSpc>
                <a:spcPct val="150000"/>
              </a:lnSpc>
              <a:buFont typeface="+mj-lt"/>
              <a:buAutoNum type="arabicPeriod"/>
            </a:pPr>
            <a:r>
              <a:rPr kumimoji="1" lang="ja-JP" altLang="en-US" sz="2000" b="1" dirty="0"/>
              <a:t>実際の色と比較して</a:t>
            </a:r>
            <a:br>
              <a:rPr kumimoji="1" lang="en-US" altLang="ja-JP" sz="2000" b="1" dirty="0"/>
            </a:br>
            <a:r>
              <a:rPr kumimoji="1" lang="ja-JP" altLang="en-US" sz="2000" b="1" dirty="0"/>
              <a:t>マッチングコストを計算</a:t>
            </a:r>
            <a:endParaRPr kumimoji="1" lang="en-US" altLang="ja-JP" sz="2000" b="1" dirty="0"/>
          </a:p>
          <a:p>
            <a:pPr marL="257168" indent="-342892">
              <a:lnSpc>
                <a:spcPct val="150000"/>
              </a:lnSpc>
              <a:buFont typeface="+mj-lt"/>
              <a:buAutoNum type="arabicPeriod"/>
            </a:pPr>
            <a:r>
              <a:rPr kumimoji="1" lang="ja-JP" altLang="en-US" sz="2000" b="1" dirty="0"/>
              <a:t>マッチングコストから</a:t>
            </a:r>
            <a:br>
              <a:rPr kumimoji="1" lang="en-US" altLang="ja-JP" sz="2000" b="1" dirty="0"/>
            </a:br>
            <a:r>
              <a:rPr kumimoji="1" lang="ja-JP" altLang="en-US" sz="2000" b="1" dirty="0"/>
              <a:t> 最適な深さを推定する</a:t>
            </a:r>
            <a:endParaRPr kumimoji="1" lang="en-US" altLang="ja-JP" sz="2000" b="1" dirty="0"/>
          </a:p>
          <a:p>
            <a:pPr marL="257168" indent="-342892">
              <a:lnSpc>
                <a:spcPct val="150000"/>
              </a:lnSpc>
              <a:buFont typeface="+mj-lt"/>
              <a:buAutoNum type="arabicPeriod"/>
            </a:pPr>
            <a:r>
              <a:rPr kumimoji="1" lang="ja-JP" altLang="en-US" sz="2000" b="1" dirty="0"/>
              <a:t>各魚眼カメラのカラー画像</a:t>
            </a:r>
            <a:br>
              <a:rPr kumimoji="1" lang="en-US" altLang="ja-JP" sz="2000" b="1" dirty="0"/>
            </a:br>
            <a:r>
              <a:rPr kumimoji="1" lang="ja-JP" altLang="en-US" sz="2000" b="1" dirty="0"/>
              <a:t>  を深さ画像に変換する</a:t>
            </a:r>
            <a:endParaRPr kumimoji="1" lang="en-US" altLang="ja-JP" sz="2000" b="1" dirty="0"/>
          </a:p>
          <a:p>
            <a:pPr marL="257168" indent="-342892">
              <a:lnSpc>
                <a:spcPct val="150000"/>
              </a:lnSpc>
              <a:buFont typeface="+mj-lt"/>
              <a:buAutoNum type="arabicPeriod"/>
            </a:pPr>
            <a:endParaRPr kumimoji="1" lang="en-US" altLang="ja-JP" sz="2000" b="1" dirty="0"/>
          </a:p>
        </p:txBody>
      </p:sp>
      <p:cxnSp>
        <p:nvCxnSpPr>
          <p:cNvPr id="14" name="直線矢印コネクタ 13">
            <a:extLst>
              <a:ext uri="{FF2B5EF4-FFF2-40B4-BE49-F238E27FC236}">
                <a16:creationId xmlns:a16="http://schemas.microsoft.com/office/drawing/2014/main" id="{B9C492B3-2DE5-BD07-0D08-DCF4B008BF61}"/>
              </a:ext>
            </a:extLst>
          </p:cNvPr>
          <p:cNvCxnSpPr>
            <a:cxnSpLocks/>
          </p:cNvCxnSpPr>
          <p:nvPr/>
        </p:nvCxnSpPr>
        <p:spPr>
          <a:xfrm flipV="1">
            <a:off x="2960267" y="4165261"/>
            <a:ext cx="175841" cy="162938"/>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86BF8054-2068-CEFE-B59F-21B2EE634CD4}"/>
              </a:ext>
            </a:extLst>
          </p:cNvPr>
          <p:cNvSpPr txBox="1"/>
          <p:nvPr/>
        </p:nvSpPr>
        <p:spPr>
          <a:xfrm>
            <a:off x="1532036" y="3923103"/>
            <a:ext cx="1414999" cy="369332"/>
          </a:xfrm>
          <a:prstGeom prst="rect">
            <a:avLst/>
          </a:prstGeom>
          <a:noFill/>
        </p:spPr>
        <p:txBody>
          <a:bodyPr wrap="square" rtlCol="0">
            <a:spAutoFit/>
          </a:bodyPr>
          <a:lstStyle/>
          <a:p>
            <a:r>
              <a:rPr kumimoji="1" lang="ja-JP" altLang="en-US" dirty="0">
                <a:solidFill>
                  <a:srgbClr val="0070C0"/>
                </a:solidFill>
              </a:rPr>
              <a:t>基準カメラ</a:t>
            </a:r>
          </a:p>
        </p:txBody>
      </p:sp>
    </p:spTree>
    <p:extLst>
      <p:ext uri="{BB962C8B-B14F-4D97-AF65-F5344CB8AC3E}">
        <p14:creationId xmlns:p14="http://schemas.microsoft.com/office/powerpoint/2010/main" val="205313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
                                            <p:txEl>
                                              <p:pRg st="2" end="2"/>
                                            </p:txEl>
                                          </p:spTgt>
                                        </p:tgtEl>
                                        <p:attrNameLst>
                                          <p:attrName>style.visibility</p:attrName>
                                        </p:attrNameLst>
                                      </p:cBhvr>
                                      <p:to>
                                        <p:strVal val="visible"/>
                                      </p:to>
                                    </p:se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ntr" presetSubtype="0" fill="hold"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500"/>
                                        <p:tgtEl>
                                          <p:spTgt spid="37"/>
                                        </p:tgtEl>
                                      </p:cBhvr>
                                    </p:animEffect>
                                  </p:childTnLst>
                                </p:cTn>
                              </p:par>
                              <p:par>
                                <p:cTn id="43" presetID="10"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8">
                                            <p:txEl>
                                              <p:pRg st="3" end="3"/>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48">
                                            <p:txEl>
                                              <p:pRg st="4" end="4"/>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6" grpId="0" animBg="1"/>
      <p:bldP spid="6" grpId="0" animBg="1"/>
      <p:bldP spid="22" grpId="0" animBg="1"/>
      <p:bldP spid="23" grpId="0" animBg="1"/>
      <p:bldP spid="24" grpId="0" animBg="1"/>
      <p:bldP spid="25" grpId="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045C1-F845-C187-EFC9-464866B3CA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DBCF1A-B1FE-37A0-97E2-6A48F0A3FE29}"/>
              </a:ext>
            </a:extLst>
          </p:cNvPr>
          <p:cNvSpPr>
            <a:spLocks noGrp="1"/>
          </p:cNvSpPr>
          <p:nvPr>
            <p:ph type="title"/>
          </p:nvPr>
        </p:nvSpPr>
        <p:spPr/>
        <p:txBody>
          <a:bodyPr>
            <a:normAutofit/>
          </a:bodyPr>
          <a:lstStyle/>
          <a:p>
            <a:r>
              <a:rPr lang="ja-JP" altLang="en-US" dirty="0"/>
              <a:t>カラー画像を深度画像に変換２</a:t>
            </a:r>
            <a:endParaRPr kumimoji="1" lang="ja-JP" altLang="en-US" dirty="0"/>
          </a:p>
        </p:txBody>
      </p:sp>
      <p:sp>
        <p:nvSpPr>
          <p:cNvPr id="14" name="コンテンツ プレースホルダー 13">
            <a:extLst>
              <a:ext uri="{FF2B5EF4-FFF2-40B4-BE49-F238E27FC236}">
                <a16:creationId xmlns:a16="http://schemas.microsoft.com/office/drawing/2014/main" id="{4EF6E121-D72D-D402-6226-0C3563E23A22}"/>
              </a:ext>
            </a:extLst>
          </p:cNvPr>
          <p:cNvSpPr>
            <a:spLocks noGrp="1"/>
          </p:cNvSpPr>
          <p:nvPr>
            <p:ph idx="4294967295"/>
          </p:nvPr>
        </p:nvSpPr>
        <p:spPr>
          <a:xfrm>
            <a:off x="628650" y="1603114"/>
            <a:ext cx="7886700" cy="1071947"/>
          </a:xfrm>
        </p:spPr>
        <p:txBody>
          <a:bodyPr>
            <a:normAutofit/>
          </a:bodyPr>
          <a:lstStyle/>
          <a:p>
            <a:pPr marL="0" indent="0">
              <a:lnSpc>
                <a:spcPct val="100000"/>
              </a:lnSpc>
              <a:buNone/>
            </a:pPr>
            <a:r>
              <a:rPr lang="en-US" altLang="ja-JP" dirty="0"/>
              <a:t>4</a:t>
            </a:r>
            <a:r>
              <a:rPr lang="ja-JP" altLang="en-US" dirty="0"/>
              <a:t>つの魚眼カメラから得た</a:t>
            </a:r>
            <a:r>
              <a:rPr lang="en-US" altLang="ja-JP" dirty="0"/>
              <a:t>3</a:t>
            </a:r>
            <a:r>
              <a:rPr lang="ja-JP" altLang="en-US" dirty="0"/>
              <a:t>次元情報を</a:t>
            </a:r>
            <a:br>
              <a:rPr lang="en-US" altLang="ja-JP" dirty="0"/>
            </a:br>
            <a:r>
              <a:rPr lang="ja-JP" altLang="en-US" b="1" dirty="0"/>
              <a:t>仮想点</a:t>
            </a:r>
            <a:r>
              <a:rPr lang="ja-JP" altLang="en-US" dirty="0"/>
              <a:t>から見た情報として統合</a:t>
            </a:r>
            <a:endParaRPr lang="en-US" altLang="ja-JP" dirty="0"/>
          </a:p>
          <a:p>
            <a:pPr lvl="1"/>
            <a:endParaRPr lang="ja-JP" altLang="en-US" dirty="0"/>
          </a:p>
        </p:txBody>
      </p:sp>
      <p:sp>
        <p:nvSpPr>
          <p:cNvPr id="4" name="スライド番号プレースホルダー 3">
            <a:extLst>
              <a:ext uri="{FF2B5EF4-FFF2-40B4-BE49-F238E27FC236}">
                <a16:creationId xmlns:a16="http://schemas.microsoft.com/office/drawing/2014/main" id="{CC7A1439-7545-7874-CFCE-1BA1DCACE995}"/>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10</a:t>
            </a:fld>
            <a:endParaRPr kumimoji="1" lang="ja-JP" altLang="en-US" dirty="0"/>
          </a:p>
        </p:txBody>
      </p:sp>
      <p:grpSp>
        <p:nvGrpSpPr>
          <p:cNvPr id="16" name="グループ化 15">
            <a:extLst>
              <a:ext uri="{FF2B5EF4-FFF2-40B4-BE49-F238E27FC236}">
                <a16:creationId xmlns:a16="http://schemas.microsoft.com/office/drawing/2014/main" id="{C722E80B-DF89-E97B-7CA1-68C425A597DB}"/>
              </a:ext>
            </a:extLst>
          </p:cNvPr>
          <p:cNvGrpSpPr/>
          <p:nvPr/>
        </p:nvGrpSpPr>
        <p:grpSpPr>
          <a:xfrm>
            <a:off x="2389288" y="4083178"/>
            <a:ext cx="1137062" cy="1163209"/>
            <a:chOff x="5664122" y="3576219"/>
            <a:chExt cx="1586716" cy="1585381"/>
          </a:xfrm>
        </p:grpSpPr>
        <p:sp>
          <p:nvSpPr>
            <p:cNvPr id="18" name="部分円 17">
              <a:extLst>
                <a:ext uri="{FF2B5EF4-FFF2-40B4-BE49-F238E27FC236}">
                  <a16:creationId xmlns:a16="http://schemas.microsoft.com/office/drawing/2014/main" id="{5C390860-2F91-7D1D-D4DB-0FDC7DB07960}"/>
                </a:ext>
              </a:extLst>
            </p:cNvPr>
            <p:cNvSpPr/>
            <p:nvPr/>
          </p:nvSpPr>
          <p:spPr>
            <a:xfrm rot="21447112">
              <a:off x="6135858" y="3576219"/>
              <a:ext cx="650069" cy="651843"/>
            </a:xfrm>
            <a:prstGeom prst="pie">
              <a:avLst>
                <a:gd name="adj1" fmla="val 8998221"/>
                <a:gd name="adj2" fmla="val 1857598"/>
              </a:avLst>
            </a:prstGeom>
            <a:noFill/>
            <a:ln>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19" name="部分円 18">
              <a:extLst>
                <a:ext uri="{FF2B5EF4-FFF2-40B4-BE49-F238E27FC236}">
                  <a16:creationId xmlns:a16="http://schemas.microsoft.com/office/drawing/2014/main" id="{FA9AF5A1-F092-F18F-9B3E-EEA1D5DC8DFC}"/>
                </a:ext>
              </a:extLst>
            </p:cNvPr>
            <p:cNvSpPr/>
            <p:nvPr/>
          </p:nvSpPr>
          <p:spPr>
            <a:xfrm rot="5400000">
              <a:off x="6599882"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20" name="部分円 19">
              <a:extLst>
                <a:ext uri="{FF2B5EF4-FFF2-40B4-BE49-F238E27FC236}">
                  <a16:creationId xmlns:a16="http://schemas.microsoft.com/office/drawing/2014/main" id="{6E4FD701-6406-826C-B7E5-6C2F2FDE2042}"/>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21" name="ひし形 20">
              <a:extLst>
                <a:ext uri="{FF2B5EF4-FFF2-40B4-BE49-F238E27FC236}">
                  <a16:creationId xmlns:a16="http://schemas.microsoft.com/office/drawing/2014/main" id="{18ADED99-8713-EF67-C2DB-17B538965C1B}"/>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
          <p:nvSpPr>
            <p:cNvPr id="29" name="部分円 28">
              <a:extLst>
                <a:ext uri="{FF2B5EF4-FFF2-40B4-BE49-F238E27FC236}">
                  <a16:creationId xmlns:a16="http://schemas.microsoft.com/office/drawing/2014/main" id="{A725470F-CFB4-53A6-6568-E0AEAAD23801}"/>
                </a:ext>
              </a:extLst>
            </p:cNvPr>
            <p:cNvSpPr/>
            <p:nvPr/>
          </p:nvSpPr>
          <p:spPr>
            <a:xfrm rot="10800000">
              <a:off x="6137768" y="4509757"/>
              <a:ext cx="650071"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30" name="正方形/長方形 29">
            <a:extLst>
              <a:ext uri="{FF2B5EF4-FFF2-40B4-BE49-F238E27FC236}">
                <a16:creationId xmlns:a16="http://schemas.microsoft.com/office/drawing/2014/main" id="{6895CF79-FF04-5B38-613A-E4C5E1985F85}"/>
              </a:ext>
            </a:extLst>
          </p:cNvPr>
          <p:cNvSpPr/>
          <p:nvPr/>
        </p:nvSpPr>
        <p:spPr>
          <a:xfrm>
            <a:off x="634370" y="3030823"/>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9" name="フローチャート: 結合子 38">
            <a:extLst>
              <a:ext uri="{FF2B5EF4-FFF2-40B4-BE49-F238E27FC236}">
                <a16:creationId xmlns:a16="http://schemas.microsoft.com/office/drawing/2014/main" id="{75CE9F4B-77A7-B4EA-6992-9ECB8D86EBC2}"/>
              </a:ext>
            </a:extLst>
          </p:cNvPr>
          <p:cNvSpPr/>
          <p:nvPr/>
        </p:nvSpPr>
        <p:spPr>
          <a:xfrm>
            <a:off x="2925097" y="4643212"/>
            <a:ext cx="69073" cy="72955"/>
          </a:xfrm>
          <a:prstGeom prst="flowChartConnec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1" name="正方形/長方形 40">
            <a:extLst>
              <a:ext uri="{FF2B5EF4-FFF2-40B4-BE49-F238E27FC236}">
                <a16:creationId xmlns:a16="http://schemas.microsoft.com/office/drawing/2014/main" id="{55FA693A-7D10-EDDA-CCCC-71C85FA87243}"/>
              </a:ext>
            </a:extLst>
          </p:cNvPr>
          <p:cNvSpPr/>
          <p:nvPr/>
        </p:nvSpPr>
        <p:spPr>
          <a:xfrm>
            <a:off x="3679296" y="4227146"/>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3" name="正方形/長方形 42">
            <a:extLst>
              <a:ext uri="{FF2B5EF4-FFF2-40B4-BE49-F238E27FC236}">
                <a16:creationId xmlns:a16="http://schemas.microsoft.com/office/drawing/2014/main" id="{F7B01392-FADF-24F3-6038-E0024926716A}"/>
              </a:ext>
            </a:extLst>
          </p:cNvPr>
          <p:cNvSpPr/>
          <p:nvPr/>
        </p:nvSpPr>
        <p:spPr>
          <a:xfrm>
            <a:off x="1092533" y="4863679"/>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4" name="部分円 43">
            <a:extLst>
              <a:ext uri="{FF2B5EF4-FFF2-40B4-BE49-F238E27FC236}">
                <a16:creationId xmlns:a16="http://schemas.microsoft.com/office/drawing/2014/main" id="{9525C9CA-0229-9AE1-7C50-B0908ADD3C02}"/>
              </a:ext>
            </a:extLst>
          </p:cNvPr>
          <p:cNvSpPr/>
          <p:nvPr/>
        </p:nvSpPr>
        <p:spPr>
          <a:xfrm>
            <a:off x="168019" y="2586288"/>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grpSp>
        <p:nvGrpSpPr>
          <p:cNvPr id="3" name="グループ化 2">
            <a:extLst>
              <a:ext uri="{FF2B5EF4-FFF2-40B4-BE49-F238E27FC236}">
                <a16:creationId xmlns:a16="http://schemas.microsoft.com/office/drawing/2014/main" id="{8D5CA244-E5B6-823D-F55B-538333F7F57B}"/>
              </a:ext>
            </a:extLst>
          </p:cNvPr>
          <p:cNvGrpSpPr/>
          <p:nvPr/>
        </p:nvGrpSpPr>
        <p:grpSpPr>
          <a:xfrm>
            <a:off x="222843" y="2586285"/>
            <a:ext cx="5199400" cy="3257836"/>
            <a:chOff x="297122" y="1868644"/>
            <a:chExt cx="6932533" cy="4343781"/>
          </a:xfrm>
        </p:grpSpPr>
        <p:cxnSp>
          <p:nvCxnSpPr>
            <p:cNvPr id="57" name="直線コネクタ 56">
              <a:extLst>
                <a:ext uri="{FF2B5EF4-FFF2-40B4-BE49-F238E27FC236}">
                  <a16:creationId xmlns:a16="http://schemas.microsoft.com/office/drawing/2014/main" id="{9121E273-A8E8-187E-FBC1-65E1F712B72D}"/>
                </a:ext>
              </a:extLst>
            </p:cNvPr>
            <p:cNvCxnSpPr>
              <a:cxnSpLocks/>
            </p:cNvCxnSpPr>
            <p:nvPr/>
          </p:nvCxnSpPr>
          <p:spPr>
            <a:xfrm flipV="1">
              <a:off x="7229655" y="2461360"/>
              <a:ext cx="0" cy="165834"/>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102" name="グループ化 101">
              <a:extLst>
                <a:ext uri="{FF2B5EF4-FFF2-40B4-BE49-F238E27FC236}">
                  <a16:creationId xmlns:a16="http://schemas.microsoft.com/office/drawing/2014/main" id="{987D5ADA-FE85-BFE2-BEFE-EC0CE7818494}"/>
                </a:ext>
              </a:extLst>
            </p:cNvPr>
            <p:cNvGrpSpPr/>
            <p:nvPr/>
          </p:nvGrpSpPr>
          <p:grpSpPr>
            <a:xfrm>
              <a:off x="297122" y="1868644"/>
              <a:ext cx="6932533" cy="4343781"/>
              <a:chOff x="297122" y="1868644"/>
              <a:chExt cx="6932533" cy="4343781"/>
            </a:xfrm>
          </p:grpSpPr>
          <p:cxnSp>
            <p:nvCxnSpPr>
              <p:cNvPr id="46" name="直線コネクタ 45">
                <a:extLst>
                  <a:ext uri="{FF2B5EF4-FFF2-40B4-BE49-F238E27FC236}">
                    <a16:creationId xmlns:a16="http://schemas.microsoft.com/office/drawing/2014/main" id="{79670608-392D-BC9A-6CC9-0742971C198B}"/>
                  </a:ext>
                </a:extLst>
              </p:cNvPr>
              <p:cNvCxnSpPr>
                <a:cxnSpLocks/>
              </p:cNvCxnSpPr>
              <p:nvPr/>
            </p:nvCxnSpPr>
            <p:spPr>
              <a:xfrm>
                <a:off x="4905727" y="4056458"/>
                <a:ext cx="0" cy="270862"/>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 name="直線コネクタ 47">
                <a:extLst>
                  <a:ext uri="{FF2B5EF4-FFF2-40B4-BE49-F238E27FC236}">
                    <a16:creationId xmlns:a16="http://schemas.microsoft.com/office/drawing/2014/main" id="{4A581B38-DABB-D5B4-8325-E97D1B922FBE}"/>
                  </a:ext>
                </a:extLst>
              </p:cNvPr>
              <p:cNvCxnSpPr>
                <a:cxnSpLocks/>
              </p:cNvCxnSpPr>
              <p:nvPr/>
            </p:nvCxnSpPr>
            <p:spPr>
              <a:xfrm>
                <a:off x="4905727" y="4327320"/>
                <a:ext cx="304590"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直線コネクタ 51">
                <a:extLst>
                  <a:ext uri="{FF2B5EF4-FFF2-40B4-BE49-F238E27FC236}">
                    <a16:creationId xmlns:a16="http://schemas.microsoft.com/office/drawing/2014/main" id="{2C5D5006-A175-7E49-DADE-A136841D0049}"/>
                  </a:ext>
                </a:extLst>
              </p:cNvPr>
              <p:cNvCxnSpPr>
                <a:cxnSpLocks/>
              </p:cNvCxnSpPr>
              <p:nvPr/>
            </p:nvCxnSpPr>
            <p:spPr>
              <a:xfrm flipV="1">
                <a:off x="4905727" y="2627194"/>
                <a:ext cx="2323928" cy="1429264"/>
              </a:xfrm>
              <a:prstGeom prst="line">
                <a:avLst/>
              </a:prstGeom>
              <a:ln w="381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61" name="直線コネクタ 60">
                <a:extLst>
                  <a:ext uri="{FF2B5EF4-FFF2-40B4-BE49-F238E27FC236}">
                    <a16:creationId xmlns:a16="http://schemas.microsoft.com/office/drawing/2014/main" id="{A05DE696-CB0F-5118-2D86-60ECB53E2F94}"/>
                  </a:ext>
                </a:extLst>
              </p:cNvPr>
              <p:cNvCxnSpPr>
                <a:cxnSpLocks/>
              </p:cNvCxnSpPr>
              <p:nvPr/>
            </p:nvCxnSpPr>
            <p:spPr>
              <a:xfrm flipV="1">
                <a:off x="5210317" y="3725839"/>
                <a:ext cx="2019338" cy="601481"/>
              </a:xfrm>
              <a:prstGeom prst="line">
                <a:avLst/>
              </a:prstGeom>
              <a:ln w="381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65" name="直線コネクタ 64">
                <a:extLst>
                  <a:ext uri="{FF2B5EF4-FFF2-40B4-BE49-F238E27FC236}">
                    <a16:creationId xmlns:a16="http://schemas.microsoft.com/office/drawing/2014/main" id="{076962B8-C07F-34AA-E099-5FE8F4A22C6D}"/>
                  </a:ext>
                </a:extLst>
              </p:cNvPr>
              <p:cNvCxnSpPr>
                <a:cxnSpLocks/>
              </p:cNvCxnSpPr>
              <p:nvPr/>
            </p:nvCxnSpPr>
            <p:spPr>
              <a:xfrm flipH="1">
                <a:off x="845825" y="4905170"/>
                <a:ext cx="610884" cy="58100"/>
              </a:xfrm>
              <a:prstGeom prst="line">
                <a:avLst/>
              </a:prstGeom>
              <a:ln w="381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69" name="直線コネクタ 68">
                <a:extLst>
                  <a:ext uri="{FF2B5EF4-FFF2-40B4-BE49-F238E27FC236}">
                    <a16:creationId xmlns:a16="http://schemas.microsoft.com/office/drawing/2014/main" id="{C001C7DE-A7A8-A1CA-6D65-A9D0F9AFB477}"/>
                  </a:ext>
                </a:extLst>
              </p:cNvPr>
              <p:cNvCxnSpPr>
                <a:cxnSpLocks/>
              </p:cNvCxnSpPr>
              <p:nvPr/>
            </p:nvCxnSpPr>
            <p:spPr>
              <a:xfrm flipH="1">
                <a:off x="1880263" y="6008900"/>
                <a:ext cx="225315" cy="191875"/>
              </a:xfrm>
              <a:prstGeom prst="line">
                <a:avLst/>
              </a:prstGeom>
              <a:ln w="381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76" name="直線コネクタ 75">
                <a:extLst>
                  <a:ext uri="{FF2B5EF4-FFF2-40B4-BE49-F238E27FC236}">
                    <a16:creationId xmlns:a16="http://schemas.microsoft.com/office/drawing/2014/main" id="{3F589FA2-84F0-8D2A-0C68-DDD7A4B73068}"/>
                  </a:ext>
                </a:extLst>
              </p:cNvPr>
              <p:cNvCxnSpPr>
                <a:cxnSpLocks/>
                <a:stCxn id="89" idx="2"/>
              </p:cNvCxnSpPr>
              <p:nvPr/>
            </p:nvCxnSpPr>
            <p:spPr>
              <a:xfrm>
                <a:off x="843421" y="3073471"/>
                <a:ext cx="0" cy="18316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0" name="直線コネクタ 79">
                <a:extLst>
                  <a:ext uri="{FF2B5EF4-FFF2-40B4-BE49-F238E27FC236}">
                    <a16:creationId xmlns:a16="http://schemas.microsoft.com/office/drawing/2014/main" id="{B80FC210-DCC4-AE05-4607-A83D6A99D08C}"/>
                  </a:ext>
                </a:extLst>
              </p:cNvPr>
              <p:cNvCxnSpPr>
                <a:cxnSpLocks/>
              </p:cNvCxnSpPr>
              <p:nvPr/>
            </p:nvCxnSpPr>
            <p:spPr>
              <a:xfrm>
                <a:off x="1456709" y="4905170"/>
                <a:ext cx="64886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3" name="直線コネクタ 82">
                <a:extLst>
                  <a:ext uri="{FF2B5EF4-FFF2-40B4-BE49-F238E27FC236}">
                    <a16:creationId xmlns:a16="http://schemas.microsoft.com/office/drawing/2014/main" id="{276F27C2-06B0-9828-5626-1416533D6465}"/>
                  </a:ext>
                </a:extLst>
              </p:cNvPr>
              <p:cNvCxnSpPr>
                <a:cxnSpLocks/>
              </p:cNvCxnSpPr>
              <p:nvPr/>
            </p:nvCxnSpPr>
            <p:spPr>
              <a:xfrm>
                <a:off x="2105578" y="4905170"/>
                <a:ext cx="0" cy="110373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6" name="直線コネクタ 85">
                <a:extLst>
                  <a:ext uri="{FF2B5EF4-FFF2-40B4-BE49-F238E27FC236}">
                    <a16:creationId xmlns:a16="http://schemas.microsoft.com/office/drawing/2014/main" id="{698C5B6D-E4F9-DDCA-12B2-406782CC7B3A}"/>
                  </a:ext>
                </a:extLst>
              </p:cNvPr>
              <p:cNvCxnSpPr>
                <a:cxnSpLocks/>
              </p:cNvCxnSpPr>
              <p:nvPr/>
            </p:nvCxnSpPr>
            <p:spPr>
              <a:xfrm>
                <a:off x="1481266" y="2461360"/>
                <a:ext cx="574838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89" name="円弧 88">
                <a:extLst>
                  <a:ext uri="{FF2B5EF4-FFF2-40B4-BE49-F238E27FC236}">
                    <a16:creationId xmlns:a16="http://schemas.microsoft.com/office/drawing/2014/main" id="{D076317D-32A4-7E08-63AD-D061F0976BF3}"/>
                  </a:ext>
                </a:extLst>
              </p:cNvPr>
              <p:cNvSpPr/>
              <p:nvPr/>
            </p:nvSpPr>
            <p:spPr>
              <a:xfrm>
                <a:off x="297122" y="1868644"/>
                <a:ext cx="1187349" cy="1206751"/>
              </a:xfrm>
              <a:prstGeom prst="arc">
                <a:avLst>
                  <a:gd name="adj1" fmla="val 22615"/>
                  <a:gd name="adj2" fmla="val 5670230"/>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350"/>
              </a:p>
            </p:txBody>
          </p:sp>
          <p:cxnSp>
            <p:nvCxnSpPr>
              <p:cNvPr id="90" name="直線コネクタ 89">
                <a:extLst>
                  <a:ext uri="{FF2B5EF4-FFF2-40B4-BE49-F238E27FC236}">
                    <a16:creationId xmlns:a16="http://schemas.microsoft.com/office/drawing/2014/main" id="{7378B30D-A342-A8D6-4642-D45722758483}"/>
                  </a:ext>
                </a:extLst>
              </p:cNvPr>
              <p:cNvCxnSpPr>
                <a:cxnSpLocks/>
              </p:cNvCxnSpPr>
              <p:nvPr/>
            </p:nvCxnSpPr>
            <p:spPr>
              <a:xfrm flipH="1">
                <a:off x="7226450" y="3725839"/>
                <a:ext cx="3205" cy="2474936"/>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3" name="直線コネクタ 92">
                <a:extLst>
                  <a:ext uri="{FF2B5EF4-FFF2-40B4-BE49-F238E27FC236}">
                    <a16:creationId xmlns:a16="http://schemas.microsoft.com/office/drawing/2014/main" id="{BCC729F2-F576-0C0A-D8B2-A77E3BD21140}"/>
                  </a:ext>
                </a:extLst>
              </p:cNvPr>
              <p:cNvCxnSpPr>
                <a:cxnSpLocks/>
              </p:cNvCxnSpPr>
              <p:nvPr/>
            </p:nvCxnSpPr>
            <p:spPr>
              <a:xfrm>
                <a:off x="1880263" y="6212425"/>
                <a:ext cx="5346187"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grpSp>
      </p:grpSp>
      <p:sp>
        <p:nvSpPr>
          <p:cNvPr id="96" name="テキスト ボックス 95">
            <a:extLst>
              <a:ext uri="{FF2B5EF4-FFF2-40B4-BE49-F238E27FC236}">
                <a16:creationId xmlns:a16="http://schemas.microsoft.com/office/drawing/2014/main" id="{1758DA5A-C2C4-F6C9-7878-3BF868376151}"/>
              </a:ext>
            </a:extLst>
          </p:cNvPr>
          <p:cNvSpPr txBox="1"/>
          <p:nvPr/>
        </p:nvSpPr>
        <p:spPr>
          <a:xfrm>
            <a:off x="3397384" y="4863679"/>
            <a:ext cx="877163" cy="369332"/>
          </a:xfrm>
          <a:prstGeom prst="rect">
            <a:avLst/>
          </a:prstGeom>
          <a:noFill/>
        </p:spPr>
        <p:txBody>
          <a:bodyPr wrap="none" rtlCol="0">
            <a:spAutoFit/>
          </a:bodyPr>
          <a:lstStyle/>
          <a:p>
            <a:r>
              <a:rPr kumimoji="1" lang="ja-JP" altLang="en-US" dirty="0">
                <a:solidFill>
                  <a:srgbClr val="FF0000"/>
                </a:solidFill>
              </a:rPr>
              <a:t>仮想点</a:t>
            </a:r>
          </a:p>
        </p:txBody>
      </p:sp>
      <p:cxnSp>
        <p:nvCxnSpPr>
          <p:cNvPr id="98" name="直線矢印コネクタ 97">
            <a:extLst>
              <a:ext uri="{FF2B5EF4-FFF2-40B4-BE49-F238E27FC236}">
                <a16:creationId xmlns:a16="http://schemas.microsoft.com/office/drawing/2014/main" id="{59B944C6-5F70-0D46-D996-6F544F30CBCC}"/>
              </a:ext>
            </a:extLst>
          </p:cNvPr>
          <p:cNvCxnSpPr>
            <a:cxnSpLocks/>
            <a:stCxn id="96" idx="1"/>
            <a:endCxn id="39" idx="5"/>
          </p:cNvCxnSpPr>
          <p:nvPr/>
        </p:nvCxnSpPr>
        <p:spPr>
          <a:xfrm flipH="1" flipV="1">
            <a:off x="2984054" y="4705483"/>
            <a:ext cx="413330" cy="342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452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9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91EB1-56B5-C8DA-60AA-45D0A90892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366325-1718-8FD5-4198-BC52B5687B09}"/>
              </a:ext>
            </a:extLst>
          </p:cNvPr>
          <p:cNvSpPr>
            <a:spLocks noGrp="1"/>
          </p:cNvSpPr>
          <p:nvPr>
            <p:ph type="title"/>
          </p:nvPr>
        </p:nvSpPr>
        <p:spPr/>
        <p:txBody>
          <a:bodyPr>
            <a:normAutofit/>
          </a:bodyPr>
          <a:lstStyle/>
          <a:p>
            <a:r>
              <a:rPr lang="ja-JP" altLang="en-US" dirty="0"/>
              <a:t>カラー画像を深さ画像に変換３</a:t>
            </a:r>
            <a:endParaRPr kumimoji="1" lang="ja-JP" altLang="en-US" dirty="0"/>
          </a:p>
        </p:txBody>
      </p:sp>
      <p:sp>
        <p:nvSpPr>
          <p:cNvPr id="14" name="コンテンツ プレースホルダー 13">
            <a:extLst>
              <a:ext uri="{FF2B5EF4-FFF2-40B4-BE49-F238E27FC236}">
                <a16:creationId xmlns:a16="http://schemas.microsoft.com/office/drawing/2014/main" id="{BB2EFB1B-F919-B493-B319-49190FCFB3C7}"/>
              </a:ext>
            </a:extLst>
          </p:cNvPr>
          <p:cNvSpPr>
            <a:spLocks noGrp="1"/>
          </p:cNvSpPr>
          <p:nvPr>
            <p:ph idx="4294967295"/>
          </p:nvPr>
        </p:nvSpPr>
        <p:spPr>
          <a:xfrm>
            <a:off x="628650" y="1592263"/>
            <a:ext cx="7886700" cy="4900610"/>
          </a:xfrm>
        </p:spPr>
        <p:txBody>
          <a:bodyPr/>
          <a:lstStyle/>
          <a:p>
            <a:pPr marL="0" indent="0">
              <a:lnSpc>
                <a:spcPct val="100000"/>
              </a:lnSpc>
              <a:buNone/>
            </a:pPr>
            <a:r>
              <a:rPr lang="ja-JP" altLang="en-US" dirty="0"/>
              <a:t>仮想点から見えているが深度情報を</a:t>
            </a:r>
            <a:br>
              <a:rPr lang="en-US" altLang="ja-JP" dirty="0"/>
            </a:br>
            <a:r>
              <a:rPr lang="ja-JP" altLang="en-US" dirty="0"/>
              <a:t>取れていない点が存在する</a:t>
            </a:r>
          </a:p>
        </p:txBody>
      </p:sp>
      <p:sp>
        <p:nvSpPr>
          <p:cNvPr id="4" name="スライド番号プレースホルダー 3">
            <a:extLst>
              <a:ext uri="{FF2B5EF4-FFF2-40B4-BE49-F238E27FC236}">
                <a16:creationId xmlns:a16="http://schemas.microsoft.com/office/drawing/2014/main" id="{259D8930-9BF7-7D80-979A-F164855FDC15}"/>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11</a:t>
            </a:fld>
            <a:endParaRPr kumimoji="1" lang="ja-JP" altLang="en-US" dirty="0"/>
          </a:p>
        </p:txBody>
      </p:sp>
      <p:grpSp>
        <p:nvGrpSpPr>
          <p:cNvPr id="16" name="グループ化 15">
            <a:extLst>
              <a:ext uri="{FF2B5EF4-FFF2-40B4-BE49-F238E27FC236}">
                <a16:creationId xmlns:a16="http://schemas.microsoft.com/office/drawing/2014/main" id="{77DEA44C-A412-FC53-79F2-303CAD561FCE}"/>
              </a:ext>
            </a:extLst>
          </p:cNvPr>
          <p:cNvGrpSpPr/>
          <p:nvPr/>
        </p:nvGrpSpPr>
        <p:grpSpPr>
          <a:xfrm>
            <a:off x="2389288" y="4083170"/>
            <a:ext cx="1137062" cy="1163209"/>
            <a:chOff x="5664122" y="3576219"/>
            <a:chExt cx="1586716" cy="1585381"/>
          </a:xfrm>
        </p:grpSpPr>
        <p:sp>
          <p:nvSpPr>
            <p:cNvPr id="18" name="部分円 17">
              <a:extLst>
                <a:ext uri="{FF2B5EF4-FFF2-40B4-BE49-F238E27FC236}">
                  <a16:creationId xmlns:a16="http://schemas.microsoft.com/office/drawing/2014/main" id="{CDFB7D19-5068-D7C5-3EB0-9333859B8A28}"/>
                </a:ext>
              </a:extLst>
            </p:cNvPr>
            <p:cNvSpPr/>
            <p:nvPr/>
          </p:nvSpPr>
          <p:spPr>
            <a:xfrm rot="21447112">
              <a:off x="6135858" y="3576219"/>
              <a:ext cx="650069" cy="651843"/>
            </a:xfrm>
            <a:prstGeom prst="pie">
              <a:avLst>
                <a:gd name="adj1" fmla="val 8998221"/>
                <a:gd name="adj2" fmla="val 1857598"/>
              </a:avLst>
            </a:prstGeom>
            <a:noFill/>
            <a:ln>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19" name="部分円 18">
              <a:extLst>
                <a:ext uri="{FF2B5EF4-FFF2-40B4-BE49-F238E27FC236}">
                  <a16:creationId xmlns:a16="http://schemas.microsoft.com/office/drawing/2014/main" id="{12263303-855E-9FDA-7A83-5E8C5E845339}"/>
                </a:ext>
              </a:extLst>
            </p:cNvPr>
            <p:cNvSpPr/>
            <p:nvPr/>
          </p:nvSpPr>
          <p:spPr>
            <a:xfrm rot="5400000">
              <a:off x="6599882"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20" name="部分円 19">
              <a:extLst>
                <a:ext uri="{FF2B5EF4-FFF2-40B4-BE49-F238E27FC236}">
                  <a16:creationId xmlns:a16="http://schemas.microsoft.com/office/drawing/2014/main" id="{4069EBDC-37A2-CA9F-1E6E-6B914B8F4D29}"/>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21" name="ひし形 20">
              <a:extLst>
                <a:ext uri="{FF2B5EF4-FFF2-40B4-BE49-F238E27FC236}">
                  <a16:creationId xmlns:a16="http://schemas.microsoft.com/office/drawing/2014/main" id="{6A4F3862-1358-AB66-ED08-87B5C0FC3F2F}"/>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
          <p:nvSpPr>
            <p:cNvPr id="29" name="部分円 28">
              <a:extLst>
                <a:ext uri="{FF2B5EF4-FFF2-40B4-BE49-F238E27FC236}">
                  <a16:creationId xmlns:a16="http://schemas.microsoft.com/office/drawing/2014/main" id="{B7E97EA7-3FF4-2405-AEA1-C0095B7BBD7A}"/>
                </a:ext>
              </a:extLst>
            </p:cNvPr>
            <p:cNvSpPr/>
            <p:nvPr/>
          </p:nvSpPr>
          <p:spPr>
            <a:xfrm rot="10800000">
              <a:off x="6137768" y="4509757"/>
              <a:ext cx="650071"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30" name="正方形/長方形 29">
            <a:extLst>
              <a:ext uri="{FF2B5EF4-FFF2-40B4-BE49-F238E27FC236}">
                <a16:creationId xmlns:a16="http://schemas.microsoft.com/office/drawing/2014/main" id="{CBC62D2D-DA08-6F2A-2C39-91E8A70B8DC3}"/>
              </a:ext>
            </a:extLst>
          </p:cNvPr>
          <p:cNvSpPr/>
          <p:nvPr/>
        </p:nvSpPr>
        <p:spPr>
          <a:xfrm>
            <a:off x="634370" y="3030815"/>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9" name="フローチャート: 結合子 38">
            <a:extLst>
              <a:ext uri="{FF2B5EF4-FFF2-40B4-BE49-F238E27FC236}">
                <a16:creationId xmlns:a16="http://schemas.microsoft.com/office/drawing/2014/main" id="{E47B6D36-8943-912D-9B95-B2607BFE6439}"/>
              </a:ext>
            </a:extLst>
          </p:cNvPr>
          <p:cNvSpPr/>
          <p:nvPr/>
        </p:nvSpPr>
        <p:spPr>
          <a:xfrm>
            <a:off x="2925097" y="4643204"/>
            <a:ext cx="69073" cy="72955"/>
          </a:xfrm>
          <a:prstGeom prst="flowChartConnec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1" name="正方形/長方形 40">
            <a:extLst>
              <a:ext uri="{FF2B5EF4-FFF2-40B4-BE49-F238E27FC236}">
                <a16:creationId xmlns:a16="http://schemas.microsoft.com/office/drawing/2014/main" id="{CF5851EE-3DBD-B659-31C2-ACA88993802D}"/>
              </a:ext>
            </a:extLst>
          </p:cNvPr>
          <p:cNvSpPr/>
          <p:nvPr/>
        </p:nvSpPr>
        <p:spPr>
          <a:xfrm>
            <a:off x="3679296" y="4227138"/>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3" name="正方形/長方形 42">
            <a:extLst>
              <a:ext uri="{FF2B5EF4-FFF2-40B4-BE49-F238E27FC236}">
                <a16:creationId xmlns:a16="http://schemas.microsoft.com/office/drawing/2014/main" id="{59E97957-A9AD-B647-34E7-7A458D37B09F}"/>
              </a:ext>
            </a:extLst>
          </p:cNvPr>
          <p:cNvSpPr/>
          <p:nvPr/>
        </p:nvSpPr>
        <p:spPr>
          <a:xfrm>
            <a:off x="1092533" y="4863671"/>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4" name="部分円 43">
            <a:extLst>
              <a:ext uri="{FF2B5EF4-FFF2-40B4-BE49-F238E27FC236}">
                <a16:creationId xmlns:a16="http://schemas.microsoft.com/office/drawing/2014/main" id="{82D373EF-36C5-2F28-F904-19AF4D9FF2CD}"/>
              </a:ext>
            </a:extLst>
          </p:cNvPr>
          <p:cNvSpPr/>
          <p:nvPr/>
        </p:nvSpPr>
        <p:spPr>
          <a:xfrm>
            <a:off x="168019" y="2586280"/>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96" name="テキスト ボックス 95">
            <a:extLst>
              <a:ext uri="{FF2B5EF4-FFF2-40B4-BE49-F238E27FC236}">
                <a16:creationId xmlns:a16="http://schemas.microsoft.com/office/drawing/2014/main" id="{D7F8CF8C-7071-4E54-C67D-AB7BBD3BCDF2}"/>
              </a:ext>
            </a:extLst>
          </p:cNvPr>
          <p:cNvSpPr txBox="1"/>
          <p:nvPr/>
        </p:nvSpPr>
        <p:spPr>
          <a:xfrm>
            <a:off x="3397384" y="4863671"/>
            <a:ext cx="877163" cy="369332"/>
          </a:xfrm>
          <a:prstGeom prst="rect">
            <a:avLst/>
          </a:prstGeom>
          <a:noFill/>
        </p:spPr>
        <p:txBody>
          <a:bodyPr wrap="none" rtlCol="0">
            <a:spAutoFit/>
          </a:bodyPr>
          <a:lstStyle/>
          <a:p>
            <a:r>
              <a:rPr kumimoji="1" lang="ja-JP" altLang="en-US" dirty="0">
                <a:solidFill>
                  <a:srgbClr val="FF0000"/>
                </a:solidFill>
              </a:rPr>
              <a:t>仮想点</a:t>
            </a:r>
          </a:p>
        </p:txBody>
      </p:sp>
      <p:cxnSp>
        <p:nvCxnSpPr>
          <p:cNvPr id="98" name="直線矢印コネクタ 97">
            <a:extLst>
              <a:ext uri="{FF2B5EF4-FFF2-40B4-BE49-F238E27FC236}">
                <a16:creationId xmlns:a16="http://schemas.microsoft.com/office/drawing/2014/main" id="{A5036A2D-82BB-E54C-7B79-D69B6B636F16}"/>
              </a:ext>
            </a:extLst>
          </p:cNvPr>
          <p:cNvCxnSpPr>
            <a:cxnSpLocks/>
            <a:stCxn id="96" idx="1"/>
            <a:endCxn id="39" idx="5"/>
          </p:cNvCxnSpPr>
          <p:nvPr/>
        </p:nvCxnSpPr>
        <p:spPr>
          <a:xfrm flipH="1" flipV="1">
            <a:off x="2984054" y="4705475"/>
            <a:ext cx="413330" cy="342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フローチャート: 結合子 4">
            <a:extLst>
              <a:ext uri="{FF2B5EF4-FFF2-40B4-BE49-F238E27FC236}">
                <a16:creationId xmlns:a16="http://schemas.microsoft.com/office/drawing/2014/main" id="{1138E3AE-11C0-B4C8-0DD2-7C6B3F51D52E}"/>
              </a:ext>
            </a:extLst>
          </p:cNvPr>
          <p:cNvSpPr/>
          <p:nvPr/>
        </p:nvSpPr>
        <p:spPr>
          <a:xfrm>
            <a:off x="4931438" y="2966799"/>
            <a:ext cx="117062" cy="118386"/>
          </a:xfrm>
          <a:prstGeom prst="flowChartConnector">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7" name="直線コネクタ 6">
            <a:extLst>
              <a:ext uri="{FF2B5EF4-FFF2-40B4-BE49-F238E27FC236}">
                <a16:creationId xmlns:a16="http://schemas.microsoft.com/office/drawing/2014/main" id="{5AE459F5-681F-E72D-2DB7-472DBEA25B81}"/>
              </a:ext>
            </a:extLst>
          </p:cNvPr>
          <p:cNvCxnSpPr>
            <a:cxnSpLocks/>
            <a:stCxn id="39" idx="7"/>
            <a:endCxn id="5" idx="3"/>
          </p:cNvCxnSpPr>
          <p:nvPr/>
        </p:nvCxnSpPr>
        <p:spPr>
          <a:xfrm flipV="1">
            <a:off x="2984054" y="3067848"/>
            <a:ext cx="1964527" cy="158604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241ED73E-3896-5297-F4A9-7C5868B6D5CB}"/>
              </a:ext>
            </a:extLst>
          </p:cNvPr>
          <p:cNvCxnSpPr>
            <a:cxnSpLocks/>
            <a:stCxn id="21" idx="0"/>
            <a:endCxn id="5" idx="7"/>
          </p:cNvCxnSpPr>
          <p:nvPr/>
        </p:nvCxnSpPr>
        <p:spPr>
          <a:xfrm flipV="1">
            <a:off x="2960265" y="2984136"/>
            <a:ext cx="2071092" cy="1349181"/>
          </a:xfrm>
          <a:prstGeom prst="line">
            <a:avLst/>
          </a:prstGeom>
          <a:ln>
            <a:solidFill>
              <a:srgbClr val="0070C0"/>
            </a:solidFill>
            <a:prstDash val="dash"/>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935F2895-DB26-5DA3-263A-292FD2B0F23F}"/>
              </a:ext>
            </a:extLst>
          </p:cNvPr>
          <p:cNvCxnSpPr>
            <a:cxnSpLocks/>
            <a:stCxn id="21" idx="3"/>
            <a:endCxn id="41" idx="1"/>
          </p:cNvCxnSpPr>
          <p:nvPr/>
        </p:nvCxnSpPr>
        <p:spPr>
          <a:xfrm flipV="1">
            <a:off x="3287900" y="4328712"/>
            <a:ext cx="391396" cy="340057"/>
          </a:xfrm>
          <a:prstGeom prst="line">
            <a:avLst/>
          </a:prstGeom>
          <a:ln>
            <a:solidFill>
              <a:srgbClr val="0070C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9828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68EE68-E733-4344-A847-F010CEBCCD56}"/>
              </a:ext>
            </a:extLst>
          </p:cNvPr>
          <p:cNvSpPr>
            <a:spLocks noGrp="1"/>
          </p:cNvSpPr>
          <p:nvPr>
            <p:ph type="title"/>
          </p:nvPr>
        </p:nvSpPr>
        <p:spPr/>
        <p:txBody>
          <a:bodyPr/>
          <a:lstStyle/>
          <a:p>
            <a:r>
              <a:rPr kumimoji="1" lang="ja-JP" altLang="en-US" dirty="0"/>
              <a:t>方向性インペインティング</a:t>
            </a:r>
          </a:p>
        </p:txBody>
      </p:sp>
      <p:sp>
        <p:nvSpPr>
          <p:cNvPr id="9" name="コンテンツ プレースホルダー 8">
            <a:extLst>
              <a:ext uri="{FF2B5EF4-FFF2-40B4-BE49-F238E27FC236}">
                <a16:creationId xmlns:a16="http://schemas.microsoft.com/office/drawing/2014/main" id="{A36669A6-1016-B168-BE97-647852DC24B2}"/>
              </a:ext>
            </a:extLst>
          </p:cNvPr>
          <p:cNvSpPr>
            <a:spLocks noGrp="1"/>
          </p:cNvSpPr>
          <p:nvPr>
            <p:ph idx="1"/>
          </p:nvPr>
        </p:nvSpPr>
        <p:spPr>
          <a:xfrm>
            <a:off x="611188" y="1592262"/>
            <a:ext cx="7904162" cy="4903789"/>
          </a:xfrm>
        </p:spPr>
        <p:txBody>
          <a:bodyPr>
            <a:normAutofit/>
          </a:bodyPr>
          <a:lstStyle/>
          <a:p>
            <a:pPr marL="514350" indent="-514350">
              <a:buFont typeface="+mj-lt"/>
              <a:buAutoNum type="arabicPeriod"/>
            </a:pPr>
            <a:r>
              <a:rPr lang="ja-JP" altLang="en-US" dirty="0"/>
              <a:t>拡散の方向性</a:t>
            </a:r>
            <a:endParaRPr lang="en-US" altLang="ja-JP" dirty="0"/>
          </a:p>
          <a:p>
            <a:pPr marL="457200" lvl="1" indent="0">
              <a:buNone/>
            </a:pPr>
            <a:r>
              <a:rPr lang="ja-JP" altLang="en-US" dirty="0"/>
              <a:t>統合された３次元情報を深さで微分して</a:t>
            </a:r>
            <a:br>
              <a:rPr lang="en-US" altLang="ja-JP" dirty="0"/>
            </a:br>
            <a:r>
              <a:rPr lang="ja-JP" altLang="en-US" dirty="0"/>
              <a:t>背景→前景の方向を求める</a:t>
            </a:r>
            <a:endParaRPr lang="en-US" altLang="ja-JP" dirty="0"/>
          </a:p>
          <a:p>
            <a:pPr marL="457200" lvl="1" indent="0">
              <a:buNone/>
            </a:pPr>
            <a:endParaRPr lang="en-US" altLang="ja-JP" dirty="0"/>
          </a:p>
          <a:p>
            <a:pPr marL="457200" lvl="1" indent="0">
              <a:buNone/>
            </a:pPr>
            <a:endParaRPr lang="en-US" altLang="ja-JP" dirty="0"/>
          </a:p>
          <a:p>
            <a:pPr marL="514350" indent="-514350">
              <a:buFont typeface="+mj-lt"/>
              <a:buAutoNum type="arabicPeriod"/>
            </a:pPr>
            <a:r>
              <a:rPr lang="ja-JP" altLang="en-US" dirty="0"/>
              <a:t>方向性カーネルを生成</a:t>
            </a:r>
            <a:endParaRPr lang="en-US" altLang="ja-JP" dirty="0"/>
          </a:p>
          <a:p>
            <a:pPr marL="457200" lvl="1" indent="0">
              <a:buNone/>
            </a:pPr>
            <a:r>
              <a:rPr lang="ja-JP" altLang="en-US" dirty="0"/>
              <a:t>周囲</a:t>
            </a:r>
            <a:r>
              <a:rPr lang="en-US" altLang="ja-JP" dirty="0"/>
              <a:t>8</a:t>
            </a:r>
            <a:r>
              <a:rPr lang="ja-JP" altLang="en-US" dirty="0"/>
              <a:t>近傍 に対して方向ベクトルとの内積を取り、正の値だけを採用</a:t>
            </a:r>
          </a:p>
          <a:p>
            <a:pPr marL="514350" indent="-514350">
              <a:buFont typeface="+mj-lt"/>
              <a:buAutoNum type="arabicPeriod"/>
            </a:pPr>
            <a:endParaRPr lang="en-US" altLang="ja-JP" dirty="0"/>
          </a:p>
          <a:p>
            <a:pPr marL="514350" indent="-514350">
              <a:buFont typeface="+mj-lt"/>
              <a:buAutoNum type="arabicPeriod"/>
            </a:pPr>
            <a:r>
              <a:rPr lang="ja-JP" altLang="en-US" dirty="0"/>
              <a:t>これを反復する</a:t>
            </a:r>
            <a:endParaRPr lang="en-US" altLang="ja-JP" dirty="0"/>
          </a:p>
          <a:p>
            <a:pPr marL="0" indent="0">
              <a:buNone/>
            </a:pPr>
            <a:endParaRPr lang="ja-JP" altLang="en-US" dirty="0"/>
          </a:p>
        </p:txBody>
      </p:sp>
      <p:sp>
        <p:nvSpPr>
          <p:cNvPr id="4" name="スライド番号プレースホルダー 3">
            <a:extLst>
              <a:ext uri="{FF2B5EF4-FFF2-40B4-BE49-F238E27FC236}">
                <a16:creationId xmlns:a16="http://schemas.microsoft.com/office/drawing/2014/main" id="{6B9D9CF8-20B0-A455-DF80-AB8E92A1474A}"/>
              </a:ext>
            </a:extLst>
          </p:cNvPr>
          <p:cNvSpPr>
            <a:spLocks noGrp="1"/>
          </p:cNvSpPr>
          <p:nvPr>
            <p:ph type="sldNum" sz="quarter" idx="12"/>
          </p:nvPr>
        </p:nvSpPr>
        <p:spPr/>
        <p:txBody>
          <a:bodyPr/>
          <a:lstStyle/>
          <a:p>
            <a:fld id="{673BA9A0-D382-41FB-AB73-7841F3556B1B}" type="slidenum">
              <a:rPr kumimoji="1" lang="ja-JP" altLang="en-US" smtClean="0"/>
              <a:t>12</a:t>
            </a:fld>
            <a:endParaRPr kumimoji="1" lang="ja-JP" altLang="en-US" dirty="0"/>
          </a:p>
        </p:txBody>
      </p:sp>
      <p:pic>
        <p:nvPicPr>
          <p:cNvPr id="10" name="図 9" descr="図形&#10;&#10;AI によって生成されたコンテンツは間違っている可能性があります。">
            <a:extLst>
              <a:ext uri="{FF2B5EF4-FFF2-40B4-BE49-F238E27FC236}">
                <a16:creationId xmlns:a16="http://schemas.microsoft.com/office/drawing/2014/main" id="{031E6929-9F7C-62CA-F78A-6638DC4FBC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8421" y="2748701"/>
            <a:ext cx="4133333" cy="876190"/>
          </a:xfrm>
          <a:prstGeom prst="rect">
            <a:avLst/>
          </a:prstGeom>
        </p:spPr>
      </p:pic>
      <p:pic>
        <p:nvPicPr>
          <p:cNvPr id="11" name="図 10">
            <a:extLst>
              <a:ext uri="{FF2B5EF4-FFF2-40B4-BE49-F238E27FC236}">
                <a16:creationId xmlns:a16="http://schemas.microsoft.com/office/drawing/2014/main" id="{0D111B95-B273-D8EB-AB1F-E81148E68C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9851" y="4868890"/>
            <a:ext cx="4628571" cy="447619"/>
          </a:xfrm>
          <a:prstGeom prst="rect">
            <a:avLst/>
          </a:prstGeom>
        </p:spPr>
      </p:pic>
    </p:spTree>
    <p:extLst>
      <p:ext uri="{BB962C8B-B14F-4D97-AF65-F5344CB8AC3E}">
        <p14:creationId xmlns:p14="http://schemas.microsoft.com/office/powerpoint/2010/main" val="4288254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52C8DB-7D43-B5AB-F968-D874ED5F373D}"/>
              </a:ext>
            </a:extLst>
          </p:cNvPr>
          <p:cNvSpPr>
            <a:spLocks noGrp="1"/>
          </p:cNvSpPr>
          <p:nvPr>
            <p:ph type="title"/>
          </p:nvPr>
        </p:nvSpPr>
        <p:spPr/>
        <p:txBody>
          <a:bodyPr/>
          <a:lstStyle/>
          <a:p>
            <a:r>
              <a:rPr lang="ja-JP" altLang="en-US" dirty="0"/>
              <a:t>地図作成と自己位置推定</a:t>
            </a:r>
            <a:endParaRPr kumimoji="1" lang="ja-JP" altLang="en-US" dirty="0"/>
          </a:p>
        </p:txBody>
      </p:sp>
      <p:sp>
        <p:nvSpPr>
          <p:cNvPr id="3" name="コンテンツ プレースホルダー 2">
            <a:extLst>
              <a:ext uri="{FF2B5EF4-FFF2-40B4-BE49-F238E27FC236}">
                <a16:creationId xmlns:a16="http://schemas.microsoft.com/office/drawing/2014/main" id="{D2CEB131-658F-6ED8-19E0-EA3F9E4CDBC1}"/>
              </a:ext>
            </a:extLst>
          </p:cNvPr>
          <p:cNvSpPr>
            <a:spLocks noGrp="1"/>
          </p:cNvSpPr>
          <p:nvPr>
            <p:ph idx="1"/>
          </p:nvPr>
        </p:nvSpPr>
        <p:spPr/>
        <p:txBody>
          <a:bodyPr>
            <a:normAutofit lnSpcReduction="10000"/>
          </a:bodyPr>
          <a:lstStyle/>
          <a:p>
            <a:pPr marL="0" indent="0">
              <a:lnSpc>
                <a:spcPct val="120000"/>
              </a:lnSpc>
              <a:buNone/>
            </a:pPr>
            <a:r>
              <a:rPr lang="ja-JP" altLang="en-US" dirty="0"/>
              <a:t>既存の</a:t>
            </a:r>
            <a:r>
              <a:rPr lang="en-US" altLang="ja-JP" dirty="0"/>
              <a:t>SLAM</a:t>
            </a:r>
            <a:r>
              <a:rPr lang="ja-JP" altLang="en-US" dirty="0"/>
              <a:t>アルゴリズムを活用するための</a:t>
            </a:r>
            <a:br>
              <a:rPr lang="en-US" altLang="ja-JP" dirty="0"/>
            </a:br>
            <a:r>
              <a:rPr lang="ja-JP" altLang="en-US" dirty="0"/>
              <a:t>パノラマ画像の入力方法について</a:t>
            </a:r>
            <a:endParaRPr kumimoji="1" lang="en-US" altLang="ja-JP" dirty="0"/>
          </a:p>
          <a:p>
            <a:pPr>
              <a:lnSpc>
                <a:spcPct val="120000"/>
              </a:lnSpc>
            </a:pPr>
            <a:r>
              <a:rPr lang="ja-JP" altLang="en-US" dirty="0"/>
              <a:t>複数視点に分割する</a:t>
            </a:r>
            <a:endParaRPr lang="en-US" altLang="ja-JP" dirty="0"/>
          </a:p>
          <a:p>
            <a:pPr lvl="1">
              <a:lnSpc>
                <a:spcPct val="120000"/>
              </a:lnSpc>
            </a:pPr>
            <a:r>
              <a:rPr lang="ja-JP" altLang="en-US" dirty="0"/>
              <a:t>従来の</a:t>
            </a:r>
            <a:r>
              <a:rPr lang="en-US" altLang="ja-JP" dirty="0"/>
              <a:t>SLAM</a:t>
            </a:r>
            <a:r>
              <a:rPr lang="ja-JP" altLang="en-US" dirty="0"/>
              <a:t>は平面画像を扱うピンホールモデルが主流</a:t>
            </a:r>
            <a:endParaRPr lang="en-US" altLang="ja-JP" dirty="0"/>
          </a:p>
          <a:p>
            <a:pPr lvl="1">
              <a:lnSpc>
                <a:spcPct val="120000"/>
              </a:lnSpc>
            </a:pPr>
            <a:r>
              <a:rPr lang="en-US" altLang="ja-JP" dirty="0"/>
              <a:t>360°</a:t>
            </a:r>
            <a:r>
              <a:rPr lang="ja-JP" altLang="en-US" dirty="0"/>
              <a:t>深さ画像を前後左右に分割して</a:t>
            </a:r>
            <a:br>
              <a:rPr lang="en-US" altLang="ja-JP" dirty="0"/>
            </a:br>
            <a:r>
              <a:rPr lang="ja-JP" altLang="en-US" dirty="0"/>
              <a:t>各方向の画像を入力</a:t>
            </a:r>
            <a:endParaRPr lang="en-US" altLang="ja-JP" dirty="0"/>
          </a:p>
          <a:p>
            <a:pPr>
              <a:lnSpc>
                <a:spcPct val="120000"/>
              </a:lnSpc>
            </a:pPr>
            <a:r>
              <a:rPr lang="ja-JP" altLang="en-US" dirty="0"/>
              <a:t>正距円筒投影</a:t>
            </a:r>
            <a:endParaRPr lang="en-US" altLang="ja-JP" dirty="0"/>
          </a:p>
          <a:p>
            <a:pPr lvl="1">
              <a:lnSpc>
                <a:spcPct val="120000"/>
              </a:lnSpc>
            </a:pPr>
            <a:r>
              <a:rPr lang="ja-JP" altLang="en-US" dirty="0"/>
              <a:t>使える</a:t>
            </a:r>
            <a:r>
              <a:rPr lang="en-US" altLang="ja-JP" dirty="0"/>
              <a:t>SLAM</a:t>
            </a:r>
            <a:r>
              <a:rPr lang="ja-JP" altLang="en-US" dirty="0"/>
              <a:t>の形式がパノラマ</a:t>
            </a:r>
            <a:r>
              <a:rPr lang="en-US" altLang="ja-JP" dirty="0"/>
              <a:t>SLAM</a:t>
            </a:r>
            <a:r>
              <a:rPr lang="ja-JP" altLang="en-US" dirty="0"/>
              <a:t>系に限られる</a:t>
            </a:r>
            <a:endParaRPr lang="en-US" altLang="ja-JP" dirty="0"/>
          </a:p>
          <a:p>
            <a:pPr lvl="1">
              <a:lnSpc>
                <a:spcPct val="120000"/>
              </a:lnSpc>
            </a:pPr>
            <a:endParaRPr kumimoji="1" lang="ja-JP" altLang="en-US" dirty="0"/>
          </a:p>
        </p:txBody>
      </p:sp>
      <p:sp>
        <p:nvSpPr>
          <p:cNvPr id="4" name="スライド番号プレースホルダー 3">
            <a:extLst>
              <a:ext uri="{FF2B5EF4-FFF2-40B4-BE49-F238E27FC236}">
                <a16:creationId xmlns:a16="http://schemas.microsoft.com/office/drawing/2014/main" id="{52DE5D76-6E71-510F-1B92-C679DBD2B4A0}"/>
              </a:ext>
            </a:extLst>
          </p:cNvPr>
          <p:cNvSpPr>
            <a:spLocks noGrp="1"/>
          </p:cNvSpPr>
          <p:nvPr>
            <p:ph type="sldNum" sz="quarter" idx="12"/>
          </p:nvPr>
        </p:nvSpPr>
        <p:spPr>
          <a:xfrm>
            <a:off x="7029450" y="361948"/>
            <a:ext cx="2057400" cy="365125"/>
          </a:xfrm>
        </p:spPr>
        <p:txBody>
          <a:bodyPr/>
          <a:lstStyle/>
          <a:p>
            <a:fld id="{673BA9A0-D382-41FB-AB73-7841F3556B1B}" type="slidenum">
              <a:rPr kumimoji="1" lang="ja-JP" altLang="en-US" smtClean="0"/>
              <a:pPr/>
              <a:t>13</a:t>
            </a:fld>
            <a:endParaRPr kumimoji="1" lang="ja-JP" altLang="en-US" dirty="0"/>
          </a:p>
        </p:txBody>
      </p:sp>
    </p:spTree>
    <p:extLst>
      <p:ext uri="{BB962C8B-B14F-4D97-AF65-F5344CB8AC3E}">
        <p14:creationId xmlns:p14="http://schemas.microsoft.com/office/powerpoint/2010/main" val="881620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709464-9D29-E8B1-875A-7E60B3D66380}"/>
              </a:ext>
            </a:extLst>
          </p:cNvPr>
          <p:cNvSpPr>
            <a:spLocks noGrp="1"/>
          </p:cNvSpPr>
          <p:nvPr>
            <p:ph type="title"/>
          </p:nvPr>
        </p:nvSpPr>
        <p:spPr/>
        <p:txBody>
          <a:bodyPr/>
          <a:lstStyle/>
          <a:p>
            <a:r>
              <a:rPr lang="ja-JP" altLang="en-US" dirty="0"/>
              <a:t>環境構築</a:t>
            </a:r>
            <a:endParaRPr kumimoji="1" lang="ja-JP" altLang="en-US" dirty="0"/>
          </a:p>
        </p:txBody>
      </p:sp>
      <p:sp>
        <p:nvSpPr>
          <p:cNvPr id="3" name="コンテンツ プレースホルダー 2">
            <a:extLst>
              <a:ext uri="{FF2B5EF4-FFF2-40B4-BE49-F238E27FC236}">
                <a16:creationId xmlns:a16="http://schemas.microsoft.com/office/drawing/2014/main" id="{0197F587-99B7-50AC-7790-FA4F2600B641}"/>
              </a:ext>
            </a:extLst>
          </p:cNvPr>
          <p:cNvSpPr>
            <a:spLocks noGrp="1"/>
          </p:cNvSpPr>
          <p:nvPr>
            <p:ph idx="4294967295"/>
          </p:nvPr>
        </p:nvSpPr>
        <p:spPr>
          <a:xfrm>
            <a:off x="628650" y="1449388"/>
            <a:ext cx="7886700" cy="5043485"/>
          </a:xfrm>
        </p:spPr>
        <p:txBody>
          <a:bodyPr>
            <a:normAutofit/>
          </a:bodyPr>
          <a:lstStyle/>
          <a:p>
            <a:pPr>
              <a:lnSpc>
                <a:spcPct val="150000"/>
              </a:lnSpc>
            </a:pPr>
            <a:r>
              <a:rPr kumimoji="1" lang="ja-JP" altLang="en-US" dirty="0"/>
              <a:t>カメラ環境の構築</a:t>
            </a:r>
            <a:endParaRPr lang="en-US" altLang="ja-JP" dirty="0"/>
          </a:p>
          <a:p>
            <a:pPr lvl="1">
              <a:lnSpc>
                <a:spcPct val="150000"/>
              </a:lnSpc>
            </a:pPr>
            <a:r>
              <a:rPr lang="ja-JP" altLang="en-US" dirty="0"/>
              <a:t>カメラフレームの作成</a:t>
            </a:r>
            <a:endParaRPr lang="en-US" altLang="ja-JP" dirty="0"/>
          </a:p>
          <a:p>
            <a:pPr lvl="1">
              <a:lnSpc>
                <a:spcPct val="150000"/>
              </a:lnSpc>
            </a:pPr>
            <a:r>
              <a:rPr lang="ja-JP" altLang="en-US" dirty="0"/>
              <a:t>動作環境を整える</a:t>
            </a:r>
            <a:endParaRPr lang="en-US" altLang="ja-JP" dirty="0"/>
          </a:p>
          <a:p>
            <a:pPr lvl="1">
              <a:lnSpc>
                <a:spcPct val="150000"/>
              </a:lnSpc>
            </a:pPr>
            <a:endParaRPr lang="en-US" altLang="ja-JP" dirty="0"/>
          </a:p>
          <a:p>
            <a:pPr>
              <a:lnSpc>
                <a:spcPct val="150000"/>
              </a:lnSpc>
            </a:pPr>
            <a:endParaRPr lang="en-US" altLang="ja-JP" dirty="0"/>
          </a:p>
          <a:p>
            <a:pPr>
              <a:lnSpc>
                <a:spcPct val="150000"/>
              </a:lnSpc>
            </a:pPr>
            <a:r>
              <a:rPr lang="ja-JP" altLang="en-US" dirty="0"/>
              <a:t>深さ画像に変換するプログラムの環境構築</a:t>
            </a:r>
            <a:endParaRPr lang="en-US" altLang="ja-JP" dirty="0"/>
          </a:p>
          <a:p>
            <a:pPr lvl="1">
              <a:lnSpc>
                <a:spcPct val="150000"/>
              </a:lnSpc>
            </a:pPr>
            <a:r>
              <a:rPr lang="ja-JP" altLang="en-US" dirty="0"/>
              <a:t>公開されたプログラムの環境を整える</a:t>
            </a:r>
            <a:endParaRPr lang="en-US" altLang="ja-JP" dirty="0"/>
          </a:p>
        </p:txBody>
      </p:sp>
      <p:sp>
        <p:nvSpPr>
          <p:cNvPr id="4" name="スライド番号プレースホルダー 3">
            <a:extLst>
              <a:ext uri="{FF2B5EF4-FFF2-40B4-BE49-F238E27FC236}">
                <a16:creationId xmlns:a16="http://schemas.microsoft.com/office/drawing/2014/main" id="{E0168C40-599C-B6B8-322D-CE942846210D}"/>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14</a:t>
            </a:fld>
            <a:endParaRPr kumimoji="1" lang="ja-JP" altLang="en-US" dirty="0"/>
          </a:p>
        </p:txBody>
      </p:sp>
      <p:pic>
        <p:nvPicPr>
          <p:cNvPr id="6" name="図 5" descr="屋内, 鏡, 眺め, 座る が含まれている画像&#10;&#10;AI によって生成されたコンテンツは間違っている可能性があります。">
            <a:extLst>
              <a:ext uri="{FF2B5EF4-FFF2-40B4-BE49-F238E27FC236}">
                <a16:creationId xmlns:a16="http://schemas.microsoft.com/office/drawing/2014/main" id="{62270453-B0CC-B862-359C-0551697C6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531696"/>
            <a:ext cx="2084210" cy="1172368"/>
          </a:xfrm>
          <a:prstGeom prst="rect">
            <a:avLst/>
          </a:prstGeom>
        </p:spPr>
      </p:pic>
      <p:pic>
        <p:nvPicPr>
          <p:cNvPr id="8" name="図 7" descr="屋内, 鏡, 眺め, 反射 が含まれている画像&#10;&#10;AI によって生成されたコンテンツは間違っている可能性があります。">
            <a:extLst>
              <a:ext uri="{FF2B5EF4-FFF2-40B4-BE49-F238E27FC236}">
                <a16:creationId xmlns:a16="http://schemas.microsoft.com/office/drawing/2014/main" id="{281B50EB-09B8-0FF8-C38D-58EF2A51F8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7789" y="3531696"/>
            <a:ext cx="2084211" cy="1172369"/>
          </a:xfrm>
          <a:prstGeom prst="rect">
            <a:avLst/>
          </a:prstGeom>
        </p:spPr>
      </p:pic>
      <p:pic>
        <p:nvPicPr>
          <p:cNvPr id="10" name="図 9" descr="屋内, 鏡, 眺め, 反射 が含まれている画像&#10;&#10;AI によって生成されたコンテンツは間違っている可能性があります。">
            <a:extLst>
              <a:ext uri="{FF2B5EF4-FFF2-40B4-BE49-F238E27FC236}">
                <a16:creationId xmlns:a16="http://schemas.microsoft.com/office/drawing/2014/main" id="{80F6ED8D-689E-4A04-0ABF-97B9D8BBE2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6210" y="3531697"/>
            <a:ext cx="2084210" cy="1172368"/>
          </a:xfrm>
          <a:prstGeom prst="rect">
            <a:avLst/>
          </a:prstGeom>
        </p:spPr>
      </p:pic>
      <p:pic>
        <p:nvPicPr>
          <p:cNvPr id="12" name="図 11" descr="屋内, 眺め, 鏡, 座る が含まれている画像&#10;&#10;AI によって生成されたコンテンツは間違っている可能性があります。">
            <a:extLst>
              <a:ext uri="{FF2B5EF4-FFF2-40B4-BE49-F238E27FC236}">
                <a16:creationId xmlns:a16="http://schemas.microsoft.com/office/drawing/2014/main" id="{142F95E4-D339-FEE7-8A85-6096CA33B1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3579" y="3531696"/>
            <a:ext cx="2084210" cy="1172368"/>
          </a:xfrm>
          <a:prstGeom prst="rect">
            <a:avLst/>
          </a:prstGeom>
        </p:spPr>
      </p:pic>
    </p:spTree>
    <p:extLst>
      <p:ext uri="{BB962C8B-B14F-4D97-AF65-F5344CB8AC3E}">
        <p14:creationId xmlns:p14="http://schemas.microsoft.com/office/powerpoint/2010/main" val="4165802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1CDDD-E3A0-4AD4-4F86-0537303635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87A8CB-0690-88FF-AA82-15E835B43F64}"/>
              </a:ext>
            </a:extLst>
          </p:cNvPr>
          <p:cNvSpPr>
            <a:spLocks noGrp="1"/>
          </p:cNvSpPr>
          <p:nvPr>
            <p:ph type="title"/>
          </p:nvPr>
        </p:nvSpPr>
        <p:spPr/>
        <p:txBody>
          <a:bodyPr>
            <a:normAutofit/>
          </a:bodyPr>
          <a:lstStyle/>
          <a:p>
            <a:r>
              <a:rPr lang="ja-JP" altLang="en-US" dirty="0"/>
              <a:t>環境構築が滞っている原因</a:t>
            </a:r>
            <a:endParaRPr kumimoji="1" lang="ja-JP" altLang="en-US" dirty="0"/>
          </a:p>
        </p:txBody>
      </p:sp>
      <p:sp>
        <p:nvSpPr>
          <p:cNvPr id="3" name="コンテンツ プレースホルダー 2">
            <a:extLst>
              <a:ext uri="{FF2B5EF4-FFF2-40B4-BE49-F238E27FC236}">
                <a16:creationId xmlns:a16="http://schemas.microsoft.com/office/drawing/2014/main" id="{592711A9-BFF1-326B-5F78-71187F0A1A35}"/>
              </a:ext>
            </a:extLst>
          </p:cNvPr>
          <p:cNvSpPr>
            <a:spLocks noGrp="1"/>
          </p:cNvSpPr>
          <p:nvPr>
            <p:ph idx="1"/>
          </p:nvPr>
        </p:nvSpPr>
        <p:spPr>
          <a:xfrm>
            <a:off x="619919" y="1360450"/>
            <a:ext cx="7904162" cy="5570576"/>
          </a:xfrm>
        </p:spPr>
        <p:txBody>
          <a:bodyPr>
            <a:noAutofit/>
          </a:bodyPr>
          <a:lstStyle/>
          <a:p>
            <a:pPr>
              <a:lnSpc>
                <a:spcPct val="200000"/>
              </a:lnSpc>
            </a:pPr>
            <a:r>
              <a:rPr kumimoji="1" lang="ja-JP" altLang="en-US" dirty="0"/>
              <a:t>環境を整える手順は書いてあるが，</a:t>
            </a:r>
            <a:br>
              <a:rPr lang="en-US" altLang="ja-JP" dirty="0"/>
            </a:br>
            <a:r>
              <a:rPr kumimoji="1" lang="ja-JP" altLang="en-US" dirty="0"/>
              <a:t>手順通りに実行するとあいまいなインストール方法であるため，バージョンの衝突が起きる</a:t>
            </a:r>
            <a:endParaRPr lang="en-US" altLang="ja-JP" dirty="0"/>
          </a:p>
          <a:p>
            <a:pPr>
              <a:lnSpc>
                <a:spcPct val="200000"/>
              </a:lnSpc>
            </a:pPr>
            <a:r>
              <a:rPr kumimoji="1" lang="en-US" altLang="ja-JP" dirty="0"/>
              <a:t>Jetson</a:t>
            </a:r>
            <a:r>
              <a:rPr kumimoji="1" lang="ja-JP" altLang="en-US" dirty="0"/>
              <a:t>環境では，通常の</a:t>
            </a:r>
            <a:r>
              <a:rPr kumimoji="1" lang="en-US" altLang="ja-JP" dirty="0"/>
              <a:t>Linux</a:t>
            </a:r>
            <a:r>
              <a:rPr lang="ja-JP" altLang="en-US" dirty="0"/>
              <a:t>と同様の方法で</a:t>
            </a:r>
            <a:br>
              <a:rPr lang="en-US" altLang="ja-JP" dirty="0"/>
            </a:br>
            <a:r>
              <a:rPr kumimoji="1" lang="ja-JP" altLang="en-US" dirty="0"/>
              <a:t>インストールできないライブラリが存在する</a:t>
            </a:r>
            <a:endParaRPr kumimoji="1" lang="en-US" altLang="ja-JP" dirty="0"/>
          </a:p>
        </p:txBody>
      </p:sp>
      <p:sp>
        <p:nvSpPr>
          <p:cNvPr id="4" name="スライド番号プレースホルダー 3">
            <a:extLst>
              <a:ext uri="{FF2B5EF4-FFF2-40B4-BE49-F238E27FC236}">
                <a16:creationId xmlns:a16="http://schemas.microsoft.com/office/drawing/2014/main" id="{BABCF371-3C2F-AAEF-9B6E-056265AA4BBF}"/>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15</a:t>
            </a:fld>
            <a:endParaRPr kumimoji="1" lang="ja-JP" altLang="en-US" dirty="0"/>
          </a:p>
        </p:txBody>
      </p:sp>
    </p:spTree>
    <p:extLst>
      <p:ext uri="{BB962C8B-B14F-4D97-AF65-F5344CB8AC3E}">
        <p14:creationId xmlns:p14="http://schemas.microsoft.com/office/powerpoint/2010/main" val="838377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00A8F9-E95D-9A41-73AF-24A49F4A22F7}"/>
              </a:ext>
            </a:extLst>
          </p:cNvPr>
          <p:cNvSpPr>
            <a:spLocks noGrp="1"/>
          </p:cNvSpPr>
          <p:nvPr>
            <p:ph type="title"/>
          </p:nvPr>
        </p:nvSpPr>
        <p:spPr/>
        <p:txBody>
          <a:bodyPr/>
          <a:lstStyle/>
          <a:p>
            <a:r>
              <a:rPr kumimoji="1" lang="ja-JP" altLang="en-US" dirty="0"/>
              <a:t>まとめ</a:t>
            </a:r>
          </a:p>
        </p:txBody>
      </p:sp>
      <p:sp>
        <p:nvSpPr>
          <p:cNvPr id="3" name="スライド番号プレースホルダー 2">
            <a:extLst>
              <a:ext uri="{FF2B5EF4-FFF2-40B4-BE49-F238E27FC236}">
                <a16:creationId xmlns:a16="http://schemas.microsoft.com/office/drawing/2014/main" id="{3EF3225B-09C8-A2E8-6B14-88E28C27F262}"/>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16</a:t>
            </a:fld>
            <a:endParaRPr kumimoji="1" lang="ja-JP" altLang="en-US" dirty="0"/>
          </a:p>
        </p:txBody>
      </p:sp>
      <p:sp>
        <p:nvSpPr>
          <p:cNvPr id="4" name="コンテンツ プレースホルダー 3">
            <a:extLst>
              <a:ext uri="{FF2B5EF4-FFF2-40B4-BE49-F238E27FC236}">
                <a16:creationId xmlns:a16="http://schemas.microsoft.com/office/drawing/2014/main" id="{257036E6-703D-079D-FA10-D1BEAFD93784}"/>
              </a:ext>
            </a:extLst>
          </p:cNvPr>
          <p:cNvSpPr>
            <a:spLocks noGrp="1"/>
          </p:cNvSpPr>
          <p:nvPr>
            <p:ph idx="1"/>
          </p:nvPr>
        </p:nvSpPr>
        <p:spPr>
          <a:xfrm>
            <a:off x="611188" y="1279526"/>
            <a:ext cx="7904162" cy="4584700"/>
          </a:xfrm>
        </p:spPr>
        <p:txBody>
          <a:bodyPr>
            <a:noAutofit/>
          </a:bodyPr>
          <a:lstStyle/>
          <a:p>
            <a:pPr>
              <a:lnSpc>
                <a:spcPct val="200000"/>
              </a:lnSpc>
            </a:pPr>
            <a:r>
              <a:rPr lang="ja-JP" altLang="en-US" dirty="0"/>
              <a:t>ハードウェアを構築</a:t>
            </a:r>
            <a:endParaRPr lang="en-US" altLang="ja-JP" dirty="0"/>
          </a:p>
          <a:p>
            <a:pPr>
              <a:lnSpc>
                <a:spcPct val="200000"/>
              </a:lnSpc>
            </a:pPr>
            <a:r>
              <a:rPr lang="ja-JP" altLang="en-US" dirty="0"/>
              <a:t>魚眼カメラでカラー画像を深度画像に</a:t>
            </a:r>
            <a:br>
              <a:rPr lang="en-US" altLang="ja-JP" dirty="0"/>
            </a:br>
            <a:r>
              <a:rPr lang="ja-JP" altLang="en-US" dirty="0"/>
              <a:t>変換する手法を確認した</a:t>
            </a:r>
            <a:endParaRPr lang="en-US" altLang="ja-JP" dirty="0"/>
          </a:p>
          <a:p>
            <a:pPr>
              <a:lnSpc>
                <a:spcPct val="200000"/>
              </a:lnSpc>
            </a:pPr>
            <a:r>
              <a:rPr lang="ja-JP" altLang="en-US" dirty="0"/>
              <a:t>カメラの環境を構築し動作確認を行った</a:t>
            </a:r>
            <a:endParaRPr lang="en-US" altLang="ja-JP" dirty="0"/>
          </a:p>
          <a:p>
            <a:pPr>
              <a:lnSpc>
                <a:spcPct val="200000"/>
              </a:lnSpc>
            </a:pPr>
            <a:r>
              <a:rPr lang="ja-JP" altLang="en-US" dirty="0"/>
              <a:t>地図作成と自己位置推定の環境を構築中</a:t>
            </a:r>
            <a:endParaRPr kumimoji="1" lang="ja-JP" altLang="en-US" dirty="0"/>
          </a:p>
        </p:txBody>
      </p:sp>
    </p:spTree>
    <p:extLst>
      <p:ext uri="{BB962C8B-B14F-4D97-AF65-F5344CB8AC3E}">
        <p14:creationId xmlns:p14="http://schemas.microsoft.com/office/powerpoint/2010/main" val="3937609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FBF599-798A-6A04-75AF-F5A10856CE2E}"/>
              </a:ext>
            </a:extLst>
          </p:cNvPr>
          <p:cNvSpPr>
            <a:spLocks noGrp="1"/>
          </p:cNvSpPr>
          <p:nvPr>
            <p:ph type="title"/>
          </p:nvPr>
        </p:nvSpPr>
        <p:spPr/>
        <p:txBody>
          <a:bodyPr/>
          <a:lstStyle/>
          <a:p>
            <a:r>
              <a:rPr kumimoji="1" lang="ja-JP" altLang="en-US" dirty="0"/>
              <a:t>今後の予定</a:t>
            </a:r>
          </a:p>
        </p:txBody>
      </p:sp>
      <p:sp>
        <p:nvSpPr>
          <p:cNvPr id="3" name="スライド番号プレースホルダー 2">
            <a:extLst>
              <a:ext uri="{FF2B5EF4-FFF2-40B4-BE49-F238E27FC236}">
                <a16:creationId xmlns:a16="http://schemas.microsoft.com/office/drawing/2014/main" id="{F69D853E-388C-33D9-3DBF-0C4991862C9A}"/>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17</a:t>
            </a:fld>
            <a:endParaRPr kumimoji="1" lang="ja-JP" altLang="en-US" dirty="0"/>
          </a:p>
        </p:txBody>
      </p:sp>
      <p:sp>
        <p:nvSpPr>
          <p:cNvPr id="4" name="コンテンツ プレースホルダー 3">
            <a:extLst>
              <a:ext uri="{FF2B5EF4-FFF2-40B4-BE49-F238E27FC236}">
                <a16:creationId xmlns:a16="http://schemas.microsoft.com/office/drawing/2014/main" id="{061E99B6-A585-9A4E-C769-E439291FA7EE}"/>
              </a:ext>
            </a:extLst>
          </p:cNvPr>
          <p:cNvSpPr>
            <a:spLocks noGrp="1"/>
          </p:cNvSpPr>
          <p:nvPr>
            <p:ph idx="1"/>
          </p:nvPr>
        </p:nvSpPr>
        <p:spPr>
          <a:xfrm>
            <a:off x="611188" y="1268413"/>
            <a:ext cx="7904162" cy="4584700"/>
          </a:xfrm>
        </p:spPr>
        <p:txBody>
          <a:bodyPr/>
          <a:lstStyle/>
          <a:p>
            <a:pPr>
              <a:lnSpc>
                <a:spcPct val="200000"/>
              </a:lnSpc>
            </a:pPr>
            <a:r>
              <a:rPr kumimoji="1" lang="ja-JP" altLang="en-US" dirty="0"/>
              <a:t>現在行っている環境構築を完成させる</a:t>
            </a:r>
            <a:endParaRPr kumimoji="1" lang="en-US" altLang="ja-JP" dirty="0"/>
          </a:p>
          <a:p>
            <a:pPr>
              <a:lnSpc>
                <a:spcPct val="200000"/>
              </a:lnSpc>
            </a:pPr>
            <a:r>
              <a:rPr kumimoji="1" lang="ja-JP" altLang="en-US" dirty="0"/>
              <a:t>リアルタイムで深さ画像を生成する</a:t>
            </a:r>
            <a:br>
              <a:rPr kumimoji="1" lang="en-US" altLang="ja-JP" dirty="0"/>
            </a:br>
            <a:r>
              <a:rPr kumimoji="1" lang="ja-JP" altLang="en-US" dirty="0"/>
              <a:t>プログラムを構成する</a:t>
            </a:r>
            <a:endParaRPr kumimoji="1" lang="en-US" altLang="ja-JP" dirty="0"/>
          </a:p>
          <a:p>
            <a:pPr>
              <a:lnSpc>
                <a:spcPct val="200000"/>
              </a:lnSpc>
            </a:pPr>
            <a:r>
              <a:rPr kumimoji="1" lang="en-US" altLang="ja-JP" dirty="0"/>
              <a:t>SLAM</a:t>
            </a:r>
            <a:r>
              <a:rPr kumimoji="1" lang="ja-JP" altLang="en-US" dirty="0"/>
              <a:t>の環境を構築する</a:t>
            </a:r>
            <a:endParaRPr kumimoji="1" lang="en-US" altLang="ja-JP" dirty="0"/>
          </a:p>
        </p:txBody>
      </p:sp>
    </p:spTree>
    <p:extLst>
      <p:ext uri="{BB962C8B-B14F-4D97-AF65-F5344CB8AC3E}">
        <p14:creationId xmlns:p14="http://schemas.microsoft.com/office/powerpoint/2010/main" val="3362667328"/>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12560</TotalTime>
  <Words>1888</Words>
  <Application>Microsoft Office PowerPoint</Application>
  <PresentationFormat>画面に合わせる (4:3)</PresentationFormat>
  <Paragraphs>189</Paragraphs>
  <Slides>17</Slides>
  <Notes>16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17</vt:i4>
      </vt:variant>
    </vt:vector>
  </HeadingPairs>
  <TitlesOfParts>
    <vt:vector size="23" baseType="lpstr">
      <vt:lpstr>游ゴシック</vt:lpstr>
      <vt:lpstr>游ゴシック Medium</vt:lpstr>
      <vt:lpstr>Aptos</vt:lpstr>
      <vt:lpstr>Arial</vt:lpstr>
      <vt:lpstr>Wingdings</vt:lpstr>
      <vt:lpstr>Office テーマ</vt:lpstr>
      <vt:lpstr>4つの魚眼カメラで 生成したパノラマ深さ画像 を用いたSLAMに関する研究</vt:lpstr>
      <vt:lpstr>背景と目的</vt:lpstr>
      <vt:lpstr>SLAM</vt:lpstr>
      <vt:lpstr>ハードウェア構成</vt:lpstr>
      <vt:lpstr>ソフトウェア構成</vt:lpstr>
      <vt:lpstr>深度を取得する原理１</vt:lpstr>
      <vt:lpstr>深度を取得する原理２</vt:lpstr>
      <vt:lpstr>深度を取得する原理３</vt:lpstr>
      <vt:lpstr>カラー画像を深度画像に変換１</vt:lpstr>
      <vt:lpstr>カラー画像を深度画像に変換２</vt:lpstr>
      <vt:lpstr>カラー画像を深さ画像に変換３</vt:lpstr>
      <vt:lpstr>方向性インペインティング</vt:lpstr>
      <vt:lpstr>地図作成と自己位置推定</vt:lpstr>
      <vt:lpstr>環境構築</vt:lpstr>
      <vt:lpstr>環境構築が滞っている原因</vt:lpstr>
      <vt:lpstr>まとめ</vt:lpstr>
      <vt:lpstr>今後の予定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TAKAGISHI Tsukasa</dc:creator>
  <cp:lastModifiedBy>TAKAGISHI Tsukasa</cp:lastModifiedBy>
  <cp:revision>534</cp:revision>
  <dcterms:created xsi:type="dcterms:W3CDTF">2025-10-17T07:11:31Z</dcterms:created>
  <dcterms:modified xsi:type="dcterms:W3CDTF">2025-12-16T03:29:29Z</dcterms:modified>
</cp:coreProperties>
</file>