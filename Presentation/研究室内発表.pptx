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7" r:id="rId2"/>
  </p:sldMasterIdLst>
  <p:notesMasterIdLst>
    <p:notesMasterId r:id="rId8"/>
  </p:notesMasterIdLst>
  <p:sldIdLst>
    <p:sldId id="256" r:id="rId3"/>
    <p:sldId id="257" r:id="rId4"/>
    <p:sldId id="259" r:id="rId5"/>
    <p:sldId id="260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01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CEAD8-CBA6-4462-A947-7B3D011449F9}" type="datetimeFigureOut">
              <a:rPr kumimoji="1" lang="ja-JP" altLang="en-US" smtClean="0"/>
              <a:t>2025/10/15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1F1EB-BD56-49F9-AE01-F1F4E146A1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9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5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27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9" y="152401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4128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C4E2F823-F21B-CADC-A13C-D1449BB9CEE6}"/>
              </a:ext>
            </a:extLst>
          </p:cNvPr>
          <p:cNvCxnSpPr/>
          <p:nvPr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7">
            <a:extLst>
              <a:ext uri="{FF2B5EF4-FFF2-40B4-BE49-F238E27FC236}">
                <a16:creationId xmlns:a16="http://schemas.microsoft.com/office/drawing/2014/main" id="{1F248896-136B-1524-833E-8F615E919C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0575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ja-JP" altLang="en-US" dirty="0"/>
              <a:t>目次</a:t>
            </a:r>
            <a:endParaRPr kumimoji="1" lang="en-US" altLang="ja-JP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0FCC5273-F979-4F77-088C-EB2AF8543B5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8800" y="895352"/>
            <a:ext cx="11099800" cy="5689803"/>
          </a:xfrm>
        </p:spPr>
        <p:txBody>
          <a:bodyPr>
            <a:normAutofit/>
          </a:bodyPr>
          <a:lstStyle>
            <a:lvl1pPr marL="385763" indent="-385763">
              <a:buClr>
                <a:schemeClr val="bg1">
                  <a:lumMod val="10000"/>
                </a:schemeClr>
              </a:buClr>
              <a:buFont typeface="+mj-lt"/>
              <a:buAutoNum type="arabicPeriod"/>
              <a:defRPr sz="28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600075" marR="0" indent="-257175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8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685800" indent="0">
              <a:buNone/>
              <a:defRPr/>
            </a:lvl3pPr>
            <a:lvl4pPr marL="1285875" indent="-257175">
              <a:buFont typeface="+mj-lt"/>
              <a:buAutoNum type="arabicPeriod"/>
              <a:defRPr sz="2800"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ja-JP" altLang="en-US" dirty="0"/>
              <a:t>大枠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スライドトピック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1470781-0DB4-3D2A-0BED-87B7D8A20579}"/>
              </a:ext>
            </a:extLst>
          </p:cNvPr>
          <p:cNvSpPr txBox="1"/>
          <p:nvPr/>
        </p:nvSpPr>
        <p:spPr>
          <a:xfrm>
            <a:off x="11493500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6361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58800" y="1066803"/>
            <a:ext cx="11099800" cy="5518353"/>
          </a:xfrm>
        </p:spPr>
        <p:txBody>
          <a:bodyPr>
            <a:normAutofit/>
          </a:bodyPr>
          <a:lstStyle>
            <a:lvl1pPr marL="342900" indent="-342900">
              <a:buClr>
                <a:schemeClr val="bg1">
                  <a:lumMod val="10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600075" marR="0" indent="-257175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24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939404" indent="-253604">
              <a:buFont typeface="游ゴシック Medium" panose="020B0500000000000000" pitchFamily="50" charset="-128"/>
              <a:buChar char="-"/>
              <a:defRPr sz="20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5" y="348226"/>
            <a:ext cx="11455400" cy="469900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1493500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/>
        </p:nvSpPr>
        <p:spPr>
          <a:xfrm>
            <a:off x="11493500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357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8800" y="1016001"/>
            <a:ext cx="11099800" cy="938159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58800" y="2013155"/>
            <a:ext cx="11099800" cy="4572000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l"/>
              <a:defRPr sz="24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600075" marR="0" indent="-257175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24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 sz="20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5" y="348226"/>
            <a:ext cx="11455400" cy="469900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1493500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/>
        </p:nvSpPr>
        <p:spPr>
          <a:xfrm>
            <a:off x="11493500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48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ラグラフスライド(下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66175" y="5563421"/>
            <a:ext cx="11099800" cy="938159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66175" y="958646"/>
            <a:ext cx="11099800" cy="4572000"/>
          </a:xfrm>
        </p:spPr>
        <p:txBody>
          <a:bodyPr>
            <a:normAutofit/>
          </a:bodyPr>
          <a:lstStyle>
            <a:lvl1pPr marL="0" indent="0">
              <a:buFont typeface="Wingdings" panose="05000000000000000000" pitchFamily="2" charset="2"/>
              <a:buNone/>
              <a:defRPr sz="2400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685800" marR="0" indent="-34290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sz="240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 sz="2400"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 sz="2400"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 sz="2400"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5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1493500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B4F7A6F-77E0-7B34-8275-7E64DE51B8BD}"/>
              </a:ext>
            </a:extLst>
          </p:cNvPr>
          <p:cNvSpPr txBox="1"/>
          <p:nvPr/>
        </p:nvSpPr>
        <p:spPr>
          <a:xfrm>
            <a:off x="11493500" y="315648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26F81DA-F450-4D34-E663-93472DCA1677}"/>
              </a:ext>
            </a:extLst>
          </p:cNvPr>
          <p:cNvCxnSpPr/>
          <p:nvPr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279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73B417-C573-26F0-7D80-045C74C64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299902-A91B-E44B-FCC4-DC9393D89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9EF029-6BFC-7975-B811-AF9D15F4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34BE51-68FE-6A0A-0C28-FE7076A58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081C2A-B726-AF95-6941-6DA27D72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3337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D1445D-B0F8-733F-9422-5547FE77D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8556"/>
            <a:ext cx="9144000" cy="2020888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E79A5E-E0BF-0920-11E9-43C7DC252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67299"/>
            <a:ext cx="9144000" cy="11525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080CED-07D8-C9F1-59A2-4839D384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61451B-8909-6CE7-4F89-22F10E94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15655983-AFBC-8BA7-6110-F7A5B6181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6575" y="1"/>
            <a:ext cx="1495425" cy="795338"/>
          </a:xfrm>
        </p:spPr>
        <p:txBody>
          <a:bodyPr/>
          <a:lstStyle>
            <a:lvl1pPr>
              <a:defRPr/>
            </a:lvl1pPr>
          </a:lstStyle>
          <a:p>
            <a:fld id="{E840A230-9361-46B1-ADC9-D6E86DDB17B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35003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pos="186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12D68-86E2-A5E0-B1E1-99B9BF660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138EE1-AABF-BDE7-1448-2382A3081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438"/>
            <a:ext cx="10515600" cy="515143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37D407-2C7E-0672-3C21-D86ABC8B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6575" y="1"/>
            <a:ext cx="1495425" cy="795338"/>
          </a:xfrm>
        </p:spPr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98947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86B23-3DD1-48B3-109A-2ED551A8E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B20AC70-C243-7E98-6E1F-64B5D24F2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9C6B54-ED55-D673-6060-E9328858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990E5D-6612-F164-8C94-CE7E6A0EE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2F7194-2B2D-9032-D396-3DFF33C59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5122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CABE2-2E06-68BB-CC10-A8938572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337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BDD20F-A9F4-1C70-80C2-2D992413D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41438"/>
            <a:ext cx="5181600" cy="51482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BCEB52-63CF-C489-6E50-2CED723FF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41438"/>
            <a:ext cx="5181600" cy="514826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1F0B767-BA68-C69A-1BC1-0867F1C92A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5" y="0"/>
            <a:ext cx="1495425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73083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42975B-7D7C-3B63-5B49-45442800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95338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AD19D4-0AE9-625A-6596-63CB9FD89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41438"/>
            <a:ext cx="5157787" cy="6470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C2C410-BC89-B7B1-2851-F1F727AD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69432"/>
            <a:ext cx="5157787" cy="402023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94DA709-1699-42C0-7278-40B036BE2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341438"/>
            <a:ext cx="5183188" cy="6470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EBC964D-E34C-0CA9-A4C5-11369ACC8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69432"/>
            <a:ext cx="5183188" cy="402023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5C7CBB6-8FDE-A243-F559-D92DBFEB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09EC41-6D89-4D0F-4C3E-C3FDD41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5162CA-C78B-F2AB-CAAB-61F9EE23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9095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479463-3320-BE7C-4D4E-699D16F5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14E8AD-4DE9-7EF2-B446-493321B7E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3F7551-562C-28AB-4202-A78B35DC2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BF8731-7543-6FE1-039B-43AE9EB3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EB3A43-A089-FA7C-62CA-99F79856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B7DBE8-6884-EC65-D152-D123FB9D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2262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8ECA59-639A-39FC-FEED-AF281556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FA9C005-ED7C-25B1-840F-B1D4DE0B2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3640B46-C2B0-351C-56BD-275B7BE89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709412-CA1F-B82D-B9FC-2E52941B0B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31B903-2C48-AB75-1EEF-4E346E62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FFC39D-519A-A635-D595-D49195EA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125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42C1F2-EBD9-FF5E-464C-C7F699F3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9F80F5-AB63-0771-3030-2DC1B3F6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256937-5A34-440A-F498-E4C6E6B3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D94EF9-9F8C-FE2E-3E32-C6AE80B2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8464F9-4C59-D5B5-FCA1-DF1BA1CBE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6103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54572C9-4D05-A807-7F94-6CEF11A20F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F3A3DF-0669-C587-5255-B72C62055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5C8F58-97DC-4240-BFD1-8CBAE54B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75FE80-830F-6337-37AD-799070FE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85FC1F-8A4C-1AF2-E90E-4352BB3A3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6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954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4566" indent="-334566" algn="l" defTabSz="685800" rtl="0" eaLnBrk="1" latinLnBrk="0" hangingPunct="1">
        <a:lnSpc>
          <a:spcPct val="110000"/>
        </a:lnSpc>
        <a:spcBef>
          <a:spcPts val="1350"/>
        </a:spcBef>
        <a:buClr>
          <a:schemeClr val="accent4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673894" indent="-330994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939404" indent="-253604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79922" indent="-251222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613297" indent="-241697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E73016B-E760-D946-6C7E-E26AD0952F44}"/>
              </a:ext>
            </a:extLst>
          </p:cNvPr>
          <p:cNvSpPr/>
          <p:nvPr/>
        </p:nvSpPr>
        <p:spPr>
          <a:xfrm>
            <a:off x="0" y="0"/>
            <a:ext cx="12192000" cy="11604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7CA3AA-AE30-8396-10D0-71DEE002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69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FB39CDB-5A95-C8DF-1363-584A0521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437"/>
            <a:ext cx="10515600" cy="5151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2D82E-CBF5-1994-62CF-5A35BF16E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5" y="0"/>
            <a:ext cx="1495425" cy="7969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36CC8B87-28FD-40C1-8BEA-A488324BDA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06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5" r:id="rId6"/>
    <p:sldLayoutId id="2147483676" r:id="rId7"/>
    <p:sldLayoutId id="2147483677" r:id="rId8"/>
    <p:sldLayoutId id="214748367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游ゴシック Medium" panose="020B0500000000000000" pitchFamily="50" charset="-128"/>
        <a:buChar char="-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orient="horz" pos="845">
          <p15:clr>
            <a:srgbClr val="F26B43"/>
          </p15:clr>
        </p15:guide>
        <p15:guide id="3" orient="horz" pos="731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77B383-9004-7AE7-00A7-FB4930802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9397"/>
            <a:ext cx="9144000" cy="2440047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4</a:t>
            </a:r>
            <a:r>
              <a:rPr kumimoji="1" lang="ja-JP" altLang="en-US" dirty="0"/>
              <a:t>つの魚眼カメラにより</a:t>
            </a:r>
            <a:br>
              <a:rPr kumimoji="1" lang="en-US" altLang="ja-JP" dirty="0"/>
            </a:br>
            <a:r>
              <a:rPr kumimoji="1" lang="ja-JP" altLang="en-US" dirty="0"/>
              <a:t>生成した深さ画像による</a:t>
            </a:r>
            <a:r>
              <a:rPr kumimoji="1" lang="en-US" altLang="ja-JP" dirty="0"/>
              <a:t>SLAM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CB9C372-3185-6ED5-47D7-CB9ECA009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9346" y="4881224"/>
            <a:ext cx="3270350" cy="115252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kumimoji="1" lang="ja-JP" altLang="en-US" dirty="0"/>
              <a:t>システム制御工学研究室</a:t>
            </a:r>
            <a:endParaRPr kumimoji="1" lang="en-US" altLang="ja-JP" dirty="0"/>
          </a:p>
          <a:p>
            <a:pPr algn="l"/>
            <a:r>
              <a:rPr lang="ja-JP" altLang="en-US" dirty="0"/>
              <a:t>学生氏名 髙岸 司</a:t>
            </a:r>
            <a:endParaRPr lang="en-US" altLang="ja-JP" dirty="0"/>
          </a:p>
          <a:p>
            <a:pPr algn="l"/>
            <a:r>
              <a:rPr lang="ja-JP" altLang="en-US" dirty="0"/>
              <a:t>指導教員 本仲君子</a:t>
            </a:r>
          </a:p>
          <a:p>
            <a:pPr algn="l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54416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4E2EB617-EF81-E226-2D3D-3F6F3FDF8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背景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4319E73-C118-61D0-A311-6591E0FB7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ja-JP" dirty="0"/>
              <a:t>SLAM</a:t>
            </a:r>
            <a:r>
              <a:rPr lang="ja-JP" altLang="en-US" dirty="0"/>
              <a:t>（</a:t>
            </a:r>
            <a:r>
              <a:rPr lang="en-US" altLang="ja-JP" dirty="0"/>
              <a:t>Simultaneous Localization and Mapping</a:t>
            </a:r>
            <a:r>
              <a:rPr lang="ja-JP" altLang="en-US" dirty="0"/>
              <a:t>） </a:t>
            </a:r>
            <a:endParaRPr lang="en-US" altLang="ja-JP" dirty="0"/>
          </a:p>
          <a:p>
            <a:pPr lvl="1">
              <a:lnSpc>
                <a:spcPct val="150000"/>
              </a:lnSpc>
            </a:pPr>
            <a:r>
              <a:rPr lang="ja-JP" altLang="en-US" dirty="0"/>
              <a:t>自律移動ロボットや</a:t>
            </a:r>
            <a:r>
              <a:rPr lang="en-US" altLang="ja-JP" dirty="0"/>
              <a:t>AR/VR</a:t>
            </a:r>
            <a:r>
              <a:rPr lang="ja-JP" altLang="en-US" dirty="0"/>
              <a:t>などで重要な基盤技術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ja-JP" altLang="en-US" dirty="0"/>
              <a:t>従来の</a:t>
            </a:r>
            <a:r>
              <a:rPr lang="en-US" altLang="ja-JP" dirty="0"/>
              <a:t>SLAM</a:t>
            </a:r>
            <a:r>
              <a:rPr lang="ja-JP" altLang="en-US" dirty="0"/>
              <a:t>の手法</a:t>
            </a:r>
            <a:endParaRPr lang="en-US" altLang="ja-JP" dirty="0"/>
          </a:p>
          <a:p>
            <a:pPr lvl="1">
              <a:lnSpc>
                <a:spcPct val="150000"/>
              </a:lnSpc>
            </a:pPr>
            <a:r>
              <a:rPr lang="en-US" altLang="ja-JP" dirty="0"/>
              <a:t>LiDAR-SLAM</a:t>
            </a:r>
          </a:p>
          <a:p>
            <a:pPr lvl="2">
              <a:lnSpc>
                <a:spcPct val="150000"/>
              </a:lnSpc>
            </a:pPr>
            <a:r>
              <a:rPr lang="ja-JP" altLang="en-US" dirty="0"/>
              <a:t>〇高精度な距離計測が可能</a:t>
            </a:r>
            <a:endParaRPr lang="en-US" altLang="ja-JP" dirty="0"/>
          </a:p>
          <a:p>
            <a:pPr lvl="2">
              <a:lnSpc>
                <a:spcPct val="150000"/>
              </a:lnSpc>
            </a:pPr>
            <a:r>
              <a:rPr lang="en-US" altLang="ja-JP" dirty="0"/>
              <a:t>×</a:t>
            </a:r>
            <a:r>
              <a:rPr lang="ja-JP" altLang="en-US" dirty="0"/>
              <a:t>装置が高価・重量・消費電力が大きい</a:t>
            </a:r>
            <a:endParaRPr lang="en-US" altLang="ja-JP" dirty="0"/>
          </a:p>
          <a:p>
            <a:pPr lvl="1">
              <a:lnSpc>
                <a:spcPct val="150000"/>
              </a:lnSpc>
            </a:pPr>
            <a:r>
              <a:rPr lang="ja-JP" altLang="en-US" dirty="0"/>
              <a:t>単眼</a:t>
            </a:r>
            <a:r>
              <a:rPr lang="en-US" altLang="ja-JP" dirty="0"/>
              <a:t>/</a:t>
            </a:r>
            <a:r>
              <a:rPr lang="ja-JP" altLang="en-US" dirty="0"/>
              <a:t>ステレオカメラ</a:t>
            </a:r>
            <a:r>
              <a:rPr lang="en-US" altLang="ja-JP" dirty="0"/>
              <a:t>SLAM</a:t>
            </a:r>
          </a:p>
          <a:p>
            <a:pPr lvl="2">
              <a:lnSpc>
                <a:spcPct val="150000"/>
              </a:lnSpc>
            </a:pPr>
            <a:r>
              <a:rPr lang="ja-JP" altLang="en-US" dirty="0"/>
              <a:t>〇安価で軽量、設置自由度が高い</a:t>
            </a:r>
            <a:endParaRPr lang="en-US" altLang="ja-JP" dirty="0"/>
          </a:p>
          <a:p>
            <a:pPr lvl="2">
              <a:lnSpc>
                <a:spcPct val="150000"/>
              </a:lnSpc>
            </a:pPr>
            <a:r>
              <a:rPr lang="en-US" altLang="ja-JP" dirty="0"/>
              <a:t>×</a:t>
            </a:r>
            <a:r>
              <a:rPr lang="ja-JP" altLang="en-US" dirty="0"/>
              <a:t>視野が狭く</a:t>
            </a:r>
            <a:r>
              <a:rPr lang="en-US" altLang="ja-JP" dirty="0"/>
              <a:t>, </a:t>
            </a:r>
            <a:r>
              <a:rPr lang="ja-JP" altLang="en-US" dirty="0"/>
              <a:t>特徴点が少ない環境で精度が低下</a:t>
            </a:r>
            <a:endParaRPr lang="en-US" altLang="ja-JP" dirty="0"/>
          </a:p>
          <a:p>
            <a:pPr>
              <a:lnSpc>
                <a:spcPct val="150000"/>
              </a:lnSpc>
            </a:pPr>
            <a:endParaRPr lang="en-US" altLang="ja-JP" dirty="0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9DFA434C-B696-E0CD-9474-6FE070E7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26777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51B1DE-3922-2DFC-11D5-3050C25C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CA4B9C-CCC3-CF63-14A5-CC3D66CE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ja-JP" altLang="en-US" dirty="0"/>
              <a:t>視野の広いカメラを用いた</a:t>
            </a:r>
            <a:r>
              <a:rPr lang="en-US" altLang="ja-JP" dirty="0"/>
              <a:t>SLAM</a:t>
            </a:r>
            <a:r>
              <a:rPr lang="ja-JP" altLang="en-US" dirty="0"/>
              <a:t>を行う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en-US" altLang="ja-JP" dirty="0"/>
              <a:t>4</a:t>
            </a:r>
            <a:r>
              <a:rPr lang="ja-JP" altLang="en-US" dirty="0"/>
              <a:t>つの魚眼カメラから</a:t>
            </a:r>
            <a:r>
              <a:rPr lang="en-US" altLang="ja-JP" dirty="0"/>
              <a:t>360°</a:t>
            </a:r>
            <a:r>
              <a:rPr lang="ja-JP" altLang="en-US" dirty="0"/>
              <a:t>深さ画像を生成</a:t>
            </a:r>
            <a:endParaRPr lang="en-US" altLang="ja-JP" dirty="0"/>
          </a:p>
          <a:p>
            <a:pPr lvl="1">
              <a:lnSpc>
                <a:spcPct val="150000"/>
              </a:lnSpc>
            </a:pPr>
            <a:r>
              <a:rPr lang="ja-JP" altLang="en-US" dirty="0"/>
              <a:t>先行研究「</a:t>
            </a:r>
            <a:r>
              <a:rPr lang="en-US" altLang="ja-JP" dirty="0"/>
              <a:t>Real-Time Sphere Sweeping Stereo from Multiview Fisheye Images</a:t>
            </a:r>
            <a:r>
              <a:rPr lang="ja-JP" altLang="en-US" dirty="0"/>
              <a:t>」</a:t>
            </a:r>
            <a:endParaRPr lang="en-US" altLang="ja-JP" dirty="0"/>
          </a:p>
          <a:p>
            <a:pPr>
              <a:lnSpc>
                <a:spcPct val="150000"/>
              </a:lnSpc>
            </a:pPr>
            <a:r>
              <a:rPr lang="en-US" altLang="ja-JP" dirty="0"/>
              <a:t>SLAM</a:t>
            </a:r>
          </a:p>
          <a:p>
            <a:pPr lvl="1">
              <a:lnSpc>
                <a:spcPct val="150000"/>
              </a:lnSpc>
            </a:pPr>
            <a:r>
              <a:rPr lang="en-US" altLang="ja-JP" dirty="0"/>
              <a:t>RTAB-MAP</a:t>
            </a:r>
          </a:p>
          <a:p>
            <a:pPr lvl="2">
              <a:lnSpc>
                <a:spcPct val="150000"/>
              </a:lnSpc>
            </a:pPr>
            <a:r>
              <a:rPr lang="ja-JP" altLang="en-US" dirty="0"/>
              <a:t>複数のカメラ入力の統合機能が充実</a:t>
            </a:r>
            <a:endParaRPr lang="en-US" altLang="ja-JP" dirty="0"/>
          </a:p>
          <a:p>
            <a:pPr lvl="2">
              <a:lnSpc>
                <a:spcPct val="150000"/>
              </a:lnSpc>
            </a:pPr>
            <a:r>
              <a:rPr lang="ja-JP" altLang="en-US" dirty="0"/>
              <a:t>実装が容易らしい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FEDA2A-DE87-324A-0F57-9FAEECBE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9478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5B0217-AEAB-2091-AC1D-8AD8B64B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研究内容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12CE58-DC6D-E37F-433E-2A344E12D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828B81A-0DE4-FB4F-17BD-84F5FDF3B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29674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933887-274F-8D64-063F-0033E527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ルートマップ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253B5F-1A0F-0234-E060-D07EB779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8B87-28FD-40C1-8BEA-A488324BDA2F}" type="slidenum">
              <a:rPr kumimoji="1" lang="ja-JP" altLang="en-US" smtClean="0"/>
              <a:t>5</a:t>
            </a:fld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CA26CEF-D5C6-66EA-3716-BA91BC15ACC2}"/>
              </a:ext>
            </a:extLst>
          </p:cNvPr>
          <p:cNvSpPr/>
          <p:nvPr/>
        </p:nvSpPr>
        <p:spPr>
          <a:xfrm>
            <a:off x="573206" y="1905000"/>
            <a:ext cx="2047163" cy="11941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カメラ環境構築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98675C-705A-C9E1-CB75-C1F169F70CBF}"/>
              </a:ext>
            </a:extLst>
          </p:cNvPr>
          <p:cNvSpPr/>
          <p:nvPr/>
        </p:nvSpPr>
        <p:spPr>
          <a:xfrm>
            <a:off x="573206" y="4293360"/>
            <a:ext cx="2047163" cy="11941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先行研究の</a:t>
            </a:r>
            <a:br>
              <a:rPr kumimoji="1" lang="en-US" altLang="ja-JP" dirty="0"/>
            </a:br>
            <a:r>
              <a:rPr kumimoji="1" lang="ja-JP" altLang="en-US" dirty="0"/>
              <a:t>環境構築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8A1905AE-8B96-ABB1-0D97-4046E23C6AC8}"/>
              </a:ext>
            </a:extLst>
          </p:cNvPr>
          <p:cNvSpPr/>
          <p:nvPr/>
        </p:nvSpPr>
        <p:spPr>
          <a:xfrm>
            <a:off x="5024650" y="1905000"/>
            <a:ext cx="2047163" cy="11941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リアルタイム</a:t>
            </a:r>
            <a:br>
              <a:rPr kumimoji="1" lang="en-US" altLang="ja-JP" dirty="0"/>
            </a:br>
            <a:r>
              <a:rPr kumimoji="1" lang="ja-JP" altLang="en-US" dirty="0"/>
              <a:t>深さ画像生成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4B0219B-C041-DDFD-7A81-3A96EAA93F4B}"/>
              </a:ext>
            </a:extLst>
          </p:cNvPr>
          <p:cNvSpPr/>
          <p:nvPr/>
        </p:nvSpPr>
        <p:spPr>
          <a:xfrm>
            <a:off x="5024649" y="4293360"/>
            <a:ext cx="2047163" cy="11941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SLAM</a:t>
            </a:r>
            <a:r>
              <a:rPr kumimoji="1" lang="ja-JP" altLang="en-US" dirty="0"/>
              <a:t>環境構築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444A957-2F55-92C6-66EF-D2E5A363B297}"/>
              </a:ext>
            </a:extLst>
          </p:cNvPr>
          <p:cNvSpPr/>
          <p:nvPr/>
        </p:nvSpPr>
        <p:spPr>
          <a:xfrm>
            <a:off x="9571631" y="3099180"/>
            <a:ext cx="2047163" cy="11941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SLAM</a:t>
            </a:r>
            <a:endParaRPr kumimoji="1" lang="ja-JP" altLang="en-US" dirty="0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9EEFF297-0104-231C-FC07-176518E4A05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620369" y="2502090"/>
            <a:ext cx="2404281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9399B3B-5CF0-A4CB-29EC-EF17E9F3FD1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620369" y="2502090"/>
            <a:ext cx="2404281" cy="2388360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矢印コネクタ 12">
            <a:extLst>
              <a:ext uri="{FF2B5EF4-FFF2-40B4-BE49-F238E27FC236}">
                <a16:creationId xmlns:a16="http://schemas.microsoft.com/office/drawing/2014/main" id="{7EEABE5A-1B98-AC5F-46EA-DBDAD59F9DD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7071813" y="2502090"/>
            <a:ext cx="2499818" cy="1194180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直線矢印コネクタ 12">
            <a:extLst>
              <a:ext uri="{FF2B5EF4-FFF2-40B4-BE49-F238E27FC236}">
                <a16:creationId xmlns:a16="http://schemas.microsoft.com/office/drawing/2014/main" id="{15592DB7-4AD7-6C61-2A8B-1CB1EF20F1B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7071812" y="3696270"/>
            <a:ext cx="2499819" cy="1194180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531408"/>
      </p:ext>
    </p:extLst>
  </p:cSld>
  <p:clrMapOvr>
    <a:masterClrMapping/>
  </p:clrMapOvr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研究発表用テンプレート2022版.potx" id="{6306135A-614C-4776-A803-91994B10B76C}" vid="{3B8C9F31-E626-4709-A765-E9EDF381CB24}"/>
    </a:ext>
  </a:extLst>
</a:theme>
</file>

<file path=ppt/theme/theme2.xml><?xml version="1.0" encoding="utf-8"?>
<a:theme xmlns:a="http://schemas.openxmlformats.org/drawingml/2006/main" name="introduct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1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ResearchPresentation</Template>
  <TotalTime>5881</TotalTime>
  <Words>172</Words>
  <Application>Microsoft Office PowerPoint</Application>
  <PresentationFormat>ワイド画面</PresentationFormat>
  <Paragraphs>33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游ゴシック</vt:lpstr>
      <vt:lpstr>游ゴシック Medium</vt:lpstr>
      <vt:lpstr>Arial</vt:lpstr>
      <vt:lpstr>Segoe UI</vt:lpstr>
      <vt:lpstr>Wingdings</vt:lpstr>
      <vt:lpstr>研究発表スライドマスタ</vt:lpstr>
      <vt:lpstr>introduction</vt:lpstr>
      <vt:lpstr>4つの魚眼カメラにより 生成した深さ画像によるSLAM</vt:lpstr>
      <vt:lpstr>背景</vt:lpstr>
      <vt:lpstr>目的</vt:lpstr>
      <vt:lpstr>研究内容</vt:lpstr>
      <vt:lpstr>ルートマップ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TAKAGISHI Tsukasa</dc:creator>
  <cp:lastModifiedBy>TAKAGISHI Tsukasa</cp:lastModifiedBy>
  <cp:revision>6</cp:revision>
  <dcterms:created xsi:type="dcterms:W3CDTF">2025-10-10T06:31:09Z</dcterms:created>
  <dcterms:modified xsi:type="dcterms:W3CDTF">2025-10-15T12:40:11Z</dcterms:modified>
</cp:coreProperties>
</file>