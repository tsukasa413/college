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5" r:id="rId9"/>
    <p:sldId id="266" r:id="rId10"/>
    <p:sldId id="262" r:id="rId11"/>
    <p:sldId id="263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49" d="100"/>
          <a:sy n="49" d="100"/>
        </p:scale>
        <p:origin x="459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27577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8800" y="1015999"/>
            <a:ext cx="11099800" cy="938159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2013155"/>
            <a:ext cx="11099800" cy="4572000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1493500" y="315648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681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971555"/>
            <a:ext cx="11099800" cy="5613600"/>
          </a:xfrm>
        </p:spPr>
        <p:txBody>
          <a:bodyPr/>
          <a:lstStyle>
            <a:lvl1pPr marL="514350" indent="-514350">
              <a:buFont typeface="+mj-lt"/>
              <a:buAutoNum type="arabicPeriod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大きなパラグラフ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スライドトピック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1493500" y="315648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79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711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C0F-9E2A-4627-84FB-670F99EBE764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4297D-F0BB-4D5B-8879-912DABD502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455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1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898525" indent="-441325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57CC3E3-35CF-5273-7EB9-71D52693D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0163"/>
            <a:ext cx="9144000" cy="2387600"/>
          </a:xfrm>
        </p:spPr>
        <p:txBody>
          <a:bodyPr/>
          <a:lstStyle/>
          <a:p>
            <a:r>
              <a:rPr lang="ja-JP" altLang="en-US" dirty="0"/>
              <a:t>先週の進捗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EAB18E3-FF29-090D-64A2-7B57829C8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10163"/>
            <a:ext cx="9144000" cy="561975"/>
          </a:xfrm>
        </p:spPr>
        <p:txBody>
          <a:bodyPr/>
          <a:lstStyle/>
          <a:p>
            <a:r>
              <a:rPr lang="ja-JP" altLang="en-US" dirty="0"/>
              <a:t>髙岸 司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4430BE5-F2AE-935E-D052-FAB0D13A8D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24000" y="5740400"/>
            <a:ext cx="9144000" cy="469900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dirty="0"/>
              <a:t>電</a:t>
            </a:r>
            <a:r>
              <a:rPr lang="en-US" altLang="ja-JP" dirty="0"/>
              <a:t>22-94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8823CA55-3460-DE9F-7AA4-AF6FB95618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20098" y="152399"/>
            <a:ext cx="3594101" cy="378541"/>
          </a:xfrm>
        </p:spPr>
        <p:txBody>
          <a:bodyPr/>
          <a:lstStyle/>
          <a:p>
            <a:r>
              <a:rPr lang="en-US" dirty="0"/>
              <a:t>2025/6/12(</a:t>
            </a:r>
            <a:r>
              <a:rPr lang="ja-JP" altLang="en-US" dirty="0"/>
              <a:t>木</a:t>
            </a:r>
            <a:r>
              <a:rPr lang="en-US" dirty="0"/>
              <a:t>)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57C6405A-1962-510A-FE8F-B2574E199AD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3999" y="647700"/>
            <a:ext cx="9144000" cy="1841500"/>
          </a:xfrm>
        </p:spPr>
        <p:txBody>
          <a:bodyPr/>
          <a:lstStyle/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718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33F0C1C7-6179-611C-9A68-85881A8D1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目標</a:t>
            </a:r>
            <a:endParaRPr lang="en-US" altLang="ja-JP" dirty="0"/>
          </a:p>
          <a:p>
            <a:pPr lvl="1"/>
            <a:r>
              <a:rPr lang="ja-JP" altLang="en-US" dirty="0"/>
              <a:t>目標</a:t>
            </a:r>
            <a:endParaRPr lang="en-US" altLang="ja-JP" dirty="0"/>
          </a:p>
          <a:p>
            <a:r>
              <a:rPr lang="ja-JP" altLang="en-US" dirty="0"/>
              <a:t>おさらい</a:t>
            </a:r>
            <a:endParaRPr lang="en-US" altLang="ja-JP" dirty="0"/>
          </a:p>
          <a:p>
            <a:pPr lvl="1"/>
            <a:r>
              <a:rPr lang="ja-JP" altLang="en-US" dirty="0"/>
              <a:t>前回何をしたか</a:t>
            </a:r>
            <a:endParaRPr lang="en-US" altLang="ja-JP" dirty="0"/>
          </a:p>
          <a:p>
            <a:pPr lvl="1"/>
            <a:r>
              <a:rPr lang="ja-JP" altLang="en-US" dirty="0"/>
              <a:t>どうやって深さを取るのか</a:t>
            </a:r>
            <a:endParaRPr lang="en-US" altLang="ja-JP" dirty="0"/>
          </a:p>
          <a:p>
            <a:pPr lvl="1"/>
            <a:r>
              <a:rPr lang="ja-JP" altLang="en-US" dirty="0"/>
              <a:t>どうやって</a:t>
            </a:r>
            <a:r>
              <a:rPr lang="en-US" altLang="ja-JP" dirty="0"/>
              <a:t>4</a:t>
            </a:r>
            <a:r>
              <a:rPr lang="ja-JP" altLang="en-US" dirty="0"/>
              <a:t>つのカメラ画像をつなぎ合わせるのか</a:t>
            </a:r>
            <a:endParaRPr lang="en-US" altLang="ja-JP" dirty="0"/>
          </a:p>
          <a:p>
            <a:pPr lvl="1"/>
            <a:r>
              <a:rPr lang="ja-JP" altLang="en-US" dirty="0"/>
              <a:t>計算量について</a:t>
            </a:r>
            <a:r>
              <a:rPr lang="en-US" altLang="ja-JP" dirty="0"/>
              <a:t>(</a:t>
            </a:r>
            <a:r>
              <a:rPr lang="ja-JP" altLang="en-US" dirty="0"/>
              <a:t>本仲先生の指摘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進捗</a:t>
            </a:r>
            <a:endParaRPr lang="en-US" altLang="ja-JP" dirty="0"/>
          </a:p>
          <a:p>
            <a:pPr lvl="1"/>
            <a:r>
              <a:rPr lang="ja-JP" altLang="en-US" dirty="0"/>
              <a:t>画像の平滑化について</a:t>
            </a:r>
            <a:endParaRPr lang="en-US" altLang="ja-JP" dirty="0"/>
          </a:p>
          <a:p>
            <a:pPr lvl="1"/>
            <a:r>
              <a:rPr lang="en-US" altLang="ja-JP" dirty="0" err="1"/>
              <a:t>JetsonAGXOrin</a:t>
            </a:r>
            <a:r>
              <a:rPr lang="ja-JP" altLang="en-US" dirty="0"/>
              <a:t>の環境構築</a:t>
            </a:r>
            <a:endParaRPr lang="en-US" altLang="ja-JP" dirty="0"/>
          </a:p>
          <a:p>
            <a:r>
              <a:rPr lang="ja-JP" altLang="en-US" dirty="0"/>
              <a:t>今後</a:t>
            </a:r>
            <a:endParaRPr lang="en-US" altLang="ja-JP" dirty="0"/>
          </a:p>
          <a:p>
            <a:pPr lvl="1"/>
            <a:r>
              <a:rPr lang="ja-JP" altLang="en-US" dirty="0"/>
              <a:t>今後のタスク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70C4CC74-B58D-08D7-5E87-089CD7E627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237007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A2216B56-4610-8F05-E4AE-B21AD3C7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015999"/>
            <a:ext cx="11099800" cy="938159"/>
          </a:xfrm>
        </p:spPr>
        <p:txBody>
          <a:bodyPr anchor="ctr">
            <a:normAutofit/>
          </a:bodyPr>
          <a:lstStyle/>
          <a:p>
            <a:r>
              <a:rPr lang="en-US" altLang="ja-JP" dirty="0"/>
              <a:t>360</a:t>
            </a:r>
            <a:r>
              <a:rPr lang="ja-JP" altLang="en-US" dirty="0"/>
              <a:t>度深さパノラマ画像を用いた</a:t>
            </a:r>
            <a:r>
              <a:rPr lang="en-US" altLang="ja-JP" dirty="0"/>
              <a:t>3DSLAM</a:t>
            </a:r>
            <a:endParaRPr lang="ja-JP" altLang="en-US" dirty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41EE9EB5-2F57-4F36-6CAC-994F4813EE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88" y="2152031"/>
            <a:ext cx="6733977" cy="3940810"/>
          </a:xfrm>
          <a:noFill/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6DE97D-1CD2-C176-00CF-75531ADF23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0574" y="348226"/>
            <a:ext cx="11455400" cy="4699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ja-JP" altLang="en-US" sz="2400"/>
              <a:t>目標</a:t>
            </a:r>
          </a:p>
        </p:txBody>
      </p:sp>
      <p:pic>
        <p:nvPicPr>
          <p:cNvPr id="9" name="図 8" descr="コンパクトディスク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631565C-45DC-03BF-872F-0E284D006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176" y="2084797"/>
            <a:ext cx="920750" cy="920750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alpha val="60000"/>
              </a:schemeClr>
            </a:glow>
          </a:effec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ACC659F-37C2-C7C8-CE0B-A4BC7BDB5372}"/>
              </a:ext>
            </a:extLst>
          </p:cNvPr>
          <p:cNvSpPr txBox="1"/>
          <p:nvPr/>
        </p:nvSpPr>
        <p:spPr>
          <a:xfrm>
            <a:off x="7532557" y="2152031"/>
            <a:ext cx="3618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/>
              <a:t>360</a:t>
            </a:r>
            <a:r>
              <a:rPr kumimoji="1" lang="ja-JP" altLang="en-US" dirty="0"/>
              <a:t>度深さパノラマ画像を作成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/>
              <a:t>SLAM</a:t>
            </a:r>
            <a:r>
              <a:rPr lang="ja-JP" altLang="en-US" dirty="0"/>
              <a:t>に入れる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8239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0.12109 0.48519 " pathEditMode="relative" rAng="0" ptsTypes="AA">
                                      <p:cBhvr>
                                        <p:cTn id="9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55" y="242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0D6030A-7B99-11CA-1F15-FB0E04594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先行研究の論文の内容の紹介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E6CD1490-6319-1114-4412-B8563EFBC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RGB</a:t>
            </a:r>
            <a:r>
              <a:rPr lang="ja-JP" altLang="en-US" dirty="0"/>
              <a:t>魚眼カメラ</a:t>
            </a:r>
            <a:r>
              <a:rPr lang="en-US" altLang="ja-JP" dirty="0"/>
              <a:t>4</a:t>
            </a:r>
            <a:r>
              <a:rPr lang="ja-JP" altLang="en-US" dirty="0"/>
              <a:t>つを使って</a:t>
            </a:r>
            <a:r>
              <a:rPr lang="en-US" altLang="ja-JP" dirty="0"/>
              <a:t>360</a:t>
            </a:r>
            <a:r>
              <a:rPr lang="ja-JP" altLang="en-US" dirty="0"/>
              <a:t>度深さパノラマ画像を作るにはどうすればよいか</a:t>
            </a:r>
            <a:endParaRPr lang="en-US" altLang="ja-JP" dirty="0"/>
          </a:p>
          <a:p>
            <a:pPr lvl="1"/>
            <a:r>
              <a:rPr lang="ja-JP" altLang="en-US" dirty="0"/>
              <a:t>普通のピンホールカメラと何が違うのか</a:t>
            </a:r>
            <a:endParaRPr lang="en-US" altLang="ja-JP" dirty="0"/>
          </a:p>
          <a:p>
            <a:pPr lvl="1"/>
            <a:r>
              <a:rPr lang="ja-JP" altLang="en-US" dirty="0"/>
              <a:t>どうやって深さを取るのか</a:t>
            </a:r>
            <a:endParaRPr lang="en-US" altLang="ja-JP" dirty="0"/>
          </a:p>
          <a:p>
            <a:pPr lvl="1"/>
            <a:r>
              <a:rPr lang="ja-JP" altLang="en-US" dirty="0"/>
              <a:t>どうやって</a:t>
            </a:r>
            <a:r>
              <a:rPr lang="en-US" altLang="ja-JP" dirty="0"/>
              <a:t>4</a:t>
            </a:r>
            <a:r>
              <a:rPr lang="ja-JP" altLang="en-US" dirty="0"/>
              <a:t>つのカメラ画像をつなぎ合わせるのか</a:t>
            </a:r>
            <a:endParaRPr lang="en-US" altLang="ja-JP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AFF5181-5D4A-63DD-6CCB-4162E8C357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前回何をしたか</a:t>
            </a:r>
          </a:p>
        </p:txBody>
      </p:sp>
    </p:spTree>
    <p:extLst>
      <p:ext uri="{BB962C8B-B14F-4D97-AF65-F5344CB8AC3E}">
        <p14:creationId xmlns:p14="http://schemas.microsoft.com/office/powerpoint/2010/main" val="222278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44B7E8-3371-FE8F-9011-56FD9DB9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歪みが酷すぎる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936D17-744E-DAFF-58B5-C436FBCFE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ピンホールモデルなら</a:t>
            </a:r>
            <a:br>
              <a:rPr lang="en-US" altLang="ja-JP" dirty="0"/>
            </a:br>
            <a:r>
              <a:rPr lang="ja-JP" altLang="en-US" dirty="0"/>
              <a:t>直線だったエピポーラ線</a:t>
            </a:r>
            <a:br>
              <a:rPr lang="en-US" altLang="ja-JP" dirty="0"/>
            </a:br>
            <a:r>
              <a:rPr lang="ja-JP" altLang="en-US" dirty="0"/>
              <a:t>が魚眼レンズは湾曲</a:t>
            </a:r>
            <a:endParaRPr lang="en-US" altLang="ja-JP" dirty="0"/>
          </a:p>
          <a:p>
            <a:r>
              <a:rPr kumimoji="1" lang="ja-JP" altLang="en-US" dirty="0"/>
              <a:t>これを補正する手法、</a:t>
            </a:r>
            <a:br>
              <a:rPr kumimoji="1" lang="en-US" altLang="ja-JP" dirty="0"/>
            </a:br>
            <a:r>
              <a:rPr kumimoji="1" lang="ja-JP" altLang="en-US" dirty="0"/>
              <a:t>これを考慮して計算する手法</a:t>
            </a:r>
            <a:br>
              <a:rPr kumimoji="1" lang="en-US" altLang="ja-JP" dirty="0"/>
            </a:br>
            <a:r>
              <a:rPr kumimoji="1" lang="ja-JP" altLang="en-US" dirty="0"/>
              <a:t>どちらも非常に重く</a:t>
            </a:r>
            <a:br>
              <a:rPr kumimoji="1" lang="en-US" altLang="ja-JP" dirty="0"/>
            </a:br>
            <a:r>
              <a:rPr kumimoji="1" lang="ja-JP" altLang="en-US" dirty="0"/>
              <a:t>リアルタイム性に乏しかった</a:t>
            </a: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3E068A-7525-3822-C6D2-797B3BE5CD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普通のピンホールカメラと何が違うのか</a:t>
            </a:r>
            <a:endParaRPr kumimoji="1" lang="ja-JP" altLang="en-US" dirty="0"/>
          </a:p>
        </p:txBody>
      </p:sp>
      <p:pic>
        <p:nvPicPr>
          <p:cNvPr id="10" name="図 9" descr="クマのぬいぐるみの写真のコラージュ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4A769E05-CA91-F492-965D-56EB55564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38" y="2029539"/>
            <a:ext cx="4881017" cy="4555616"/>
          </a:xfrm>
          <a:prstGeom prst="rect">
            <a:avLst/>
          </a:prstGeom>
        </p:spPr>
      </p:pic>
      <p:sp>
        <p:nvSpPr>
          <p:cNvPr id="11" name="フリーフォーム: 図形 10">
            <a:extLst>
              <a:ext uri="{FF2B5EF4-FFF2-40B4-BE49-F238E27FC236}">
                <a16:creationId xmlns:a16="http://schemas.microsoft.com/office/drawing/2014/main" id="{02A83287-97ED-D1EC-84A0-549A69A51217}"/>
              </a:ext>
            </a:extLst>
          </p:cNvPr>
          <p:cNvSpPr/>
          <p:nvPr/>
        </p:nvSpPr>
        <p:spPr>
          <a:xfrm rot="1468757">
            <a:off x="5064286" y="2061487"/>
            <a:ext cx="2639311" cy="1041425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0571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6DAF10-017F-A7EC-E6EE-889B6E34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深さの候補の中から最も確からしい深さを選ぶ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CB4F1EB-38CE-3308-C859-7468EF9817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800" y="2013155"/>
                <a:ext cx="5819515" cy="4572000"/>
              </a:xfrm>
            </p:spPr>
            <p:txBody>
              <a:bodyPr/>
              <a:lstStyle/>
              <a:p>
                <a:r>
                  <a:rPr lang="ja-JP" altLang="en-US" dirty="0"/>
                  <a:t>深さを仮定して他のカメラから見た景色を予測する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ja-JP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ja-JP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r>
                  <a:rPr lang="ja-JP" altLang="en-US" dirty="0"/>
                  <a:t>予想した景色と実際の景色の</a:t>
                </a:r>
                <a:br>
                  <a:rPr lang="en-US" altLang="ja-JP" dirty="0"/>
                </a:br>
                <a:r>
                  <a:rPr lang="ja-JP" altLang="en-US" dirty="0"/>
                  <a:t>類似度を表す評価関数</a:t>
                </a:r>
                <a:br>
                  <a:rPr lang="en-US" altLang="ja-JP" dirty="0"/>
                </a:br>
                <a:r>
                  <a:rPr lang="en-US" altLang="ja-JP" dirty="0"/>
                  <a:t>(</a:t>
                </a:r>
                <a:r>
                  <a:rPr lang="ja-JP" altLang="en-US" dirty="0"/>
                  <a:t>マッチングコスト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を</a:t>
                </a:r>
                <a:br>
                  <a:rPr lang="en-US" altLang="ja-JP" dirty="0"/>
                </a:br>
                <a:r>
                  <a:rPr lang="ja-JP" altLang="en-US" dirty="0"/>
                  <a:t>用いて最適な深さを割り出す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CB4F1EB-38CE-3308-C859-7468EF9817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800" y="2013155"/>
                <a:ext cx="5819515" cy="4572000"/>
              </a:xfrm>
              <a:blipFill>
                <a:blip r:embed="rId2"/>
                <a:stretch>
                  <a:fillRect l="-1887" t="-8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F39B505-DB64-CEE3-B35D-EC22304E98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ja-JP" altLang="en-US" dirty="0"/>
              <a:t>どうやって深さを取るのか</a:t>
            </a:r>
          </a:p>
        </p:txBody>
      </p:sp>
      <p:pic>
        <p:nvPicPr>
          <p:cNvPr id="6" name="図 5" descr="グラフ, レーダー チャー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574C8E2-6D29-D6E0-7B99-3E1719B45E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066" y="2013155"/>
            <a:ext cx="5393534" cy="318746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8871CE-AE4A-7A7E-6895-F136E19C8E92}"/>
              </a:ext>
            </a:extLst>
          </p:cNvPr>
          <p:cNvSpPr txBox="1"/>
          <p:nvPr/>
        </p:nvSpPr>
        <p:spPr>
          <a:xfrm>
            <a:off x="8461948" y="60485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1802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E3BD99-B49C-A37D-4397-8A54F7E3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仮想の点から見たパノラマ画像を再生成する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030F66-9FBD-0D06-AC16-924517CC3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パノラマ画像に無理やりつなぎ合わせるのは</a:t>
            </a:r>
            <a:br>
              <a:rPr lang="en-US" altLang="ja-JP" dirty="0"/>
            </a:br>
            <a:r>
              <a:rPr lang="ja-JP" altLang="en-US" dirty="0"/>
              <a:t>不自然な縫い合わせになったりして難しい</a:t>
            </a:r>
            <a:endParaRPr lang="en-US" altLang="ja-JP" dirty="0"/>
          </a:p>
          <a:p>
            <a:r>
              <a:rPr lang="ja-JP" altLang="en-US" dirty="0"/>
              <a:t>前述で</a:t>
            </a:r>
            <a:r>
              <a:rPr lang="en-US" altLang="ja-JP" dirty="0"/>
              <a:t>3</a:t>
            </a:r>
            <a:r>
              <a:rPr lang="ja-JP" altLang="en-US" dirty="0"/>
              <a:t>次元座標空間に色つきの点の情報が無数にある</a:t>
            </a:r>
            <a:endParaRPr lang="en-US" altLang="ja-JP" dirty="0"/>
          </a:p>
          <a:p>
            <a:r>
              <a:rPr kumimoji="1" lang="ja-JP" altLang="en-US" dirty="0"/>
              <a:t>仮想の点</a:t>
            </a:r>
            <a:r>
              <a:rPr kumimoji="1" lang="en-US" altLang="ja-JP" dirty="0"/>
              <a:t>(4</a:t>
            </a:r>
            <a:r>
              <a:rPr kumimoji="1" lang="ja-JP" altLang="en-US" dirty="0"/>
              <a:t>つのカメラの真ん中らへんとか</a:t>
            </a:r>
            <a:r>
              <a:rPr kumimoji="1" lang="en-US" altLang="ja-JP" dirty="0"/>
              <a:t>)</a:t>
            </a:r>
            <a:r>
              <a:rPr kumimoji="1" lang="ja-JP" altLang="en-US" dirty="0"/>
              <a:t>から</a:t>
            </a:r>
            <a:br>
              <a:rPr lang="en-US" altLang="ja-JP" dirty="0"/>
            </a:br>
            <a:r>
              <a:rPr lang="ja-JP" altLang="en-US" dirty="0"/>
              <a:t>見た画像を解析することで</a:t>
            </a:r>
            <a:r>
              <a:rPr lang="en-US" altLang="ja-JP" dirty="0"/>
              <a:t>4</a:t>
            </a:r>
            <a:r>
              <a:rPr lang="ja-JP" altLang="en-US" dirty="0"/>
              <a:t>つのカメラからの情報を</a:t>
            </a:r>
            <a:br>
              <a:rPr lang="en-US" altLang="ja-JP" dirty="0"/>
            </a:br>
            <a:r>
              <a:rPr lang="ja-JP" altLang="en-US" dirty="0"/>
              <a:t>統合する</a:t>
            </a: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DEB785-ECB8-8FC9-A76B-917D145962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どうやって</a:t>
            </a:r>
            <a:r>
              <a:rPr lang="en-US" altLang="ja-JP" dirty="0"/>
              <a:t>4</a:t>
            </a:r>
            <a:r>
              <a:rPr lang="ja-JP" altLang="en-US" dirty="0"/>
              <a:t>つのカメラ画像をつなぎ合わせるのか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8905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ADE502-6CC7-DD3E-F4D6-D3B44072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疎な画像を密な画像に平滑化する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A0A34B-885E-ADE7-47CE-DC5FCB255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謝罪</a:t>
            </a:r>
            <a:endParaRPr kumimoji="1" lang="en-US" altLang="ja-JP" dirty="0"/>
          </a:p>
          <a:p>
            <a:pPr lvl="1"/>
            <a:r>
              <a:rPr lang="ja-JP" altLang="en-US" dirty="0"/>
              <a:t>実験に用いられたセンサ</a:t>
            </a:r>
            <a:r>
              <a:rPr lang="en-US" altLang="ja-JP" dirty="0"/>
              <a:t>imx477</a:t>
            </a:r>
            <a:r>
              <a:rPr lang="ja-JP" altLang="en-US" dirty="0"/>
              <a:t>は</a:t>
            </a:r>
            <a:r>
              <a:rPr lang="en-US" altLang="ja-JP" dirty="0"/>
              <a:t>12.3MP</a:t>
            </a:r>
            <a:br>
              <a:rPr lang="en-US" altLang="ja-JP" dirty="0"/>
            </a:br>
            <a:r>
              <a:rPr lang="en-US" altLang="ja-JP" dirty="0"/>
              <a:t>	</a:t>
            </a:r>
            <a:r>
              <a:rPr lang="ja-JP" altLang="en-US" dirty="0"/>
              <a:t>➞近い方が良いよな</a:t>
            </a:r>
            <a:r>
              <a:rPr lang="en-US" altLang="ja-JP" dirty="0"/>
              <a:t>(8MP</a:t>
            </a:r>
            <a:r>
              <a:rPr lang="ja-JP" altLang="en-US" dirty="0"/>
              <a:t>のカメラを購入リクエスト</a:t>
            </a:r>
            <a:r>
              <a:rPr lang="en-US" altLang="ja-JP" dirty="0"/>
              <a:t>)</a:t>
            </a:r>
          </a:p>
          <a:p>
            <a:pPr lvl="1"/>
            <a:r>
              <a:rPr lang="ja-JP" altLang="en-US" dirty="0"/>
              <a:t>しかしどうやら入力は</a:t>
            </a:r>
            <a:r>
              <a:rPr lang="en-US" altLang="ja-JP" dirty="0"/>
              <a:t>1216*1216px</a:t>
            </a:r>
            <a:r>
              <a:rPr lang="ja-JP" altLang="en-US" dirty="0"/>
              <a:t>まで解像度を落として使用していた</a:t>
            </a:r>
            <a:br>
              <a:rPr lang="en-US" altLang="ja-JP" dirty="0"/>
            </a:br>
            <a:r>
              <a:rPr lang="en-US" altLang="ja-JP" dirty="0"/>
              <a:t>	</a:t>
            </a:r>
            <a:r>
              <a:rPr lang="ja-JP" altLang="en-US" dirty="0"/>
              <a:t>➞</a:t>
            </a:r>
            <a:r>
              <a:rPr lang="en-US" altLang="ja-JP" dirty="0"/>
              <a:t>2MP</a:t>
            </a:r>
            <a:r>
              <a:rPr lang="ja-JP" altLang="en-US" dirty="0"/>
              <a:t>でも構わなかったかも</a:t>
            </a:r>
            <a:r>
              <a:rPr lang="en-US" altLang="ja-JP" dirty="0"/>
              <a:t>…</a:t>
            </a:r>
          </a:p>
          <a:p>
            <a:r>
              <a:rPr lang="ja-JP" altLang="en-US" dirty="0"/>
              <a:t>マッチングコストを計算した後エッジを維持しながら平滑化する</a:t>
            </a:r>
            <a:endParaRPr lang="en-US" altLang="ja-JP" dirty="0"/>
          </a:p>
          <a:p>
            <a:pPr lvl="1"/>
            <a:r>
              <a:rPr lang="en-US" altLang="ja-JP" dirty="0"/>
              <a:t>Fast Inter-Scale Bilateral Filtering</a:t>
            </a:r>
            <a:r>
              <a:rPr lang="ja-JP" altLang="en-US" dirty="0"/>
              <a:t>を使用することで</a:t>
            </a:r>
            <a:br>
              <a:rPr lang="en-US" altLang="ja-JP" dirty="0"/>
            </a:br>
            <a:r>
              <a:rPr lang="ja-JP" altLang="en-US" dirty="0"/>
              <a:t>より精度と安定性を出す</a:t>
            </a: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C3B523A-9377-738D-06C1-2135B5F9D2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計算量について</a:t>
            </a:r>
            <a:r>
              <a:rPr lang="en-US" altLang="ja-JP" dirty="0"/>
              <a:t>(</a:t>
            </a:r>
            <a:r>
              <a:rPr lang="ja-JP" altLang="en-US" dirty="0"/>
              <a:t>本仲先生の指摘</a:t>
            </a:r>
            <a:r>
              <a:rPr lang="en-US" altLang="ja-JP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863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187B83-472D-2ECD-FC38-00476E83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周辺のピクセルの重みを工夫して平滑化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7AD1A2-8AC0-ADA0-8AC5-881402F42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Edge-Preserving </a:t>
            </a:r>
            <a:r>
              <a:rPr kumimoji="1" lang="en-US" altLang="ja-JP" dirty="0" err="1"/>
              <a:t>Downsampling</a:t>
            </a:r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en-US" altLang="ja-JP" dirty="0"/>
              <a:t>Edge-Preserving </a:t>
            </a:r>
            <a:r>
              <a:rPr kumimoji="1" lang="en-US" altLang="ja-JP" dirty="0" err="1"/>
              <a:t>Upsampling</a:t>
            </a:r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89BDAA-3543-C6D9-221F-AB673E632C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画像</a:t>
            </a:r>
            <a:r>
              <a:rPr kumimoji="1" lang="ja-JP" altLang="en-US" dirty="0"/>
              <a:t>の平滑化について</a:t>
            </a:r>
          </a:p>
        </p:txBody>
      </p:sp>
      <p:pic>
        <p:nvPicPr>
          <p:cNvPr id="6" name="図 5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330884B-A7B3-A0B6-4BDC-18AF4CABA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275" y="2486644"/>
            <a:ext cx="5947816" cy="809006"/>
          </a:xfrm>
          <a:prstGeom prst="rect">
            <a:avLst/>
          </a:prstGeom>
        </p:spPr>
      </p:pic>
      <p:pic>
        <p:nvPicPr>
          <p:cNvPr id="8" name="図 7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1141DD2-12FF-57AB-80EE-4221D6F34C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275" y="3295650"/>
            <a:ext cx="6165850" cy="810443"/>
          </a:xfrm>
          <a:prstGeom prst="rect">
            <a:avLst/>
          </a:prstGeom>
        </p:spPr>
      </p:pic>
      <p:pic>
        <p:nvPicPr>
          <p:cNvPr id="10" name="図 9" descr="図形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A978BE8-8FE2-1D19-2DEF-66A06A45B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275" y="4622804"/>
            <a:ext cx="1784350" cy="452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62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E78309-C27C-5247-39B8-1E160A083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カメラ環境を整えるために初期化する必要がある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C53915-48A1-1768-00B9-1F0253600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ホスト</a:t>
            </a:r>
            <a:r>
              <a:rPr kumimoji="1" lang="en-US" altLang="ja-JP" dirty="0"/>
              <a:t>PC</a:t>
            </a:r>
            <a:r>
              <a:rPr kumimoji="1" lang="ja-JP" altLang="en-US" dirty="0"/>
              <a:t>に必要なもの</a:t>
            </a:r>
            <a:endParaRPr lang="en-US" altLang="ja-JP" dirty="0"/>
          </a:p>
          <a:p>
            <a:pPr lvl="1"/>
            <a:r>
              <a:rPr kumimoji="1" lang="en-US" altLang="ja-JP" dirty="0"/>
              <a:t>NVIDIA® SDK Manager(</a:t>
            </a:r>
            <a:r>
              <a:rPr kumimoji="1" lang="en-US" altLang="ja-JP" dirty="0" err="1"/>
              <a:t>JetPack</a:t>
            </a:r>
            <a:r>
              <a:rPr kumimoji="1" lang="ja-JP" altLang="en-US" dirty="0"/>
              <a:t>を</a:t>
            </a:r>
            <a:r>
              <a:rPr kumimoji="1" lang="en-US" altLang="ja-JP" dirty="0"/>
              <a:t>Jetson</a:t>
            </a:r>
            <a:r>
              <a:rPr kumimoji="1" lang="ja-JP" altLang="en-US" dirty="0"/>
              <a:t>に</a:t>
            </a:r>
            <a:r>
              <a:rPr kumimoji="1" lang="ja-JP" altLang="en-US" dirty="0">
                <a:solidFill>
                  <a:srgbClr val="FF0000"/>
                </a:solidFill>
              </a:rPr>
              <a:t>フラッシュ</a:t>
            </a:r>
            <a:r>
              <a:rPr kumimoji="1" lang="ja-JP" altLang="en-US" dirty="0"/>
              <a:t>するため</a:t>
            </a:r>
            <a:r>
              <a:rPr kumimoji="1" lang="en-US" altLang="ja-JP" dirty="0"/>
              <a:t>)</a:t>
            </a:r>
          </a:p>
          <a:p>
            <a:pPr lvl="1"/>
            <a:r>
              <a:rPr kumimoji="1" lang="ja-JP" altLang="en-US" dirty="0"/>
              <a:t>クロスコンパイラツールチェーン</a:t>
            </a:r>
            <a:endParaRPr kumimoji="1" lang="en-US" altLang="ja-JP" dirty="0"/>
          </a:p>
          <a:p>
            <a:r>
              <a:rPr kumimoji="1" lang="ja-JP" altLang="en-US" dirty="0"/>
              <a:t>無に帰した</a:t>
            </a:r>
            <a:r>
              <a:rPr kumimoji="1" lang="en-US" altLang="ja-JP" dirty="0"/>
              <a:t>Jetson</a:t>
            </a:r>
            <a:r>
              <a:rPr kumimoji="1" lang="ja-JP" altLang="en-US" dirty="0"/>
              <a:t>に必要なもの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Linux for Tegra (L4T) </a:t>
            </a:r>
          </a:p>
          <a:p>
            <a:pPr lvl="1"/>
            <a:r>
              <a:rPr kumimoji="1" lang="ja-JP" altLang="en-US" dirty="0"/>
              <a:t>サンプルルートファイルシステム </a:t>
            </a:r>
            <a:r>
              <a:rPr kumimoji="1" lang="en-US" altLang="ja-JP" dirty="0"/>
              <a:t>(</a:t>
            </a:r>
            <a:r>
              <a:rPr kumimoji="1" lang="en-US" altLang="ja-JP" dirty="0" err="1"/>
              <a:t>rootfs</a:t>
            </a:r>
            <a:r>
              <a:rPr kumimoji="1" lang="en-US" altLang="ja-JP" dirty="0"/>
              <a:t>)</a:t>
            </a:r>
            <a:endParaRPr lang="en-US" altLang="ja-JP" dirty="0"/>
          </a:p>
          <a:p>
            <a:pPr lvl="1"/>
            <a:r>
              <a:rPr kumimoji="1" lang="en-US" altLang="ja-JP" dirty="0"/>
              <a:t>e-con Systems</a:t>
            </a:r>
            <a:r>
              <a:rPr kumimoji="1" lang="ja-JP" altLang="en-US" dirty="0"/>
              <a:t>提供のパッケージ</a:t>
            </a:r>
            <a:endParaRPr kumimoji="1" lang="en-US" altLang="ja-JP" dirty="0"/>
          </a:p>
          <a:p>
            <a:pPr lvl="1"/>
            <a:r>
              <a:rPr lang="ja-JP" altLang="en-US" dirty="0"/>
              <a:t>ビルドに必要なパッケージ達</a:t>
            </a: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F9AAD4A-4AF5-1179-99F6-734E44B426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 dirty="0" err="1"/>
              <a:t>JetsonAGXOrin</a:t>
            </a:r>
            <a:r>
              <a:rPr kumimoji="1" lang="ja-JP" altLang="en-US" dirty="0"/>
              <a:t>の環境構築</a:t>
            </a:r>
          </a:p>
        </p:txBody>
      </p:sp>
    </p:spTree>
    <p:extLst>
      <p:ext uri="{BB962C8B-B14F-4D97-AF65-F5344CB8AC3E}">
        <p14:creationId xmlns:p14="http://schemas.microsoft.com/office/powerpoint/2010/main" val="783382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BD5C27-5DAF-89C3-94CA-31A62344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カメラが届くまでの下準備を済ませる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37E92F-AA36-0814-54B9-C5B4D47D6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今すぐできること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カメラ環境の構築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カメラフレームの作成</a:t>
            </a:r>
            <a:endParaRPr kumimoji="1" lang="en-US" altLang="ja-JP" dirty="0"/>
          </a:p>
          <a:p>
            <a:r>
              <a:rPr lang="ja-JP" altLang="en-US" dirty="0"/>
              <a:t>カメラが届いてからすること</a:t>
            </a:r>
            <a:endParaRPr lang="en-US" altLang="ja-JP" dirty="0"/>
          </a:p>
          <a:p>
            <a:pPr lvl="1"/>
            <a:r>
              <a:rPr kumimoji="1" lang="ja-JP" altLang="en-US" dirty="0"/>
              <a:t>カメラの試運転</a:t>
            </a:r>
            <a:endParaRPr kumimoji="1" lang="en-US" altLang="ja-JP" dirty="0"/>
          </a:p>
          <a:p>
            <a:pPr lvl="1"/>
            <a:r>
              <a:rPr lang="en-US" altLang="ja-JP" dirty="0"/>
              <a:t>Git</a:t>
            </a:r>
            <a:r>
              <a:rPr lang="ja-JP" altLang="en-US" dirty="0"/>
              <a:t>のプログラムの試運転</a:t>
            </a:r>
            <a:endParaRPr lang="en-US" altLang="ja-JP" dirty="0"/>
          </a:p>
          <a:p>
            <a:r>
              <a:rPr kumimoji="1" lang="ja-JP" altLang="en-US" dirty="0"/>
              <a:t>プログラムが動いてからすること</a:t>
            </a:r>
            <a:endParaRPr kumimoji="1" lang="en-US" altLang="ja-JP" dirty="0"/>
          </a:p>
          <a:p>
            <a:pPr lvl="1"/>
            <a:r>
              <a:rPr lang="ja-JP" altLang="en-US" dirty="0"/>
              <a:t>リアルタイム化</a:t>
            </a:r>
            <a:endParaRPr lang="en-US" altLang="ja-JP" dirty="0"/>
          </a:p>
          <a:p>
            <a:pPr lvl="1"/>
            <a:r>
              <a:rPr kumimoji="1" lang="en-US" altLang="ja-JP" dirty="0"/>
              <a:t>SLAM</a:t>
            </a:r>
            <a:r>
              <a:rPr kumimoji="1" lang="ja-JP" altLang="en-US" dirty="0"/>
              <a:t>とのつなぎ合わせ</a:t>
            </a:r>
            <a:endParaRPr kumimoji="1" lang="en-US" altLang="ja-JP" dirty="0"/>
          </a:p>
          <a:p>
            <a:endParaRPr kumimoji="1"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425BEA8-D2B5-4CBF-71ED-704C33444D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今後のタスク</a:t>
            </a:r>
          </a:p>
        </p:txBody>
      </p:sp>
    </p:spTree>
    <p:extLst>
      <p:ext uri="{BB962C8B-B14F-4D97-AF65-F5344CB8AC3E}">
        <p14:creationId xmlns:p14="http://schemas.microsoft.com/office/powerpoint/2010/main" val="2823700308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研究発表用テンプレート2022版.potx" id="{6306135A-614C-4776-A803-91994B10B76C}" vid="{3B8C9F31-E626-4709-A765-E9EDF381CB2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プレゼンテーション2</Template>
  <TotalTime>1584</TotalTime>
  <Words>558</Words>
  <Application>Microsoft Office PowerPoint</Application>
  <PresentationFormat>ワイド画面</PresentationFormat>
  <Paragraphs>75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游ゴシック</vt:lpstr>
      <vt:lpstr>游ゴシック Medium</vt:lpstr>
      <vt:lpstr>Arial</vt:lpstr>
      <vt:lpstr>Cambria Math</vt:lpstr>
      <vt:lpstr>Segoe UI</vt:lpstr>
      <vt:lpstr>Wingdings</vt:lpstr>
      <vt:lpstr>研究発表スライドマスタ</vt:lpstr>
      <vt:lpstr>先週の進捗</vt:lpstr>
      <vt:lpstr>PowerPoint プレゼンテーション</vt:lpstr>
      <vt:lpstr>360度深さパノラマ画像を用いた3DSLAM</vt:lpstr>
      <vt:lpstr>先行研究の論文の内容の紹介</vt:lpstr>
      <vt:lpstr>歪みが酷すぎる</vt:lpstr>
      <vt:lpstr>深さの候補の中から最も確からしい深さを選ぶ</vt:lpstr>
      <vt:lpstr>仮想の点から見たパノラマ画像を再生成する</vt:lpstr>
      <vt:lpstr>疎な画像を密な画像に平滑化する</vt:lpstr>
      <vt:lpstr>周辺のピクセルの重みを工夫して平滑化</vt:lpstr>
      <vt:lpstr>カメラ環境を整えるために初期化する必要がある</vt:lpstr>
      <vt:lpstr>カメラが届くまでの下準備を済ませる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TAKAGISHI Tsukasa</dc:creator>
  <cp:lastModifiedBy>TAKAGISHI Tsukasa</cp:lastModifiedBy>
  <cp:revision>14</cp:revision>
  <dcterms:created xsi:type="dcterms:W3CDTF">2025-06-11T05:34:06Z</dcterms:created>
  <dcterms:modified xsi:type="dcterms:W3CDTF">2025-06-12T09:01:20Z</dcterms:modified>
</cp:coreProperties>
</file>