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3E_45756C6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0" r:id="rId2"/>
    <p:sldMasterId id="2147483683" r:id="rId3"/>
  </p:sldMasterIdLst>
  <p:notesMasterIdLst>
    <p:notesMasterId r:id="rId23"/>
  </p:notesMasterIdLst>
  <p:sldIdLst>
    <p:sldId id="256" r:id="rId4"/>
    <p:sldId id="326" r:id="rId5"/>
    <p:sldId id="309" r:id="rId6"/>
    <p:sldId id="308" r:id="rId7"/>
    <p:sldId id="260" r:id="rId8"/>
    <p:sldId id="310" r:id="rId9"/>
    <p:sldId id="322" r:id="rId10"/>
    <p:sldId id="321" r:id="rId11"/>
    <p:sldId id="320" r:id="rId12"/>
    <p:sldId id="315" r:id="rId13"/>
    <p:sldId id="316" r:id="rId14"/>
    <p:sldId id="319" r:id="rId15"/>
    <p:sldId id="258" r:id="rId16"/>
    <p:sldId id="323" r:id="rId17"/>
    <p:sldId id="324" r:id="rId18"/>
    <p:sldId id="325" r:id="rId19"/>
    <p:sldId id="328" r:id="rId20"/>
    <p:sldId id="327" r:id="rId21"/>
    <p:sldId id="31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9517E8-723E-4ED4-7F17-F6509FD77999}" name="MATSUYAMA Shinnosuke" initials="" userId="S::k842064@kansai-u.ac.jp::fd96e5ed-4992-42d4-ba78-c2191b0b74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3" d="100"/>
          <a:sy n="53" d="100"/>
        </p:scale>
        <p:origin x="42" y="411"/>
      </p:cViewPr>
      <p:guideLst>
        <p:guide orient="horz" pos="39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omments/modernComment_13E_45756C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CDB7E4-1BB2-49DC-A5BD-1916BF4CEF06}" authorId="{099517E8-723E-4ED4-7F17-F6509FD77999}" created="2025-06-20T06:15:08.5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65323365" sldId="318"/>
      <ac:spMk id="4" creationId="{DD5DBA3E-1FE2-D2A0-1638-FB00A07864B0}"/>
    </ac:deMkLst>
    <p188:txBody>
      <a:bodyPr/>
      <a:lstStyle/>
      <a:p>
        <a:r>
          <a:rPr lang="ja-JP" altLang="en-US"/>
          <a:t>タイトルの大きさは変えて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CEAD8-CBA6-4462-A947-7B3D011449F9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1F1EB-BD56-49F9-AE01-F1F4E146A1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9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43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438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9E6E-087E-C642-44D5-30A4BA35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E53386-7E5C-2379-A895-482F2211B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68026D7-DB61-886C-C955-C9528A3FE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13C012-8ADC-F17E-328B-48C5DDBC0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114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2AC1-D851-F6D9-B18E-9994D2F6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A7064B-F1FD-A6FD-12BE-2E6074A72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2E29275-404B-25F2-08B7-7D063C216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A82FCB-992F-084C-DFD1-2883F1816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92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591CA-D5C5-AE2D-95F2-170F4735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259CF1-5B24-570E-D16A-E7BBC4C1C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349820-1A9F-CC84-35CC-C170F86BC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D21FDC-7AC0-58E2-2055-1F49CBDF0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473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DF73-36F2-2794-78ED-AA547D0E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6A3719-28A8-DC5B-48C7-E53416E96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7DDD6DC-920D-1089-D966-8ABFB478E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4F99C8-0305-37CD-6DC2-43EC3FE86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7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1027-7623-A10A-932A-92B935FB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0C5AE0-3DE3-9134-986C-6E4215F19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167A2AC-9C01-6FD6-78A8-72129525E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FD945A-C616-D978-15BF-01EA277E9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434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1F1EB-BD56-49F9-AE01-F1F4E146A1A8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887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43000" y="2570163"/>
            <a:ext cx="6858000" cy="2387600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43000" y="5110168"/>
            <a:ext cx="6858000" cy="561975"/>
          </a:xfrm>
        </p:spPr>
        <p:txBody>
          <a:bodyPr>
            <a:noAutofit/>
          </a:bodyPr>
          <a:lstStyle>
            <a:lvl1pPr marL="0" indent="0" algn="l">
              <a:buNone/>
              <a:defRPr sz="2025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5740400"/>
            <a:ext cx="6858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/>
        </p:nvCxnSpPr>
        <p:spPr>
          <a:xfrm flipV="1">
            <a:off x="0" y="5029200"/>
            <a:ext cx="9144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15075" y="152404"/>
            <a:ext cx="2695576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125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47700"/>
            <a:ext cx="6858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4128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4E2F823-F21B-CADC-A13C-D1449BB9CEE6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7">
            <a:extLst>
              <a:ext uri="{FF2B5EF4-FFF2-40B4-BE49-F238E27FC236}">
                <a16:creationId xmlns:a16="http://schemas.microsoft.com/office/drawing/2014/main" id="{1F248896-136B-1524-833E-8F615E919C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目次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FCC5273-F979-4F77-088C-EB2AF8543B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895352"/>
            <a:ext cx="8324850" cy="5689803"/>
          </a:xfrm>
        </p:spPr>
        <p:txBody>
          <a:bodyPr>
            <a:normAutofit/>
          </a:bodyPr>
          <a:lstStyle>
            <a:lvl1pPr marL="289322" indent="-289322">
              <a:buClr>
                <a:schemeClr val="bg1">
                  <a:lumMod val="10000"/>
                </a:schemeClr>
              </a:buClr>
              <a:buFont typeface="+mj-lt"/>
              <a:buAutoNum type="arabicPeriod"/>
              <a:defRPr sz="21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514350" indent="0">
              <a:buNone/>
              <a:defRPr/>
            </a:lvl3pPr>
            <a:lvl4pPr marL="964406" indent="-192881">
              <a:buFont typeface="+mj-lt"/>
              <a:buAutoNum type="arabicPeriod"/>
              <a:defRPr sz="2100"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大枠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スライドトピック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470781-0DB4-3D2A-0BED-87B7D8A20579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361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1066806"/>
            <a:ext cx="8324850" cy="5518353"/>
          </a:xfrm>
        </p:spPr>
        <p:txBody>
          <a:bodyPr>
            <a:normAutofit/>
          </a:bodyPr>
          <a:lstStyle>
            <a:lvl1pPr marL="257175" indent="-257175"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704553" indent="-190203">
              <a:buFont typeface="游ゴシック Medium" panose="020B0500000000000000" pitchFamily="50" charset="-128"/>
              <a:buChar char="-"/>
              <a:defRPr sz="15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5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5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1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357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19100" y="1016004"/>
            <a:ext cx="8324850" cy="938159"/>
          </a:xfrm>
        </p:spPr>
        <p:txBody>
          <a:bodyPr>
            <a:noAutofit/>
          </a:bodyPr>
          <a:lstStyle>
            <a:lvl1pPr>
              <a:defRPr sz="21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2013155"/>
            <a:ext cx="8324850" cy="4572000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l"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15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5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5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1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8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(下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24631" y="5563424"/>
            <a:ext cx="8324850" cy="938159"/>
          </a:xfrm>
        </p:spPr>
        <p:txBody>
          <a:bodyPr>
            <a:noAutofit/>
          </a:bodyPr>
          <a:lstStyle>
            <a:lvl1pPr>
              <a:defRPr sz="21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24631" y="958646"/>
            <a:ext cx="8324850" cy="4572000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514350" marR="0" indent="-257175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18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79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3B417-C573-26F0-7D80-045C74C64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299902-A91B-E44B-FCC4-DC9393D89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9EF029-6BFC-7975-B811-AF9D15F4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34BE51-68FE-6A0A-0C28-FE7076A5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81C2A-B726-AF95-6941-6DA27D72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33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5338"/>
          </a:xfrm>
        </p:spPr>
        <p:txBody>
          <a:bodyPr>
            <a:normAutofit/>
          </a:bodyPr>
          <a:lstStyle>
            <a:lvl1pPr>
              <a:defRPr sz="21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442"/>
            <a:ext cx="7886700" cy="39798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4" y="1"/>
            <a:ext cx="1121569" cy="795338"/>
          </a:xfrm>
        </p:spPr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806F1E0-3BF7-62E9-5C4E-F1F4CA0D0B7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9841" y="5516562"/>
            <a:ext cx="7886700" cy="973138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>
              <a:defRPr sz="1800"/>
            </a:lvl2pPr>
          </a:lstStyle>
          <a:p>
            <a:pPr lvl="0"/>
            <a:r>
              <a:rPr kumimoji="1" lang="ja-JP" altLang="en-US" dirty="0"/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2014454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5338"/>
          </a:xfrm>
        </p:spPr>
        <p:txBody>
          <a:bodyPr>
            <a:normAutofit/>
          </a:bodyPr>
          <a:lstStyle>
            <a:lvl1pPr>
              <a:defRPr sz="21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438"/>
            <a:ext cx="7886700" cy="5151436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4" y="1"/>
            <a:ext cx="1121569" cy="795338"/>
          </a:xfrm>
        </p:spPr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889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31"/>
            <a:ext cx="7886700" cy="795337"/>
          </a:xfrm>
        </p:spPr>
        <p:txBody>
          <a:bodyPr>
            <a:normAutofit/>
          </a:bodyPr>
          <a:lstStyle>
            <a:lvl1pPr>
              <a:defRPr sz="21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41438"/>
            <a:ext cx="3886200" cy="5148262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41438"/>
            <a:ext cx="3886200" cy="5148262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22434" y="5"/>
            <a:ext cx="1121569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009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1445D-B0F8-733F-9422-5547FE77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418556"/>
            <a:ext cx="6858000" cy="2020888"/>
          </a:xfrm>
        </p:spPr>
        <p:txBody>
          <a:bodyPr anchor="ctr"/>
          <a:lstStyle>
            <a:lvl1pPr algn="ctr">
              <a:defRPr sz="45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79A5E-E0BF-0920-11E9-43C7DC252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067302"/>
            <a:ext cx="6858000" cy="115252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80CED-07D8-C9F1-59A2-4839D384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1451B-8909-6CE7-4F89-22F10E94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5655983-AFBC-8BA7-6110-F7A5B618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3" y="1"/>
            <a:ext cx="1121569" cy="795338"/>
          </a:xfrm>
        </p:spPr>
        <p:txBody>
          <a:bodyPr/>
          <a:lstStyle>
            <a:lvl1pPr>
              <a:defRPr/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481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186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533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3" y="1"/>
            <a:ext cx="1121569" cy="795338"/>
          </a:xfrm>
        </p:spPr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CD179FBA-0271-1706-0632-1CF55929E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437"/>
            <a:ext cx="78867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23077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5338"/>
          </a:xfrm>
        </p:spPr>
        <p:txBody>
          <a:bodyPr>
            <a:normAutofit/>
          </a:bodyPr>
          <a:lstStyle>
            <a:lvl1pPr>
              <a:defRPr sz="21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440"/>
            <a:ext cx="7886700" cy="39798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3" y="1"/>
            <a:ext cx="1121569" cy="795338"/>
          </a:xfrm>
        </p:spPr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806F1E0-3BF7-62E9-5C4E-F1F4CA0D0B7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9841" y="5516562"/>
            <a:ext cx="7886700" cy="973138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>
              <a:defRPr sz="1800"/>
            </a:lvl2pPr>
          </a:lstStyle>
          <a:p>
            <a:pPr lvl="0"/>
            <a:r>
              <a:rPr kumimoji="1" lang="ja-JP" altLang="en-US" dirty="0"/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248689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5338"/>
          </a:xfrm>
        </p:spPr>
        <p:txBody>
          <a:bodyPr>
            <a:normAutofit/>
          </a:bodyPr>
          <a:lstStyle>
            <a:lvl1pPr>
              <a:defRPr sz="21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95549"/>
            <a:ext cx="7886700" cy="39893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3" y="1"/>
            <a:ext cx="1121569" cy="795338"/>
          </a:xfrm>
        </p:spPr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806F1E0-3BF7-62E9-5C4E-F1F4CA0D0B7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650" y="1341437"/>
            <a:ext cx="7886700" cy="973138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>
              <a:defRPr sz="1800"/>
            </a:lvl2pPr>
          </a:lstStyle>
          <a:p>
            <a:pPr lvl="0"/>
            <a:r>
              <a:rPr kumimoji="1" lang="ja-JP" altLang="en-US" dirty="0"/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36066816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6B23-3DD1-48B3-109A-2ED551A8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ctr"/>
          <a:lstStyle>
            <a:lvl1pPr algn="ctr">
              <a:defRPr sz="45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AC70-C243-7E98-6E1F-64B5D24F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C6B54-ED55-D673-6060-E9328858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0E5D-6612-F164-8C94-CE7E6A0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F7194-2B2D-9032-D396-3DFF33C5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5879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795337"/>
          </a:xfrm>
        </p:spPr>
        <p:txBody>
          <a:bodyPr>
            <a:normAutofit/>
          </a:bodyPr>
          <a:lstStyle>
            <a:lvl1pPr>
              <a:defRPr sz="21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41438"/>
            <a:ext cx="3886200" cy="5148262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41438"/>
            <a:ext cx="3886200" cy="5148262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22433" y="3"/>
            <a:ext cx="1121569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8848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2975B-7D7C-3B63-5B49-45442800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79533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D19D4-0AE9-625A-6596-63CB9FD8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341441"/>
            <a:ext cx="3868340" cy="64701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2C410-BC89-B7B1-2851-F1F727AD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169432"/>
            <a:ext cx="3868340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DA709-1699-42C0-7278-40B036BE2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6769" y="1341441"/>
            <a:ext cx="3887391" cy="64701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BC964D-E34C-0CA9-A4C5-11369ACC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169432"/>
            <a:ext cx="3887391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C7CBB6-8FDE-A243-F559-D92DBFEB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09EC41-6D89-4D0F-4C3E-C3FDD41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162CA-C78B-F2AB-CAAB-61F9EE2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35896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79463-3320-BE7C-4D4E-699D16F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14E8AD-4DE9-7EF2-B446-493321B7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F7551-562C-28AB-4202-A78B35DC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F8731-7543-6FE1-039B-43AE9EB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EB3A43-A089-FA7C-62CA-99F79856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B7DBE8-6884-EC65-D152-D123FB9D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04724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ECA59-639A-39FC-FEED-AF28155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A9C005-ED7C-25B1-840F-B1D4DE0B2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40B46-C2B0-351C-56BD-275B7BE8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709412-CA1F-B82D-B9FC-2E52941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1B903-2C48-AB75-1EEF-4E346E6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FC39D-519A-A635-D595-D49195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14526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2C1F2-EBD9-FF5E-464C-C7F699F3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F80F5-AB63-0771-3030-2DC1B3F6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56937-5A34-440A-F498-E4C6E6B3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94EF9-9F8C-FE2E-3E32-C6AE80B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464F9-4C59-D5B5-FCA1-DF1BA1CB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62814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572C9-4D05-A807-7F94-6CEF11A2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3A3DF-0669-C587-5255-B72C620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C8F58-97DC-4240-BFD1-8CBAE54B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5FE80-830F-6337-37AD-799070FE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5FC1F-8A4C-1AF2-E90E-4352BB3A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931080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19100" y="1016004"/>
            <a:ext cx="8324850" cy="938159"/>
          </a:xfrm>
        </p:spPr>
        <p:txBody>
          <a:bodyPr>
            <a:noAutofit/>
          </a:bodyPr>
          <a:lstStyle>
            <a:lvl1pPr>
              <a:defRPr sz="21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2013155"/>
            <a:ext cx="8324850" cy="4572000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l"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15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5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5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1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145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145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299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43000" y="2570163"/>
            <a:ext cx="6858000" cy="2387600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43000" y="5110168"/>
            <a:ext cx="6858000" cy="561975"/>
          </a:xfrm>
        </p:spPr>
        <p:txBody>
          <a:bodyPr>
            <a:noAutofit/>
          </a:bodyPr>
          <a:lstStyle>
            <a:lvl1pPr marL="0" indent="0" algn="l">
              <a:buNone/>
              <a:defRPr sz="2025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5740400"/>
            <a:ext cx="6858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/>
        </p:nvCxnSpPr>
        <p:spPr>
          <a:xfrm flipV="1">
            <a:off x="0" y="5029200"/>
            <a:ext cx="9144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15075" y="152404"/>
            <a:ext cx="2695576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125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47700"/>
            <a:ext cx="6858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22978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4E2F823-F21B-CADC-A13C-D1449BB9CEE6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7">
            <a:extLst>
              <a:ext uri="{FF2B5EF4-FFF2-40B4-BE49-F238E27FC236}">
                <a16:creationId xmlns:a16="http://schemas.microsoft.com/office/drawing/2014/main" id="{1F248896-136B-1524-833E-8F615E919C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目次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FCC5273-F979-4F77-088C-EB2AF8543B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895352"/>
            <a:ext cx="8324850" cy="5689803"/>
          </a:xfrm>
        </p:spPr>
        <p:txBody>
          <a:bodyPr>
            <a:normAutofit/>
          </a:bodyPr>
          <a:lstStyle>
            <a:lvl1pPr marL="289322" indent="-289322">
              <a:buClr>
                <a:schemeClr val="bg1">
                  <a:lumMod val="10000"/>
                </a:schemeClr>
              </a:buClr>
              <a:buFont typeface="+mj-lt"/>
              <a:buAutoNum type="arabicPeriod"/>
              <a:defRPr sz="21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514350" indent="0">
              <a:buNone/>
              <a:defRPr/>
            </a:lvl3pPr>
            <a:lvl4pPr marL="964406" indent="-192881">
              <a:buFont typeface="+mj-lt"/>
              <a:buAutoNum type="arabicPeriod"/>
              <a:defRPr sz="2100"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大枠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スライドトピック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470781-0DB4-3D2A-0BED-87B7D8A20579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192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1066806"/>
            <a:ext cx="8324850" cy="5518353"/>
          </a:xfrm>
        </p:spPr>
        <p:txBody>
          <a:bodyPr>
            <a:normAutofit/>
          </a:bodyPr>
          <a:lstStyle>
            <a:lvl1pPr marL="257175" indent="-257175"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704553" indent="-190203">
              <a:buFont typeface="游ゴシック Medium" panose="020B0500000000000000" pitchFamily="50" charset="-128"/>
              <a:buChar char="-"/>
              <a:defRPr sz="15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5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5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1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957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19100" y="1016004"/>
            <a:ext cx="8324850" cy="938159"/>
          </a:xfrm>
        </p:spPr>
        <p:txBody>
          <a:bodyPr>
            <a:noAutofit/>
          </a:bodyPr>
          <a:lstStyle>
            <a:lvl1pPr>
              <a:defRPr sz="21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2013155"/>
            <a:ext cx="8324850" cy="4572000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l"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0056" marR="0" indent="-192881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15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5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5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>
            <a:noAutofit/>
          </a:bodyPr>
          <a:lstStyle>
            <a:lvl1pPr marL="0" indent="0">
              <a:buNone/>
              <a:defRPr sz="21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98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(下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24631" y="5563424"/>
            <a:ext cx="8324850" cy="938159"/>
          </a:xfrm>
        </p:spPr>
        <p:txBody>
          <a:bodyPr>
            <a:noAutofit/>
          </a:bodyPr>
          <a:lstStyle>
            <a:lvl1pPr>
              <a:defRPr sz="21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24631" y="958646"/>
            <a:ext cx="8324850" cy="4572000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8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514350" marR="0" indent="-257175" algn="l" defTabSz="5143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18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8620125" y="315648"/>
            <a:ext cx="3962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35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35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67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3B417-C573-26F0-7D80-045C74C64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299902-A91B-E44B-FCC4-DC9393D89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9EF029-6BFC-7975-B811-AF9D15F4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34BE51-68FE-6A0A-0C28-FE7076A5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81C2A-B726-AF95-6941-6DA27D72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509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54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925" indent="-250925" algn="l" defTabSz="514350" rtl="0" eaLnBrk="1" latinLnBrk="0" hangingPunct="1">
        <a:lnSpc>
          <a:spcPct val="110000"/>
        </a:lnSpc>
        <a:spcBef>
          <a:spcPts val="1013"/>
        </a:spcBef>
        <a:buClr>
          <a:schemeClr val="accent4"/>
        </a:buClr>
        <a:buFont typeface="Wingdings" panose="05000000000000000000" pitchFamily="2" charset="2"/>
        <a:buChar char="l"/>
        <a:defRPr kumimoji="1" sz="21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505421" indent="-248246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704553" indent="-190203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3pPr>
      <a:lvl4pPr marL="959942" indent="-188417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209973" indent="-181273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73016B-E760-D946-6C7E-E26AD0952F44}"/>
              </a:ext>
            </a:extLst>
          </p:cNvPr>
          <p:cNvSpPr/>
          <p:nvPr/>
        </p:nvSpPr>
        <p:spPr>
          <a:xfrm>
            <a:off x="0" y="0"/>
            <a:ext cx="9144000" cy="11604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7CA3AA-AE30-8396-10D0-71DEE002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6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39CDB-5A95-C8DF-1363-584A0521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41437"/>
            <a:ext cx="78867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2D82E-CBF5-1994-62CF-5A35BF16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22433" y="3"/>
            <a:ext cx="1121569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415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n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游ゴシック Medium" panose="020B0500000000000000" pitchFamily="50" charset="-128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orient="horz" pos="845">
          <p15:clr>
            <a:srgbClr val="F26B43"/>
          </p15:clr>
        </p15:guide>
        <p15:guide id="3" orient="horz" pos="7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21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18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925" indent="-250925" algn="l" defTabSz="514350" rtl="0" eaLnBrk="1" latinLnBrk="0" hangingPunct="1">
        <a:lnSpc>
          <a:spcPct val="110000"/>
        </a:lnSpc>
        <a:spcBef>
          <a:spcPts val="1013"/>
        </a:spcBef>
        <a:buClr>
          <a:schemeClr val="accent4"/>
        </a:buClr>
        <a:buFont typeface="Wingdings" panose="05000000000000000000" pitchFamily="2" charset="2"/>
        <a:buChar char="l"/>
        <a:defRPr kumimoji="1" sz="21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505421" indent="-248246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704553" indent="-190203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3pPr>
      <a:lvl4pPr marL="959942" indent="-188417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209973" indent="-181273" algn="l" defTabSz="51435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3E_45756C6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7B383-9004-7AE7-00A7-FB4930802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356801"/>
            <a:ext cx="6858000" cy="183003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4</a:t>
            </a:r>
            <a:r>
              <a:rPr kumimoji="1" lang="ja-JP" altLang="en-US" dirty="0"/>
              <a:t>つの魚眼カメラにより</a:t>
            </a:r>
            <a:br>
              <a:rPr kumimoji="1" lang="en-US" altLang="ja-JP" dirty="0"/>
            </a:br>
            <a:r>
              <a:rPr kumimoji="1" lang="ja-JP" altLang="en-US" dirty="0"/>
              <a:t>生成したパノラマ深さ画像</a:t>
            </a:r>
            <a:br>
              <a:rPr kumimoji="1" lang="en-US" altLang="ja-JP" dirty="0"/>
            </a:br>
            <a:r>
              <a:rPr kumimoji="1" lang="ja-JP" altLang="en-US" dirty="0"/>
              <a:t>による</a:t>
            </a:r>
            <a:r>
              <a:rPr kumimoji="1" lang="en-US" altLang="ja-JP" dirty="0"/>
              <a:t>SLAM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B9C372-3185-6ED5-47D7-CB9ECA009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3973" y="4672988"/>
            <a:ext cx="3536054" cy="1527787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400" dirty="0"/>
              <a:t>システム制御工学研究室</a:t>
            </a:r>
            <a:endParaRPr kumimoji="1" lang="en-US" altLang="ja-JP" sz="2400" dirty="0"/>
          </a:p>
          <a:p>
            <a:pPr algn="l"/>
            <a:r>
              <a:rPr lang="ja-JP" altLang="en-US" sz="2400" dirty="0"/>
              <a:t>学生氏名 髙岸 司 </a:t>
            </a:r>
            <a:endParaRPr lang="en-US" altLang="ja-JP" sz="2400" dirty="0"/>
          </a:p>
          <a:p>
            <a:pPr algn="l"/>
            <a:r>
              <a:rPr lang="ja-JP" altLang="en-US" sz="2400" dirty="0"/>
              <a:t>指導教員 本仲君子</a:t>
            </a:r>
          </a:p>
          <a:p>
            <a:pPr algn="l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544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1408CD4-A272-18F1-EB73-1ADF0EAD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背景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3F6E933B-4358-65A5-E002-128D2A6A57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>
            <a:normAutofit fontScale="92500"/>
          </a:bodyPr>
          <a:lstStyle/>
          <a:p>
            <a:pPr>
              <a:lnSpc>
                <a:spcPct val="210000"/>
              </a:lnSpc>
            </a:pPr>
            <a:r>
              <a:rPr lang="en-US" altLang="ja-JP" dirty="0"/>
              <a:t>SLAM</a:t>
            </a:r>
            <a:r>
              <a:rPr lang="ja-JP" altLang="en-US" dirty="0"/>
              <a:t>（</a:t>
            </a:r>
            <a:r>
              <a:rPr lang="en-US" altLang="ja-JP" dirty="0"/>
              <a:t>Simultaneous Localization and Mapping</a:t>
            </a:r>
            <a:r>
              <a:rPr lang="ja-JP" altLang="en-US" dirty="0"/>
              <a:t>） </a:t>
            </a:r>
            <a:endParaRPr lang="en-US" altLang="ja-JP" dirty="0"/>
          </a:p>
          <a:p>
            <a:pPr lvl="1">
              <a:lnSpc>
                <a:spcPct val="210000"/>
              </a:lnSpc>
            </a:pPr>
            <a:r>
              <a:rPr lang="ja-JP" altLang="en-US" dirty="0"/>
              <a:t>未知環境で自律移動ロボットなどが自己位置推定と</a:t>
            </a:r>
            <a:br>
              <a:rPr lang="en-US" altLang="ja-JP" dirty="0"/>
            </a:br>
            <a:r>
              <a:rPr lang="ja-JP" altLang="en-US" dirty="0"/>
              <a:t>地図作成を同時に行う技術</a:t>
            </a:r>
            <a:endParaRPr lang="en-US" altLang="ja-JP" dirty="0"/>
          </a:p>
          <a:p>
            <a:pPr lvl="1">
              <a:lnSpc>
                <a:spcPct val="210000"/>
              </a:lnSpc>
            </a:pPr>
            <a:r>
              <a:rPr lang="ja-JP" altLang="en-US" dirty="0"/>
              <a:t>近年では自動運転や</a:t>
            </a:r>
            <a:r>
              <a:rPr lang="en-US" altLang="ja-JP" dirty="0"/>
              <a:t>XR/AR</a:t>
            </a:r>
            <a:r>
              <a:rPr lang="ja-JP" altLang="en-US" dirty="0"/>
              <a:t>にも用いられている</a:t>
            </a:r>
            <a:endParaRPr lang="en-US" altLang="ja-JP" dirty="0"/>
          </a:p>
          <a:p>
            <a:pPr lvl="1">
              <a:lnSpc>
                <a:spcPct val="210000"/>
              </a:lnSpc>
            </a:pPr>
            <a:r>
              <a:rPr lang="ja-JP" altLang="en-US" dirty="0"/>
              <a:t>精度の高い従来の方法ではセンサの設置場所が限られ</a:t>
            </a:r>
            <a:br>
              <a:rPr lang="en-US" altLang="ja-JP" dirty="0"/>
            </a:br>
            <a:r>
              <a:rPr lang="ja-JP" altLang="en-US" dirty="0"/>
              <a:t>高価であるという問題がある</a:t>
            </a:r>
            <a:endParaRPr lang="en-US" altLang="ja-JP" dirty="0"/>
          </a:p>
          <a:p>
            <a:pPr>
              <a:lnSpc>
                <a:spcPct val="210000"/>
              </a:lnSpc>
            </a:pPr>
            <a:endParaRPr lang="en-US" altLang="ja-JP" dirty="0"/>
          </a:p>
          <a:p>
            <a:pPr>
              <a:lnSpc>
                <a:spcPct val="210000"/>
              </a:lnSpc>
            </a:pP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D9BA59-E493-5109-4447-4563E3F1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703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95561-6141-9871-DA03-2A524883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SLAM</a:t>
            </a:r>
            <a:r>
              <a:rPr lang="ja-JP" altLang="en-US" dirty="0"/>
              <a:t>の構成要素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AF161B-55AE-B131-5D26-B8B97ECBFF2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8885" y="1863329"/>
            <a:ext cx="2513747" cy="3863577"/>
          </a:xfrm>
        </p:spPr>
        <p:txBody>
          <a:bodyPr/>
          <a:lstStyle/>
          <a:p>
            <a:r>
              <a:rPr lang="ja-JP" altLang="en-US" sz="2400" b="1" dirty="0"/>
              <a:t>センサで観測</a:t>
            </a:r>
            <a:endParaRPr lang="en-US" altLang="ja-JP" sz="2400" b="1" dirty="0"/>
          </a:p>
          <a:p>
            <a:pPr marL="342892" lvl="1" indent="0">
              <a:buNone/>
            </a:pPr>
            <a:r>
              <a:rPr lang="ja-JP" altLang="en-US" sz="2200" dirty="0"/>
              <a:t>周囲の環境を</a:t>
            </a:r>
            <a:br>
              <a:rPr lang="en-US" altLang="ja-JP" sz="2200" dirty="0"/>
            </a:br>
            <a:r>
              <a:rPr lang="ja-JP" altLang="en-US" sz="2200" dirty="0"/>
              <a:t>把握する</a:t>
            </a:r>
            <a:endParaRPr lang="en-US" altLang="ja-JP" sz="2200" dirty="0"/>
          </a:p>
          <a:p>
            <a:pPr lvl="1"/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596246-4994-E686-DC23-C70B6296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B325A85-B012-14D1-80C5-2CD06730BA5B}"/>
              </a:ext>
            </a:extLst>
          </p:cNvPr>
          <p:cNvSpPr txBox="1">
            <a:spLocks/>
          </p:cNvSpPr>
          <p:nvPr/>
        </p:nvSpPr>
        <p:spPr>
          <a:xfrm>
            <a:off x="3354179" y="1860949"/>
            <a:ext cx="2513747" cy="386357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游ゴシック Medium" panose="020B0500000000000000" pitchFamily="50" charset="-128"/>
              <a:buChar char="-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b="1" dirty="0"/>
              <a:t>地図の作成</a:t>
            </a:r>
            <a:endParaRPr lang="en-US" altLang="ja-JP" sz="2400" b="1" dirty="0"/>
          </a:p>
          <a:p>
            <a:pPr marL="342892" lvl="1" indent="0">
              <a:buNone/>
            </a:pPr>
            <a:r>
              <a:rPr lang="ja-JP" altLang="en-US" sz="2200" dirty="0"/>
              <a:t>情報を蓄積して</a:t>
            </a:r>
            <a:br>
              <a:rPr lang="en-US" altLang="ja-JP" sz="2200" dirty="0"/>
            </a:br>
            <a:r>
              <a:rPr lang="ja-JP" altLang="en-US" sz="2200" dirty="0"/>
              <a:t>整理する</a:t>
            </a:r>
            <a:endParaRPr lang="en-US" altLang="ja-JP" sz="2200" dirty="0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92D1F7D-0D2F-121B-B950-C72A39F58C03}"/>
              </a:ext>
            </a:extLst>
          </p:cNvPr>
          <p:cNvSpPr txBox="1">
            <a:spLocks/>
          </p:cNvSpPr>
          <p:nvPr/>
        </p:nvSpPr>
        <p:spPr>
          <a:xfrm>
            <a:off x="6069471" y="1874153"/>
            <a:ext cx="2801574" cy="386357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游ゴシック Medium" panose="020B0500000000000000" pitchFamily="50" charset="-128"/>
              <a:buChar char="-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b="1" dirty="0"/>
              <a:t>自己位置推定</a:t>
            </a:r>
            <a:endParaRPr lang="en-US" altLang="ja-JP" sz="2400" b="1" dirty="0"/>
          </a:p>
          <a:p>
            <a:pPr marL="342892" lvl="1" indent="0">
              <a:buNone/>
            </a:pPr>
            <a:r>
              <a:rPr lang="ja-JP" altLang="en-US" sz="2200" dirty="0"/>
              <a:t>自分が地図のどこにいるか考える</a:t>
            </a:r>
            <a:endParaRPr lang="en-US" altLang="ja-JP" sz="2200" dirty="0"/>
          </a:p>
        </p:txBody>
      </p:sp>
      <p:pic>
        <p:nvPicPr>
          <p:cNvPr id="10" name="図 9" descr="時計, 部屋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6A3346A-E407-03AB-66BA-44F6033C3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17" y="3243013"/>
            <a:ext cx="2481513" cy="2481513"/>
          </a:xfrm>
          <a:prstGeom prst="rect">
            <a:avLst/>
          </a:prstGeom>
        </p:spPr>
      </p:pic>
      <p:pic>
        <p:nvPicPr>
          <p:cNvPr id="14" name="図 13" descr="おもちゃ, レゴ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AE4A71C-B44C-AB58-4BC3-A41CDD0E5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175" y="3354348"/>
            <a:ext cx="2383382" cy="2383382"/>
          </a:xfrm>
          <a:prstGeom prst="rect">
            <a:avLst/>
          </a:prstGeom>
        </p:spPr>
      </p:pic>
      <p:pic>
        <p:nvPicPr>
          <p:cNvPr id="17" name="図 16" descr="テーブル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0D0A744-0870-0293-AF41-1AC4FE09C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35"/>
          <a:stretch/>
        </p:blipFill>
        <p:spPr>
          <a:xfrm>
            <a:off x="6199834" y="3429001"/>
            <a:ext cx="2483750" cy="210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22B900-8E66-B591-404D-8A007B32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7953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b="1" kern="1200">
                <a:latin typeface="+mj-lt"/>
                <a:ea typeface="+mj-ea"/>
                <a:cs typeface="+mj-cs"/>
              </a:rPr>
              <a:t>従来の問題と目的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F76C7E-D494-02B4-5ED1-E42FD6F90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68" y="1341438"/>
            <a:ext cx="3868340" cy="40202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ja-JP" altLang="en-US" sz="2400" dirty="0"/>
              <a:t>従来の</a:t>
            </a:r>
            <a:r>
              <a:rPr lang="en-US" altLang="ja-JP" sz="2400" dirty="0"/>
              <a:t>SLAM</a:t>
            </a:r>
            <a:r>
              <a:rPr lang="ja-JP" altLang="en-US" sz="2400" dirty="0"/>
              <a:t>の手法</a:t>
            </a:r>
            <a:endParaRPr lang="en-US" altLang="ja-JP" sz="2400" dirty="0"/>
          </a:p>
          <a:p>
            <a:pPr lvl="1"/>
            <a:r>
              <a:rPr lang="en-US" altLang="ja-JP" sz="2200" dirty="0"/>
              <a:t>LiDAR-SLAM</a:t>
            </a:r>
          </a:p>
          <a:p>
            <a:pPr lvl="2"/>
            <a:r>
              <a:rPr lang="ja-JP" altLang="en-US" sz="1800" dirty="0"/>
              <a:t>〇高精度な距離計測が可能</a:t>
            </a:r>
            <a:endParaRPr lang="en-US" altLang="ja-JP" sz="1800" dirty="0"/>
          </a:p>
          <a:p>
            <a:pPr lvl="2"/>
            <a:r>
              <a:rPr lang="en-US" altLang="ja-JP" sz="1800" dirty="0"/>
              <a:t>×</a:t>
            </a:r>
            <a:r>
              <a:rPr lang="ja-JP" altLang="en-US" sz="1800" dirty="0"/>
              <a:t>装置が高価・重量・消費電力が大きい</a:t>
            </a:r>
            <a:endParaRPr lang="en-US" altLang="ja-JP" sz="1800" dirty="0"/>
          </a:p>
          <a:p>
            <a:pPr lvl="1"/>
            <a:r>
              <a:rPr lang="ja-JP" altLang="en-US" sz="2200" b="1" dirty="0"/>
              <a:t>単眼</a:t>
            </a:r>
            <a:r>
              <a:rPr lang="en-US" altLang="ja-JP" sz="2200" b="1" dirty="0"/>
              <a:t>/</a:t>
            </a:r>
            <a:r>
              <a:rPr lang="ja-JP" altLang="en-US" sz="2200" b="1" dirty="0"/>
              <a:t>ステレオカメラ</a:t>
            </a:r>
            <a:r>
              <a:rPr lang="en-US" altLang="ja-JP" sz="2200" b="1" dirty="0"/>
              <a:t>SLAM</a:t>
            </a:r>
          </a:p>
          <a:p>
            <a:pPr lvl="2"/>
            <a:r>
              <a:rPr lang="ja-JP" altLang="en-US" sz="1800" dirty="0"/>
              <a:t>〇安価で軽量、設置自由度が高い</a:t>
            </a:r>
            <a:endParaRPr lang="en-US" altLang="ja-JP" sz="1800" dirty="0"/>
          </a:p>
          <a:p>
            <a:pPr lvl="2"/>
            <a:r>
              <a:rPr lang="en-US" altLang="ja-JP" sz="1800" dirty="0"/>
              <a:t>×</a:t>
            </a:r>
            <a:r>
              <a:rPr lang="ja-JP" altLang="en-US" sz="1800" dirty="0">
                <a:solidFill>
                  <a:srgbClr val="FF0000"/>
                </a:solidFill>
              </a:rPr>
              <a:t>視野が狭く</a:t>
            </a:r>
            <a:r>
              <a:rPr lang="en-US" altLang="ja-JP" sz="1800" dirty="0">
                <a:solidFill>
                  <a:srgbClr val="FF0000"/>
                </a:solidFill>
              </a:rPr>
              <a:t>, </a:t>
            </a:r>
            <a:r>
              <a:rPr lang="ja-JP" altLang="en-US" sz="1800" dirty="0">
                <a:solidFill>
                  <a:srgbClr val="FF0000"/>
                </a:solidFill>
              </a:rPr>
              <a:t>特徴点が少ない環境で精度が低下</a:t>
            </a:r>
            <a:endParaRPr lang="en-US" altLang="ja-JP" sz="1800" dirty="0">
              <a:solidFill>
                <a:srgbClr val="FF0000"/>
              </a:solidFill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A0BF2723-7D02-C6C8-942F-595A5CAE546D}"/>
              </a:ext>
            </a:extLst>
          </p:cNvPr>
          <p:cNvSpPr txBox="1">
            <a:spLocks/>
          </p:cNvSpPr>
          <p:nvPr/>
        </p:nvSpPr>
        <p:spPr>
          <a:xfrm>
            <a:off x="4626769" y="1341441"/>
            <a:ext cx="3887391" cy="6470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游ゴシック Medium" panose="020B0500000000000000" pitchFamily="50" charset="-128"/>
              <a:buChar char="-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</a:pPr>
            <a:endParaRPr kumimoji="1" lang="ja-JP" altLang="en-US" sz="1800" b="1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図 5" descr="市, 道路, 眺め, 跡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DC6B848-922B-BA04-B3D7-63B14FFD3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09" t="15419" r="34350"/>
          <a:stretch/>
        </p:blipFill>
        <p:spPr>
          <a:xfrm>
            <a:off x="4769181" y="1341438"/>
            <a:ext cx="3868340" cy="4020232"/>
          </a:xfrm>
          <a:prstGeom prst="rect">
            <a:avLst/>
          </a:prstGeom>
          <a:noFill/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738E34-18D5-1556-F915-C7736F2C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433" y="3"/>
            <a:ext cx="1121569" cy="796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450"/>
              </a:spcAft>
            </a:pPr>
            <a:fld id="{36CC8B87-28FD-40C1-8BEA-A488324BDA2F}" type="slidenum">
              <a:rPr kumimoji="1" lang="ja-JP" altLang="en-US" smtClean="0"/>
              <a:pPr>
                <a:spcAft>
                  <a:spcPts val="450"/>
                </a:spcAft>
              </a:pPr>
              <a:t>4</a:t>
            </a:fld>
            <a:endParaRPr kumimoji="1" lang="ja-JP" altLang="en-US" dirty="0"/>
          </a:p>
        </p:txBody>
      </p:sp>
      <p:sp>
        <p:nvSpPr>
          <p:cNvPr id="5" name="コンテンツ プレースホルダー 1">
            <a:extLst>
              <a:ext uri="{FF2B5EF4-FFF2-40B4-BE49-F238E27FC236}">
                <a16:creationId xmlns:a16="http://schemas.microsoft.com/office/drawing/2014/main" id="{1B2F6CCF-679C-F732-3CAF-2D87EF573B3E}"/>
              </a:ext>
            </a:extLst>
          </p:cNvPr>
          <p:cNvSpPr txBox="1">
            <a:spLocks/>
          </p:cNvSpPr>
          <p:nvPr/>
        </p:nvSpPr>
        <p:spPr>
          <a:xfrm>
            <a:off x="629841" y="5725237"/>
            <a:ext cx="10515600" cy="6143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游ゴシック Medium" panose="020B0500000000000000" pitchFamily="50" charset="-128"/>
              <a:buChar char="-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b="1" dirty="0"/>
              <a:t>超広角カメラによる精度の高い</a:t>
            </a:r>
            <a:r>
              <a:rPr lang="en-US" altLang="ja-JP" sz="2800" b="1" dirty="0"/>
              <a:t>SLAM</a:t>
            </a:r>
            <a:r>
              <a:rPr lang="ja-JP" altLang="en-US" sz="2800" b="1" dirty="0"/>
              <a:t>を目指す</a:t>
            </a:r>
          </a:p>
          <a:p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90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5B0217-AEAB-2091-AC1D-8AD8B64B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ハードウェア構成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12CE58-DC6D-E37F-433E-2A344E12DA6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3100" b="1" dirty="0"/>
              <a:t>全体構成</a:t>
            </a:r>
            <a:endParaRPr lang="en-US" altLang="ja-JP" sz="3100" b="1" dirty="0"/>
          </a:p>
          <a:p>
            <a:pPr lvl="1">
              <a:lnSpc>
                <a:spcPct val="150000"/>
              </a:lnSpc>
            </a:pPr>
            <a:r>
              <a:rPr lang="en-US" altLang="ja-JP" sz="2800" dirty="0" err="1"/>
              <a:t>JetsonAGXOrin</a:t>
            </a:r>
            <a:endParaRPr lang="en-US" altLang="ja-JP" sz="2800" dirty="0"/>
          </a:p>
          <a:p>
            <a:pPr lvl="1">
              <a:lnSpc>
                <a:spcPct val="150000"/>
              </a:lnSpc>
            </a:pPr>
            <a:r>
              <a:rPr lang="ja-JP" altLang="en-US" sz="2800" dirty="0"/>
              <a:t>魚眼カメラ*</a:t>
            </a:r>
            <a:r>
              <a:rPr lang="en-US" altLang="ja-JP" sz="2800" dirty="0"/>
              <a:t>4</a:t>
            </a:r>
          </a:p>
          <a:p>
            <a:pPr lvl="1">
              <a:lnSpc>
                <a:spcPct val="150000"/>
              </a:lnSpc>
            </a:pPr>
            <a:r>
              <a:rPr lang="en-US" altLang="ja-JP" sz="2800" dirty="0"/>
              <a:t>3D</a:t>
            </a:r>
            <a:r>
              <a:rPr lang="ja-JP" altLang="en-US" sz="2800" dirty="0"/>
              <a:t>プリントしたカメラフレーム</a:t>
            </a:r>
            <a:endParaRPr lang="en-US" altLang="ja-JP" sz="2800" dirty="0"/>
          </a:p>
          <a:p>
            <a:pPr>
              <a:lnSpc>
                <a:spcPct val="150000"/>
              </a:lnSpc>
            </a:pPr>
            <a:r>
              <a:rPr lang="en-US" altLang="ja-JP" sz="3100" dirty="0"/>
              <a:t>Jetson AGX Orin</a:t>
            </a:r>
          </a:p>
          <a:p>
            <a:pPr lvl="1">
              <a:lnSpc>
                <a:spcPct val="150000"/>
              </a:lnSpc>
            </a:pPr>
            <a:r>
              <a:rPr lang="ja-JP" altLang="en-US" sz="2600" dirty="0"/>
              <a:t>小型で高性能な組み込み</a:t>
            </a:r>
            <a:r>
              <a:rPr lang="en-US" altLang="ja-JP" sz="2600" dirty="0"/>
              <a:t>AI</a:t>
            </a:r>
            <a:br>
              <a:rPr lang="en-US" altLang="ja-JP" sz="2600" dirty="0"/>
            </a:br>
            <a:r>
              <a:rPr lang="ja-JP" altLang="en-US" sz="2600" dirty="0"/>
              <a:t>コンピューティングプラットフォーム</a:t>
            </a:r>
            <a:endParaRPr lang="en-US" altLang="ja-JP" sz="2600" dirty="0"/>
          </a:p>
          <a:p>
            <a:pPr>
              <a:lnSpc>
                <a:spcPct val="150000"/>
              </a:lnSpc>
            </a:pPr>
            <a:r>
              <a:rPr lang="ja-JP" altLang="en-US" sz="2800" dirty="0"/>
              <a:t>魚眼カメラ</a:t>
            </a:r>
            <a:endParaRPr lang="en-US" altLang="ja-JP" sz="2800" dirty="0"/>
          </a:p>
          <a:p>
            <a:pPr lvl="1">
              <a:lnSpc>
                <a:spcPct val="150000"/>
              </a:lnSpc>
            </a:pPr>
            <a:r>
              <a:rPr lang="en-US" altLang="ja-JP" sz="2800" dirty="0"/>
              <a:t>220°</a:t>
            </a:r>
            <a:r>
              <a:rPr lang="ja-JP" altLang="en-US" sz="2800" dirty="0"/>
              <a:t>の視野角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FoV</a:t>
            </a:r>
            <a:r>
              <a:rPr lang="en-US" altLang="ja-JP" sz="2800" dirty="0"/>
              <a:t>) </a:t>
            </a:r>
            <a:r>
              <a:rPr lang="ja-JP" altLang="en-US" sz="2800" dirty="0"/>
              <a:t>を持つ</a:t>
            </a:r>
            <a:endParaRPr lang="en-US" altLang="ja-JP" sz="2800" dirty="0"/>
          </a:p>
          <a:p>
            <a:pPr lvl="1">
              <a:lnSpc>
                <a:spcPct val="150000"/>
              </a:lnSpc>
            </a:pPr>
            <a:r>
              <a:rPr lang="en-US" altLang="ja-JP" sz="2800" dirty="0"/>
              <a:t>2</a:t>
            </a:r>
            <a:r>
              <a:rPr lang="ja-JP" altLang="en-US" sz="2800" dirty="0"/>
              <a:t>台のカメラで視野全体をカバーする</a:t>
            </a:r>
            <a:endParaRPr lang="en-US" altLang="ja-JP" sz="2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28B81A-0DE4-FB4F-17BD-84F5FDF3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  <p:pic>
        <p:nvPicPr>
          <p:cNvPr id="6" name="図 5" descr="屋内, テーブル, 座る, 小さい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85771ED-1203-31A1-20EC-CD66C4007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068" y="1587997"/>
            <a:ext cx="2681282" cy="335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7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部分円 45">
            <a:extLst>
              <a:ext uri="{FF2B5EF4-FFF2-40B4-BE49-F238E27FC236}">
                <a16:creationId xmlns:a16="http://schemas.microsoft.com/office/drawing/2014/main" id="{E84E4C27-1516-F906-AC56-3AE1F2E41B8F}"/>
              </a:ext>
            </a:extLst>
          </p:cNvPr>
          <p:cNvSpPr/>
          <p:nvPr/>
        </p:nvSpPr>
        <p:spPr>
          <a:xfrm>
            <a:off x="168019" y="2253617"/>
            <a:ext cx="942932" cy="905063"/>
          </a:xfrm>
          <a:prstGeom prst="pie">
            <a:avLst>
              <a:gd name="adj1" fmla="val 0"/>
              <a:gd name="adj2" fmla="val 54330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C1BB6E5-1C62-0D11-9C49-BF43327E0BE9}"/>
              </a:ext>
            </a:extLst>
          </p:cNvPr>
          <p:cNvSpPr/>
          <p:nvPr/>
        </p:nvSpPr>
        <p:spPr>
          <a:xfrm>
            <a:off x="1092533" y="4531009"/>
            <a:ext cx="486652" cy="827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F204F6-9323-8C27-DA78-512A838E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魚眼カメラのカラー画像を深さ画像に変換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52BA33-9667-3CEA-61D1-A92C9269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66A682E-37EA-6EE7-8C7A-0255062A7392}"/>
              </a:ext>
            </a:extLst>
          </p:cNvPr>
          <p:cNvGrpSpPr/>
          <p:nvPr/>
        </p:nvGrpSpPr>
        <p:grpSpPr>
          <a:xfrm>
            <a:off x="2389288" y="3750507"/>
            <a:ext cx="1137062" cy="1163209"/>
            <a:chOff x="5664122" y="3576219"/>
            <a:chExt cx="1586716" cy="1585381"/>
          </a:xfrm>
        </p:grpSpPr>
        <p:sp>
          <p:nvSpPr>
            <p:cNvPr id="5" name="部分円 4">
              <a:extLst>
                <a:ext uri="{FF2B5EF4-FFF2-40B4-BE49-F238E27FC236}">
                  <a16:creationId xmlns:a16="http://schemas.microsoft.com/office/drawing/2014/main" id="{38C0608D-E9C5-71F0-A0E4-9FF2280E8E95}"/>
                </a:ext>
              </a:extLst>
            </p:cNvPr>
            <p:cNvSpPr/>
            <p:nvPr/>
          </p:nvSpPr>
          <p:spPr>
            <a:xfrm rot="21447112">
              <a:off x="6135858" y="3576219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6" name="部分円 5">
              <a:extLst>
                <a:ext uri="{FF2B5EF4-FFF2-40B4-BE49-F238E27FC236}">
                  <a16:creationId xmlns:a16="http://schemas.microsoft.com/office/drawing/2014/main" id="{53BCBA0E-2458-034A-659C-64DCFB430070}"/>
                </a:ext>
              </a:extLst>
            </p:cNvPr>
            <p:cNvSpPr/>
            <p:nvPr/>
          </p:nvSpPr>
          <p:spPr>
            <a:xfrm rot="5400000">
              <a:off x="6599882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7" name="部分円 6">
              <a:extLst>
                <a:ext uri="{FF2B5EF4-FFF2-40B4-BE49-F238E27FC236}">
                  <a16:creationId xmlns:a16="http://schemas.microsoft.com/office/drawing/2014/main" id="{254A911A-3FEB-AD83-CA97-4C8BE62AA9D1}"/>
                </a:ext>
              </a:extLst>
            </p:cNvPr>
            <p:cNvSpPr/>
            <p:nvPr/>
          </p:nvSpPr>
          <p:spPr>
            <a:xfrm rot="16200000">
              <a:off x="5665009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8" name="ひし形 7">
              <a:extLst>
                <a:ext uri="{FF2B5EF4-FFF2-40B4-BE49-F238E27FC236}">
                  <a16:creationId xmlns:a16="http://schemas.microsoft.com/office/drawing/2014/main" id="{364C9FA7-7009-1E70-8D37-E7ED6EEAC2D7}"/>
                </a:ext>
              </a:extLst>
            </p:cNvPr>
            <p:cNvSpPr/>
            <p:nvPr/>
          </p:nvSpPr>
          <p:spPr>
            <a:xfrm>
              <a:off x="6003693" y="3917154"/>
              <a:ext cx="914400" cy="914400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350"/>
            </a:p>
          </p:txBody>
        </p:sp>
        <p:sp>
          <p:nvSpPr>
            <p:cNvPr id="9" name="部分円 8">
              <a:extLst>
                <a:ext uri="{FF2B5EF4-FFF2-40B4-BE49-F238E27FC236}">
                  <a16:creationId xmlns:a16="http://schemas.microsoft.com/office/drawing/2014/main" id="{B5E4C5CC-BBC8-49AE-AA7E-F52ADA84D445}"/>
                </a:ext>
              </a:extLst>
            </p:cNvPr>
            <p:cNvSpPr/>
            <p:nvPr/>
          </p:nvSpPr>
          <p:spPr>
            <a:xfrm rot="10800000">
              <a:off x="6137767" y="4509757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4B6588-B3C7-8EB8-3306-34D54FAE8539}"/>
              </a:ext>
            </a:extLst>
          </p:cNvPr>
          <p:cNvSpPr/>
          <p:nvPr/>
        </p:nvSpPr>
        <p:spPr>
          <a:xfrm>
            <a:off x="634370" y="2698153"/>
            <a:ext cx="4787873" cy="2813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57EB895-03F9-3B81-B51A-9B92EA5B241C}"/>
              </a:ext>
            </a:extLst>
          </p:cNvPr>
          <p:cNvSpPr txBox="1"/>
          <p:nvPr/>
        </p:nvSpPr>
        <p:spPr>
          <a:xfrm>
            <a:off x="1047877" y="3490901"/>
            <a:ext cx="1584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魚眼カメラ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E37C994-1FD8-D18A-45CC-A4AACE274341}"/>
              </a:ext>
            </a:extLst>
          </p:cNvPr>
          <p:cNvSpPr/>
          <p:nvPr/>
        </p:nvSpPr>
        <p:spPr>
          <a:xfrm>
            <a:off x="629842" y="1727600"/>
            <a:ext cx="8470616" cy="135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668F25F-7CF0-82D5-86D7-6A080F37DC6E}"/>
              </a:ext>
            </a:extLst>
          </p:cNvPr>
          <p:cNvSpPr/>
          <p:nvPr/>
        </p:nvSpPr>
        <p:spPr>
          <a:xfrm>
            <a:off x="3679296" y="3894476"/>
            <a:ext cx="228443" cy="203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DEEC2409-34C0-177D-29D3-F29D3B939B06}"/>
              </a:ext>
            </a:extLst>
          </p:cNvPr>
          <p:cNvSpPr txBox="1"/>
          <p:nvPr/>
        </p:nvSpPr>
        <p:spPr>
          <a:xfrm>
            <a:off x="5488873" y="1863330"/>
            <a:ext cx="800219" cy="73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b="1" dirty="0"/>
              <a:t>手順</a:t>
            </a:r>
            <a:endParaRPr lang="en-US" altLang="ja-JP" sz="2400" b="1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69A20C9-9742-E1A4-11E6-6533174C8BF6}"/>
              </a:ext>
            </a:extLst>
          </p:cNvPr>
          <p:cNvCxnSpPr>
            <a:cxnSpLocks/>
          </p:cNvCxnSpPr>
          <p:nvPr/>
        </p:nvCxnSpPr>
        <p:spPr>
          <a:xfrm>
            <a:off x="2389288" y="3740387"/>
            <a:ext cx="394855" cy="67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26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B38A-B2C0-9957-2832-D2F8CF84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部分円 45">
            <a:extLst>
              <a:ext uri="{FF2B5EF4-FFF2-40B4-BE49-F238E27FC236}">
                <a16:creationId xmlns:a16="http://schemas.microsoft.com/office/drawing/2014/main" id="{2A1B3FDF-5FC4-F97B-0D18-1D52C18D966C}"/>
              </a:ext>
            </a:extLst>
          </p:cNvPr>
          <p:cNvSpPr/>
          <p:nvPr/>
        </p:nvSpPr>
        <p:spPr>
          <a:xfrm>
            <a:off x="168019" y="2253617"/>
            <a:ext cx="942932" cy="905063"/>
          </a:xfrm>
          <a:prstGeom prst="pie">
            <a:avLst>
              <a:gd name="adj1" fmla="val 0"/>
              <a:gd name="adj2" fmla="val 54330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1242A0E-4549-1D80-325B-ABF93936F966}"/>
              </a:ext>
            </a:extLst>
          </p:cNvPr>
          <p:cNvSpPr/>
          <p:nvPr/>
        </p:nvSpPr>
        <p:spPr>
          <a:xfrm>
            <a:off x="1092533" y="4531009"/>
            <a:ext cx="486652" cy="827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030F4F3-A380-19FF-6028-0C23CF86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魚眼カメラのカラー画像を深さ画像に変換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71178D-804E-596A-A4A3-04E5A358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869887E-4CDE-3E3B-7AF1-194A878865BC}"/>
              </a:ext>
            </a:extLst>
          </p:cNvPr>
          <p:cNvGrpSpPr/>
          <p:nvPr/>
        </p:nvGrpSpPr>
        <p:grpSpPr>
          <a:xfrm>
            <a:off x="2389288" y="3750507"/>
            <a:ext cx="1137062" cy="1163209"/>
            <a:chOff x="5664122" y="3576219"/>
            <a:chExt cx="1586716" cy="1585381"/>
          </a:xfrm>
        </p:grpSpPr>
        <p:sp>
          <p:nvSpPr>
            <p:cNvPr id="5" name="部分円 4">
              <a:extLst>
                <a:ext uri="{FF2B5EF4-FFF2-40B4-BE49-F238E27FC236}">
                  <a16:creationId xmlns:a16="http://schemas.microsoft.com/office/drawing/2014/main" id="{D1CF376F-3C0F-62E7-2B44-8AE42AD7A071}"/>
                </a:ext>
              </a:extLst>
            </p:cNvPr>
            <p:cNvSpPr/>
            <p:nvPr/>
          </p:nvSpPr>
          <p:spPr>
            <a:xfrm rot="21447112">
              <a:off x="6135858" y="3576219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rgbClr val="0070C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6" name="部分円 5">
              <a:extLst>
                <a:ext uri="{FF2B5EF4-FFF2-40B4-BE49-F238E27FC236}">
                  <a16:creationId xmlns:a16="http://schemas.microsoft.com/office/drawing/2014/main" id="{4CBCAC7E-DDEF-7C6A-60F5-98195BFD6AED}"/>
                </a:ext>
              </a:extLst>
            </p:cNvPr>
            <p:cNvSpPr/>
            <p:nvPr/>
          </p:nvSpPr>
          <p:spPr>
            <a:xfrm rot="5400000">
              <a:off x="6599882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7" name="部分円 6">
              <a:extLst>
                <a:ext uri="{FF2B5EF4-FFF2-40B4-BE49-F238E27FC236}">
                  <a16:creationId xmlns:a16="http://schemas.microsoft.com/office/drawing/2014/main" id="{39B289A4-1627-F762-BA7D-98450803F0E8}"/>
                </a:ext>
              </a:extLst>
            </p:cNvPr>
            <p:cNvSpPr/>
            <p:nvPr/>
          </p:nvSpPr>
          <p:spPr>
            <a:xfrm rot="16200000">
              <a:off x="5665009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8" name="ひし形 7">
              <a:extLst>
                <a:ext uri="{FF2B5EF4-FFF2-40B4-BE49-F238E27FC236}">
                  <a16:creationId xmlns:a16="http://schemas.microsoft.com/office/drawing/2014/main" id="{09472D1E-BAE0-7D4A-210D-022CA455AF2B}"/>
                </a:ext>
              </a:extLst>
            </p:cNvPr>
            <p:cNvSpPr/>
            <p:nvPr/>
          </p:nvSpPr>
          <p:spPr>
            <a:xfrm>
              <a:off x="6003693" y="3917154"/>
              <a:ext cx="914400" cy="914400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350"/>
            </a:p>
          </p:txBody>
        </p:sp>
        <p:sp>
          <p:nvSpPr>
            <p:cNvPr id="9" name="部分円 8">
              <a:extLst>
                <a:ext uri="{FF2B5EF4-FFF2-40B4-BE49-F238E27FC236}">
                  <a16:creationId xmlns:a16="http://schemas.microsoft.com/office/drawing/2014/main" id="{73A3DBB1-662A-0B09-382A-713B0887EEB1}"/>
                </a:ext>
              </a:extLst>
            </p:cNvPr>
            <p:cNvSpPr/>
            <p:nvPr/>
          </p:nvSpPr>
          <p:spPr>
            <a:xfrm rot="10800000">
              <a:off x="6137767" y="4509757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2CE981D-738E-CC5F-364A-8A74E57591DF}"/>
              </a:ext>
            </a:extLst>
          </p:cNvPr>
          <p:cNvSpPr/>
          <p:nvPr/>
        </p:nvSpPr>
        <p:spPr>
          <a:xfrm>
            <a:off x="634370" y="2698153"/>
            <a:ext cx="4787873" cy="2813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4B62F53-ACD5-6A5D-10AD-A9F0B4CC9CF4}"/>
              </a:ext>
            </a:extLst>
          </p:cNvPr>
          <p:cNvSpPr txBox="1"/>
          <p:nvPr/>
        </p:nvSpPr>
        <p:spPr>
          <a:xfrm>
            <a:off x="1861811" y="3665746"/>
            <a:ext cx="11869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50" dirty="0">
                <a:solidFill>
                  <a:srgbClr val="0070C0"/>
                </a:solidFill>
              </a:rPr>
              <a:t>基準カメラ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C23B511-C84E-7B9D-EFEB-B1FF8CD98651}"/>
              </a:ext>
            </a:extLst>
          </p:cNvPr>
          <p:cNvSpPr/>
          <p:nvPr/>
        </p:nvSpPr>
        <p:spPr>
          <a:xfrm>
            <a:off x="629842" y="1727600"/>
            <a:ext cx="8470616" cy="135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ECF483A-FC23-F105-BDFA-CF5863BF74EE}"/>
              </a:ext>
            </a:extLst>
          </p:cNvPr>
          <p:cNvSpPr/>
          <p:nvPr/>
        </p:nvSpPr>
        <p:spPr>
          <a:xfrm>
            <a:off x="3679296" y="3894476"/>
            <a:ext cx="228443" cy="203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755067C-A3D9-DC2C-D1CF-3FDD60483552}"/>
              </a:ext>
            </a:extLst>
          </p:cNvPr>
          <p:cNvSpPr txBox="1"/>
          <p:nvPr/>
        </p:nvSpPr>
        <p:spPr>
          <a:xfrm>
            <a:off x="5488873" y="1863330"/>
            <a:ext cx="800219" cy="73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b="1" dirty="0"/>
              <a:t>手順</a:t>
            </a:r>
            <a:endParaRPr lang="en-US" altLang="ja-JP" sz="2400" b="1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091EE65-496E-D114-2B3F-537CF2AC5C84}"/>
              </a:ext>
            </a:extLst>
          </p:cNvPr>
          <p:cNvCxnSpPr>
            <a:cxnSpLocks/>
          </p:cNvCxnSpPr>
          <p:nvPr/>
        </p:nvCxnSpPr>
        <p:spPr>
          <a:xfrm flipV="1">
            <a:off x="2960267" y="3837715"/>
            <a:ext cx="175841" cy="1629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AB0D63D-23AB-96E8-1822-7814810E3830}"/>
              </a:ext>
            </a:extLst>
          </p:cNvPr>
          <p:cNvCxnSpPr>
            <a:cxnSpLocks/>
          </p:cNvCxnSpPr>
          <p:nvPr/>
        </p:nvCxnSpPr>
        <p:spPr>
          <a:xfrm flipV="1">
            <a:off x="2960269" y="1885953"/>
            <a:ext cx="2283247" cy="2114699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0850-27E5-64C6-80D3-B15302C0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部分円 45">
            <a:extLst>
              <a:ext uri="{FF2B5EF4-FFF2-40B4-BE49-F238E27FC236}">
                <a16:creationId xmlns:a16="http://schemas.microsoft.com/office/drawing/2014/main" id="{16B93146-9B2C-8411-1D5A-601F4D5F32C9}"/>
              </a:ext>
            </a:extLst>
          </p:cNvPr>
          <p:cNvSpPr/>
          <p:nvPr/>
        </p:nvSpPr>
        <p:spPr>
          <a:xfrm>
            <a:off x="168019" y="2253617"/>
            <a:ext cx="942932" cy="905063"/>
          </a:xfrm>
          <a:prstGeom prst="pie">
            <a:avLst>
              <a:gd name="adj1" fmla="val 0"/>
              <a:gd name="adj2" fmla="val 54330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484FF2B-D289-ADA9-DBE5-721D585B23A6}"/>
              </a:ext>
            </a:extLst>
          </p:cNvPr>
          <p:cNvSpPr/>
          <p:nvPr/>
        </p:nvSpPr>
        <p:spPr>
          <a:xfrm>
            <a:off x="1092533" y="4531009"/>
            <a:ext cx="486652" cy="827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E7E653-B0C5-C582-2BF1-2DF0C0D6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魚眼カメラのカラー画像を深さ画像に変換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453349-DEBC-4942-3795-4A0E813F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8</a:t>
            </a:fld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FADC041-149E-0061-ADD3-45B13DAA7553}"/>
              </a:ext>
            </a:extLst>
          </p:cNvPr>
          <p:cNvGrpSpPr/>
          <p:nvPr/>
        </p:nvGrpSpPr>
        <p:grpSpPr>
          <a:xfrm>
            <a:off x="2389288" y="3750507"/>
            <a:ext cx="1137062" cy="1163209"/>
            <a:chOff x="5664122" y="3576219"/>
            <a:chExt cx="1586716" cy="1585381"/>
          </a:xfrm>
        </p:grpSpPr>
        <p:sp>
          <p:nvSpPr>
            <p:cNvPr id="5" name="部分円 4">
              <a:extLst>
                <a:ext uri="{FF2B5EF4-FFF2-40B4-BE49-F238E27FC236}">
                  <a16:creationId xmlns:a16="http://schemas.microsoft.com/office/drawing/2014/main" id="{9887A08A-D002-975A-7501-2FBF50BF726D}"/>
                </a:ext>
              </a:extLst>
            </p:cNvPr>
            <p:cNvSpPr/>
            <p:nvPr/>
          </p:nvSpPr>
          <p:spPr>
            <a:xfrm rot="21447112">
              <a:off x="6135858" y="3576219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rgbClr val="0070C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6" name="部分円 5">
              <a:extLst>
                <a:ext uri="{FF2B5EF4-FFF2-40B4-BE49-F238E27FC236}">
                  <a16:creationId xmlns:a16="http://schemas.microsoft.com/office/drawing/2014/main" id="{47172F57-0960-D8B9-C381-96C3D76BEF19}"/>
                </a:ext>
              </a:extLst>
            </p:cNvPr>
            <p:cNvSpPr/>
            <p:nvPr/>
          </p:nvSpPr>
          <p:spPr>
            <a:xfrm rot="5400000">
              <a:off x="6599882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7" name="部分円 6">
              <a:extLst>
                <a:ext uri="{FF2B5EF4-FFF2-40B4-BE49-F238E27FC236}">
                  <a16:creationId xmlns:a16="http://schemas.microsoft.com/office/drawing/2014/main" id="{E39B28D2-95FA-820B-545C-99BC242816EF}"/>
                </a:ext>
              </a:extLst>
            </p:cNvPr>
            <p:cNvSpPr/>
            <p:nvPr/>
          </p:nvSpPr>
          <p:spPr>
            <a:xfrm rot="16200000">
              <a:off x="5665009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8" name="ひし形 7">
              <a:extLst>
                <a:ext uri="{FF2B5EF4-FFF2-40B4-BE49-F238E27FC236}">
                  <a16:creationId xmlns:a16="http://schemas.microsoft.com/office/drawing/2014/main" id="{D306BAF8-5823-3AB4-5A4C-06F3CE4466ED}"/>
                </a:ext>
              </a:extLst>
            </p:cNvPr>
            <p:cNvSpPr/>
            <p:nvPr/>
          </p:nvSpPr>
          <p:spPr>
            <a:xfrm>
              <a:off x="6003693" y="3917154"/>
              <a:ext cx="914400" cy="914400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350"/>
            </a:p>
          </p:txBody>
        </p:sp>
        <p:sp>
          <p:nvSpPr>
            <p:cNvPr id="9" name="部分円 8">
              <a:extLst>
                <a:ext uri="{FF2B5EF4-FFF2-40B4-BE49-F238E27FC236}">
                  <a16:creationId xmlns:a16="http://schemas.microsoft.com/office/drawing/2014/main" id="{7E6EC077-B90B-87AE-0E52-2497FE4DAF00}"/>
                </a:ext>
              </a:extLst>
            </p:cNvPr>
            <p:cNvSpPr/>
            <p:nvPr/>
          </p:nvSpPr>
          <p:spPr>
            <a:xfrm rot="10800000">
              <a:off x="6137767" y="4509757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430C6E-E01E-A25A-1000-6E99744691E5}"/>
              </a:ext>
            </a:extLst>
          </p:cNvPr>
          <p:cNvSpPr/>
          <p:nvPr/>
        </p:nvSpPr>
        <p:spPr>
          <a:xfrm>
            <a:off x="634370" y="2698153"/>
            <a:ext cx="4787873" cy="2813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4275B47-F3F5-DEF0-D63B-F7D4737C0DDE}"/>
              </a:ext>
            </a:extLst>
          </p:cNvPr>
          <p:cNvSpPr txBox="1"/>
          <p:nvPr/>
        </p:nvSpPr>
        <p:spPr>
          <a:xfrm>
            <a:off x="1532036" y="3595557"/>
            <a:ext cx="175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70C0"/>
                </a:solidFill>
              </a:rPr>
              <a:t>基準カメラ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7E81EA8-3E00-56EF-05C9-3D951BF2529A}"/>
              </a:ext>
            </a:extLst>
          </p:cNvPr>
          <p:cNvSpPr/>
          <p:nvPr/>
        </p:nvSpPr>
        <p:spPr>
          <a:xfrm>
            <a:off x="629842" y="1727600"/>
            <a:ext cx="8470616" cy="135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AC496FE-5E87-8F57-9958-28CE07582538}"/>
              </a:ext>
            </a:extLst>
          </p:cNvPr>
          <p:cNvSpPr/>
          <p:nvPr/>
        </p:nvSpPr>
        <p:spPr>
          <a:xfrm>
            <a:off x="3679296" y="3894476"/>
            <a:ext cx="228443" cy="203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F6CEFEE-9515-2ED1-73B3-93AC1DD02B9D}"/>
              </a:ext>
            </a:extLst>
          </p:cNvPr>
          <p:cNvCxnSpPr>
            <a:cxnSpLocks/>
          </p:cNvCxnSpPr>
          <p:nvPr/>
        </p:nvCxnSpPr>
        <p:spPr>
          <a:xfrm flipV="1">
            <a:off x="2960269" y="1885953"/>
            <a:ext cx="2283247" cy="2114699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813206D-DA7E-279C-99E2-83DF96B39196}"/>
              </a:ext>
            </a:extLst>
          </p:cNvPr>
          <p:cNvSpPr txBox="1"/>
          <p:nvPr/>
        </p:nvSpPr>
        <p:spPr>
          <a:xfrm>
            <a:off x="5488873" y="1863330"/>
            <a:ext cx="800219" cy="73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b="1" dirty="0"/>
              <a:t>手順</a:t>
            </a:r>
            <a:endParaRPr lang="en-US" altLang="ja-JP" sz="2400" b="1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1E4469A-DD46-D752-B96C-390C5206805C}"/>
              </a:ext>
            </a:extLst>
          </p:cNvPr>
          <p:cNvSpPr/>
          <p:nvPr/>
        </p:nvSpPr>
        <p:spPr>
          <a:xfrm>
            <a:off x="3615231" y="3306832"/>
            <a:ext cx="81527" cy="7863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6BB34CD-DC96-762D-EA14-189CB13506F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960267" y="3837715"/>
            <a:ext cx="175841" cy="1629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7C7F44A-769F-8AF6-6D55-B10901BFAE90}"/>
              </a:ext>
            </a:extLst>
          </p:cNvPr>
          <p:cNvCxnSpPr>
            <a:cxnSpLocks/>
          </p:cNvCxnSpPr>
          <p:nvPr/>
        </p:nvCxnSpPr>
        <p:spPr>
          <a:xfrm flipH="1">
            <a:off x="3287902" y="3346156"/>
            <a:ext cx="368091" cy="98994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B8F566F-1029-3E31-9AB9-C59CB5E2F467}"/>
              </a:ext>
            </a:extLst>
          </p:cNvPr>
          <p:cNvCxnSpPr>
            <a:cxnSpLocks/>
          </p:cNvCxnSpPr>
          <p:nvPr/>
        </p:nvCxnSpPr>
        <p:spPr>
          <a:xfrm flipH="1">
            <a:off x="3292792" y="2359642"/>
            <a:ext cx="1457858" cy="198985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B45463B-2D2D-E588-4B89-026419E8248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287904" y="4097621"/>
            <a:ext cx="91093" cy="2384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10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96296E-6 L 0.11979 -0.147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-736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023 L 0.0056 0.0041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" y="20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2112-A114-1596-0AB3-484793EF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部分円 45">
            <a:extLst>
              <a:ext uri="{FF2B5EF4-FFF2-40B4-BE49-F238E27FC236}">
                <a16:creationId xmlns:a16="http://schemas.microsoft.com/office/drawing/2014/main" id="{ED28DE66-F070-4DCB-FDD2-209AB01FE3FF}"/>
              </a:ext>
            </a:extLst>
          </p:cNvPr>
          <p:cNvSpPr/>
          <p:nvPr/>
        </p:nvSpPr>
        <p:spPr>
          <a:xfrm>
            <a:off x="168019" y="2253617"/>
            <a:ext cx="942932" cy="905063"/>
          </a:xfrm>
          <a:prstGeom prst="pie">
            <a:avLst>
              <a:gd name="adj1" fmla="val 0"/>
              <a:gd name="adj2" fmla="val 54330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1268097-ADF8-C898-2760-C70CF0B08D39}"/>
              </a:ext>
            </a:extLst>
          </p:cNvPr>
          <p:cNvSpPr/>
          <p:nvPr/>
        </p:nvSpPr>
        <p:spPr>
          <a:xfrm>
            <a:off x="1092533" y="4531009"/>
            <a:ext cx="486652" cy="827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6" name="フローチャート: 結合子 25">
            <a:extLst>
              <a:ext uri="{FF2B5EF4-FFF2-40B4-BE49-F238E27FC236}">
                <a16:creationId xmlns:a16="http://schemas.microsoft.com/office/drawing/2014/main" id="{4360256A-2DF0-8251-68C1-B2523481968E}"/>
              </a:ext>
            </a:extLst>
          </p:cNvPr>
          <p:cNvSpPr/>
          <p:nvPr/>
        </p:nvSpPr>
        <p:spPr>
          <a:xfrm>
            <a:off x="584427" y="1651065"/>
            <a:ext cx="4875304" cy="4747020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D82C431-AC4F-85EF-B941-CA6A9173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魚眼カメラのカラー画像を深さ画像に変換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E1C7B1-24F3-EC9D-0449-4646538B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9</a:t>
            </a:fld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BCEEB7D-1F7C-FCDB-34A3-3C7168E0A13D}"/>
              </a:ext>
            </a:extLst>
          </p:cNvPr>
          <p:cNvGrpSpPr/>
          <p:nvPr/>
        </p:nvGrpSpPr>
        <p:grpSpPr>
          <a:xfrm>
            <a:off x="2389288" y="3750507"/>
            <a:ext cx="1137062" cy="1163209"/>
            <a:chOff x="5664122" y="3576219"/>
            <a:chExt cx="1586716" cy="1585381"/>
          </a:xfrm>
        </p:grpSpPr>
        <p:sp>
          <p:nvSpPr>
            <p:cNvPr id="5" name="部分円 4">
              <a:extLst>
                <a:ext uri="{FF2B5EF4-FFF2-40B4-BE49-F238E27FC236}">
                  <a16:creationId xmlns:a16="http://schemas.microsoft.com/office/drawing/2014/main" id="{EBECDEA7-8DD1-F712-4342-AC6DC2F15B74}"/>
                </a:ext>
              </a:extLst>
            </p:cNvPr>
            <p:cNvSpPr/>
            <p:nvPr/>
          </p:nvSpPr>
          <p:spPr>
            <a:xfrm rot="21447112">
              <a:off x="6135858" y="3576219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rgbClr val="0070C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6" name="部分円 5">
              <a:extLst>
                <a:ext uri="{FF2B5EF4-FFF2-40B4-BE49-F238E27FC236}">
                  <a16:creationId xmlns:a16="http://schemas.microsoft.com/office/drawing/2014/main" id="{5B5A9B31-7A2C-0734-CC18-5CF6A80C16E5}"/>
                </a:ext>
              </a:extLst>
            </p:cNvPr>
            <p:cNvSpPr/>
            <p:nvPr/>
          </p:nvSpPr>
          <p:spPr>
            <a:xfrm rot="5400000">
              <a:off x="6599882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7" name="部分円 6">
              <a:extLst>
                <a:ext uri="{FF2B5EF4-FFF2-40B4-BE49-F238E27FC236}">
                  <a16:creationId xmlns:a16="http://schemas.microsoft.com/office/drawing/2014/main" id="{08769D2A-E730-1728-5C59-502E8B4CC6DF}"/>
                </a:ext>
              </a:extLst>
            </p:cNvPr>
            <p:cNvSpPr/>
            <p:nvPr/>
          </p:nvSpPr>
          <p:spPr>
            <a:xfrm rot="16200000">
              <a:off x="5665009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8" name="ひし形 7">
              <a:extLst>
                <a:ext uri="{FF2B5EF4-FFF2-40B4-BE49-F238E27FC236}">
                  <a16:creationId xmlns:a16="http://schemas.microsoft.com/office/drawing/2014/main" id="{E779C437-AD6E-A6C8-DBFE-B341527106D3}"/>
                </a:ext>
              </a:extLst>
            </p:cNvPr>
            <p:cNvSpPr/>
            <p:nvPr/>
          </p:nvSpPr>
          <p:spPr>
            <a:xfrm>
              <a:off x="6003693" y="3917154"/>
              <a:ext cx="914400" cy="914400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350"/>
            </a:p>
          </p:txBody>
        </p:sp>
        <p:sp>
          <p:nvSpPr>
            <p:cNvPr id="9" name="部分円 8">
              <a:extLst>
                <a:ext uri="{FF2B5EF4-FFF2-40B4-BE49-F238E27FC236}">
                  <a16:creationId xmlns:a16="http://schemas.microsoft.com/office/drawing/2014/main" id="{A7726DA4-68C8-B558-9578-217402596D6C}"/>
                </a:ext>
              </a:extLst>
            </p:cNvPr>
            <p:cNvSpPr/>
            <p:nvPr/>
          </p:nvSpPr>
          <p:spPr>
            <a:xfrm rot="10800000">
              <a:off x="6137767" y="4509757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FB8E925-DF0F-A7EB-98B1-76B905FDF24B}"/>
              </a:ext>
            </a:extLst>
          </p:cNvPr>
          <p:cNvSpPr/>
          <p:nvPr/>
        </p:nvSpPr>
        <p:spPr>
          <a:xfrm>
            <a:off x="634370" y="2698153"/>
            <a:ext cx="4787873" cy="2813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2" name="フローチャート: 結合子 21">
            <a:extLst>
              <a:ext uri="{FF2B5EF4-FFF2-40B4-BE49-F238E27FC236}">
                <a16:creationId xmlns:a16="http://schemas.microsoft.com/office/drawing/2014/main" id="{300DFF4F-F4DC-486C-EC00-8781812A99ED}"/>
              </a:ext>
            </a:extLst>
          </p:cNvPr>
          <p:cNvSpPr/>
          <p:nvPr/>
        </p:nvSpPr>
        <p:spPr>
          <a:xfrm>
            <a:off x="2060741" y="3067588"/>
            <a:ext cx="1868957" cy="1902176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3" name="フローチャート: 結合子 22">
            <a:extLst>
              <a:ext uri="{FF2B5EF4-FFF2-40B4-BE49-F238E27FC236}">
                <a16:creationId xmlns:a16="http://schemas.microsoft.com/office/drawing/2014/main" id="{CD0CB5FD-EC20-972B-3676-D8FE7AF45874}"/>
              </a:ext>
            </a:extLst>
          </p:cNvPr>
          <p:cNvSpPr/>
          <p:nvPr/>
        </p:nvSpPr>
        <p:spPr>
          <a:xfrm>
            <a:off x="1313771" y="2355828"/>
            <a:ext cx="3405690" cy="3378227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4" name="フローチャート: 結合子 23">
            <a:extLst>
              <a:ext uri="{FF2B5EF4-FFF2-40B4-BE49-F238E27FC236}">
                <a16:creationId xmlns:a16="http://schemas.microsoft.com/office/drawing/2014/main" id="{39B4FD13-7869-54B4-D017-D05BE6FCCEB6}"/>
              </a:ext>
            </a:extLst>
          </p:cNvPr>
          <p:cNvSpPr/>
          <p:nvPr/>
        </p:nvSpPr>
        <p:spPr>
          <a:xfrm>
            <a:off x="1683887" y="2701358"/>
            <a:ext cx="2658319" cy="2634771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5" name="フローチャート: 結合子 24">
            <a:extLst>
              <a:ext uri="{FF2B5EF4-FFF2-40B4-BE49-F238E27FC236}">
                <a16:creationId xmlns:a16="http://schemas.microsoft.com/office/drawing/2014/main" id="{7BB70C67-2D1E-6478-A5B7-ED2ED88FD734}"/>
              </a:ext>
            </a:extLst>
          </p:cNvPr>
          <p:cNvSpPr/>
          <p:nvPr/>
        </p:nvSpPr>
        <p:spPr>
          <a:xfrm>
            <a:off x="987199" y="1991043"/>
            <a:ext cx="4124819" cy="4078766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01DD0E8-3BDB-6030-16FE-77A8D5F6C2A3}"/>
              </a:ext>
            </a:extLst>
          </p:cNvPr>
          <p:cNvSpPr/>
          <p:nvPr/>
        </p:nvSpPr>
        <p:spPr>
          <a:xfrm>
            <a:off x="3679296" y="3894476"/>
            <a:ext cx="228443" cy="203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F3FD6CD4-069B-2C6A-73A2-CF148C706ED0}"/>
              </a:ext>
            </a:extLst>
          </p:cNvPr>
          <p:cNvCxnSpPr>
            <a:cxnSpLocks/>
          </p:cNvCxnSpPr>
          <p:nvPr/>
        </p:nvCxnSpPr>
        <p:spPr>
          <a:xfrm flipV="1">
            <a:off x="2960269" y="1885953"/>
            <a:ext cx="2283247" cy="2114699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AC39C3-7173-2EFE-76D1-3401BBBF8736}"/>
              </a:ext>
            </a:extLst>
          </p:cNvPr>
          <p:cNvSpPr txBox="1"/>
          <p:nvPr/>
        </p:nvSpPr>
        <p:spPr>
          <a:xfrm>
            <a:off x="5488870" y="1863330"/>
            <a:ext cx="3608680" cy="1364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b="1" dirty="0"/>
              <a:t>手順</a:t>
            </a:r>
            <a:endParaRPr lang="en-US" altLang="ja-JP" sz="2400" b="1" dirty="0"/>
          </a:p>
          <a:p>
            <a:pPr marL="257168" indent="-342892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深さの候補をいくつか作る</a:t>
            </a:r>
            <a:endParaRPr lang="en-US" altLang="ja-JP" sz="2000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E0EB1CA-0990-8191-F025-006017F2ED99}"/>
              </a:ext>
            </a:extLst>
          </p:cNvPr>
          <p:cNvCxnSpPr>
            <a:cxnSpLocks/>
          </p:cNvCxnSpPr>
          <p:nvPr/>
        </p:nvCxnSpPr>
        <p:spPr>
          <a:xfrm flipV="1">
            <a:off x="2960267" y="3837715"/>
            <a:ext cx="175841" cy="1629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5013C2-84B2-CDE0-5F47-7B5D4B049BFB}"/>
              </a:ext>
            </a:extLst>
          </p:cNvPr>
          <p:cNvSpPr txBox="1"/>
          <p:nvPr/>
        </p:nvSpPr>
        <p:spPr>
          <a:xfrm>
            <a:off x="1532036" y="3595557"/>
            <a:ext cx="175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70C0"/>
                </a:solidFill>
              </a:rPr>
              <a:t>基準カメラ</a:t>
            </a:r>
          </a:p>
        </p:txBody>
      </p:sp>
    </p:spTree>
    <p:extLst>
      <p:ext uri="{BB962C8B-B14F-4D97-AF65-F5344CB8AC3E}">
        <p14:creationId xmlns:p14="http://schemas.microsoft.com/office/powerpoint/2010/main" val="190668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582F-F9B8-8478-4752-6EE20014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部分円 46">
            <a:extLst>
              <a:ext uri="{FF2B5EF4-FFF2-40B4-BE49-F238E27FC236}">
                <a16:creationId xmlns:a16="http://schemas.microsoft.com/office/drawing/2014/main" id="{04AA6D3D-D789-D40B-019B-0744CF363F2F}"/>
              </a:ext>
            </a:extLst>
          </p:cNvPr>
          <p:cNvSpPr/>
          <p:nvPr/>
        </p:nvSpPr>
        <p:spPr>
          <a:xfrm>
            <a:off x="168019" y="2253615"/>
            <a:ext cx="942932" cy="905063"/>
          </a:xfrm>
          <a:prstGeom prst="pie">
            <a:avLst>
              <a:gd name="adj1" fmla="val 0"/>
              <a:gd name="adj2" fmla="val 54330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2D83763-68DE-6BF5-C3DD-2015254DA167}"/>
              </a:ext>
            </a:extLst>
          </p:cNvPr>
          <p:cNvSpPr/>
          <p:nvPr/>
        </p:nvSpPr>
        <p:spPr>
          <a:xfrm>
            <a:off x="1092533" y="4531006"/>
            <a:ext cx="486652" cy="827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6" name="フローチャート: 結合子 25">
            <a:extLst>
              <a:ext uri="{FF2B5EF4-FFF2-40B4-BE49-F238E27FC236}">
                <a16:creationId xmlns:a16="http://schemas.microsoft.com/office/drawing/2014/main" id="{BB9EB5F7-708C-5AEC-5730-258E345DAE59}"/>
              </a:ext>
            </a:extLst>
          </p:cNvPr>
          <p:cNvSpPr/>
          <p:nvPr/>
        </p:nvSpPr>
        <p:spPr>
          <a:xfrm>
            <a:off x="591572" y="1651063"/>
            <a:ext cx="4875304" cy="4747020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4BB2A37-629B-10A9-332C-6C284A72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魚眼カメラのカラー画像から深さ画像を作成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D1F5A5-C539-FAD4-7470-EBFAA463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10</a:t>
            </a:fld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9E2F42D-424D-0620-8305-85CA33192892}"/>
              </a:ext>
            </a:extLst>
          </p:cNvPr>
          <p:cNvGrpSpPr/>
          <p:nvPr/>
        </p:nvGrpSpPr>
        <p:grpSpPr>
          <a:xfrm>
            <a:off x="2389288" y="3750505"/>
            <a:ext cx="1137062" cy="1163209"/>
            <a:chOff x="5664122" y="3576219"/>
            <a:chExt cx="1586716" cy="1585381"/>
          </a:xfrm>
        </p:grpSpPr>
        <p:sp>
          <p:nvSpPr>
            <p:cNvPr id="5" name="部分円 4">
              <a:extLst>
                <a:ext uri="{FF2B5EF4-FFF2-40B4-BE49-F238E27FC236}">
                  <a16:creationId xmlns:a16="http://schemas.microsoft.com/office/drawing/2014/main" id="{1F238E1B-29D7-7E8C-6A19-5847C8B48A2D}"/>
                </a:ext>
              </a:extLst>
            </p:cNvPr>
            <p:cNvSpPr/>
            <p:nvPr/>
          </p:nvSpPr>
          <p:spPr>
            <a:xfrm rot="21447112">
              <a:off x="6135858" y="3576219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rgbClr val="0070C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6" name="部分円 5">
              <a:extLst>
                <a:ext uri="{FF2B5EF4-FFF2-40B4-BE49-F238E27FC236}">
                  <a16:creationId xmlns:a16="http://schemas.microsoft.com/office/drawing/2014/main" id="{3A049258-1771-54BC-4606-955A61B2E8B8}"/>
                </a:ext>
              </a:extLst>
            </p:cNvPr>
            <p:cNvSpPr/>
            <p:nvPr/>
          </p:nvSpPr>
          <p:spPr>
            <a:xfrm rot="5400000">
              <a:off x="6599882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7" name="部分円 6">
              <a:extLst>
                <a:ext uri="{FF2B5EF4-FFF2-40B4-BE49-F238E27FC236}">
                  <a16:creationId xmlns:a16="http://schemas.microsoft.com/office/drawing/2014/main" id="{7A9E8CEB-D8AC-21DE-4B98-EBE8150C7C06}"/>
                </a:ext>
              </a:extLst>
            </p:cNvPr>
            <p:cNvSpPr/>
            <p:nvPr/>
          </p:nvSpPr>
          <p:spPr>
            <a:xfrm rot="16200000">
              <a:off x="5665009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8" name="ひし形 7">
              <a:extLst>
                <a:ext uri="{FF2B5EF4-FFF2-40B4-BE49-F238E27FC236}">
                  <a16:creationId xmlns:a16="http://schemas.microsoft.com/office/drawing/2014/main" id="{D922BCD1-06B7-F9A4-7825-901293DF6204}"/>
                </a:ext>
              </a:extLst>
            </p:cNvPr>
            <p:cNvSpPr/>
            <p:nvPr/>
          </p:nvSpPr>
          <p:spPr>
            <a:xfrm>
              <a:off x="6003693" y="3917154"/>
              <a:ext cx="914400" cy="914400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350"/>
            </a:p>
          </p:txBody>
        </p:sp>
        <p:sp>
          <p:nvSpPr>
            <p:cNvPr id="9" name="部分円 8">
              <a:extLst>
                <a:ext uri="{FF2B5EF4-FFF2-40B4-BE49-F238E27FC236}">
                  <a16:creationId xmlns:a16="http://schemas.microsoft.com/office/drawing/2014/main" id="{9A1C9D59-777A-C2B7-B471-C703C13870EB}"/>
                </a:ext>
              </a:extLst>
            </p:cNvPr>
            <p:cNvSpPr/>
            <p:nvPr/>
          </p:nvSpPr>
          <p:spPr>
            <a:xfrm rot="10800000">
              <a:off x="6137767" y="4509757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6BA547F-DE20-77E8-7098-28B7A2761CCA}"/>
              </a:ext>
            </a:extLst>
          </p:cNvPr>
          <p:cNvSpPr/>
          <p:nvPr/>
        </p:nvSpPr>
        <p:spPr>
          <a:xfrm>
            <a:off x="634370" y="2698150"/>
            <a:ext cx="4787873" cy="2813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ECF2A28-88A7-237D-5D80-C30FA6DABEC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960269" y="1885953"/>
            <a:ext cx="2283247" cy="2114699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フローチャート: 結合子 21">
            <a:extLst>
              <a:ext uri="{FF2B5EF4-FFF2-40B4-BE49-F238E27FC236}">
                <a16:creationId xmlns:a16="http://schemas.microsoft.com/office/drawing/2014/main" id="{20BC14F2-19CC-6A32-EB0B-883D674EE267}"/>
              </a:ext>
            </a:extLst>
          </p:cNvPr>
          <p:cNvSpPr/>
          <p:nvPr/>
        </p:nvSpPr>
        <p:spPr>
          <a:xfrm>
            <a:off x="2060741" y="3067585"/>
            <a:ext cx="1868957" cy="1902176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3" name="フローチャート: 結合子 22">
            <a:extLst>
              <a:ext uri="{FF2B5EF4-FFF2-40B4-BE49-F238E27FC236}">
                <a16:creationId xmlns:a16="http://schemas.microsoft.com/office/drawing/2014/main" id="{AB36C600-D056-17FC-A9F2-BA274B30B16E}"/>
              </a:ext>
            </a:extLst>
          </p:cNvPr>
          <p:cNvSpPr/>
          <p:nvPr/>
        </p:nvSpPr>
        <p:spPr>
          <a:xfrm>
            <a:off x="1313771" y="2355826"/>
            <a:ext cx="3405690" cy="3378227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4" name="フローチャート: 結合子 23">
            <a:extLst>
              <a:ext uri="{FF2B5EF4-FFF2-40B4-BE49-F238E27FC236}">
                <a16:creationId xmlns:a16="http://schemas.microsoft.com/office/drawing/2014/main" id="{9A5E1625-F24F-4B50-486C-BB20767CF7A9}"/>
              </a:ext>
            </a:extLst>
          </p:cNvPr>
          <p:cNvSpPr/>
          <p:nvPr/>
        </p:nvSpPr>
        <p:spPr>
          <a:xfrm>
            <a:off x="1683887" y="2701357"/>
            <a:ext cx="2658319" cy="2634771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5" name="フローチャート: 結合子 24">
            <a:extLst>
              <a:ext uri="{FF2B5EF4-FFF2-40B4-BE49-F238E27FC236}">
                <a16:creationId xmlns:a16="http://schemas.microsoft.com/office/drawing/2014/main" id="{1670B2D0-FF63-13B4-8ACB-88746563C41A}"/>
              </a:ext>
            </a:extLst>
          </p:cNvPr>
          <p:cNvSpPr/>
          <p:nvPr/>
        </p:nvSpPr>
        <p:spPr>
          <a:xfrm>
            <a:off x="987199" y="1991041"/>
            <a:ext cx="4124819" cy="4078766"/>
          </a:xfrm>
          <a:prstGeom prst="flowChartConnector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22CE58-AB6D-A1F7-223B-FE3AF4BC11EF}"/>
              </a:ext>
            </a:extLst>
          </p:cNvPr>
          <p:cNvSpPr txBox="1"/>
          <p:nvPr/>
        </p:nvSpPr>
        <p:spPr>
          <a:xfrm>
            <a:off x="3393865" y="457334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補助カメラ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B4EF64D-EF54-AE9A-6456-3F47A80038FF}"/>
              </a:ext>
            </a:extLst>
          </p:cNvPr>
          <p:cNvCxnSpPr>
            <a:cxnSpLocks/>
            <a:stCxn id="22" idx="7"/>
            <a:endCxn id="8" idx="3"/>
          </p:cNvCxnSpPr>
          <p:nvPr/>
        </p:nvCxnSpPr>
        <p:spPr>
          <a:xfrm flipH="1">
            <a:off x="3287902" y="3346156"/>
            <a:ext cx="368091" cy="98994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C56D5BFF-43B3-ADAF-8586-C5FBCF7DAFAC}"/>
              </a:ext>
            </a:extLst>
          </p:cNvPr>
          <p:cNvCxnSpPr>
            <a:cxnSpLocks/>
            <a:stCxn id="24" idx="7"/>
            <a:endCxn id="8" idx="3"/>
          </p:cNvCxnSpPr>
          <p:nvPr/>
        </p:nvCxnSpPr>
        <p:spPr>
          <a:xfrm flipH="1">
            <a:off x="3287904" y="3087212"/>
            <a:ext cx="665000" cy="124889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E6B5B3B-20F0-3108-48CE-52A019402449}"/>
              </a:ext>
            </a:extLst>
          </p:cNvPr>
          <p:cNvCxnSpPr>
            <a:cxnSpLocks/>
            <a:stCxn id="23" idx="7"/>
            <a:endCxn id="8" idx="3"/>
          </p:cNvCxnSpPr>
          <p:nvPr/>
        </p:nvCxnSpPr>
        <p:spPr>
          <a:xfrm flipH="1">
            <a:off x="3287901" y="2850556"/>
            <a:ext cx="932808" cy="148554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C07B847-8CCE-EA62-FC6C-8D6A2985AC65}"/>
              </a:ext>
            </a:extLst>
          </p:cNvPr>
          <p:cNvCxnSpPr>
            <a:cxnSpLocks/>
            <a:stCxn id="25" idx="7"/>
            <a:endCxn id="8" idx="3"/>
          </p:cNvCxnSpPr>
          <p:nvPr/>
        </p:nvCxnSpPr>
        <p:spPr>
          <a:xfrm flipH="1">
            <a:off x="3287904" y="2588361"/>
            <a:ext cx="1220050" cy="174774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15A4AFB-78F0-5EB1-60BF-D5066F163AC7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3287904" y="2346247"/>
            <a:ext cx="1457858" cy="198985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BC1BA99-13EC-7528-8F02-4984A9BDD18B}"/>
              </a:ext>
            </a:extLst>
          </p:cNvPr>
          <p:cNvSpPr/>
          <p:nvPr/>
        </p:nvSpPr>
        <p:spPr>
          <a:xfrm>
            <a:off x="3679296" y="3894473"/>
            <a:ext cx="228443" cy="203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806C50D-72FA-DED0-E0FF-32149624C521}"/>
              </a:ext>
            </a:extLst>
          </p:cNvPr>
          <p:cNvSpPr txBox="1"/>
          <p:nvPr/>
        </p:nvSpPr>
        <p:spPr>
          <a:xfrm>
            <a:off x="5488870" y="1863329"/>
            <a:ext cx="3608680" cy="4442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b="1" dirty="0"/>
              <a:t>手順</a:t>
            </a:r>
            <a:endParaRPr lang="en-US" altLang="ja-JP" sz="2400" b="1" dirty="0"/>
          </a:p>
          <a:p>
            <a:pPr marL="257168" indent="-342892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深さの候補をいくつか作る</a:t>
            </a:r>
            <a:endParaRPr lang="en-US" altLang="ja-JP" sz="2000" dirty="0"/>
          </a:p>
          <a:p>
            <a:pPr marL="257168" indent="-342892">
              <a:lnSpc>
                <a:spcPct val="200000"/>
              </a:lnSpc>
              <a:buFont typeface="+mj-lt"/>
              <a:buAutoNum type="arabicPeriod"/>
            </a:pPr>
            <a:r>
              <a:rPr kumimoji="1" lang="ja-JP" altLang="en-US" sz="2000" dirty="0"/>
              <a:t>補助カメラを選ぶ</a:t>
            </a:r>
            <a:endParaRPr kumimoji="1" lang="en-US" altLang="ja-JP" sz="2000" dirty="0"/>
          </a:p>
          <a:p>
            <a:pPr marL="257168" indent="-342892">
              <a:lnSpc>
                <a:spcPct val="200000"/>
              </a:lnSpc>
              <a:buFont typeface="+mj-lt"/>
              <a:buAutoNum type="arabicPeriod"/>
            </a:pPr>
            <a:r>
              <a:rPr kumimoji="1" lang="ja-JP" altLang="en-US" sz="2000" dirty="0"/>
              <a:t>各深さに対して再投影の</a:t>
            </a:r>
            <a:br>
              <a:rPr kumimoji="1" lang="en-US" altLang="ja-JP" sz="2000" dirty="0"/>
            </a:br>
            <a:r>
              <a:rPr kumimoji="1" lang="ja-JP" altLang="en-US" sz="2000" dirty="0"/>
              <a:t>座標を計算</a:t>
            </a:r>
            <a:endParaRPr lang="en-US" altLang="ja-JP" sz="2000" dirty="0"/>
          </a:p>
          <a:p>
            <a:pPr marL="257168" indent="-342892">
              <a:lnSpc>
                <a:spcPct val="200000"/>
              </a:lnSpc>
              <a:buFont typeface="+mj-lt"/>
              <a:buAutoNum type="arabicPeriod"/>
            </a:pPr>
            <a:r>
              <a:rPr kumimoji="1" lang="ja-JP" altLang="en-US" sz="2000" dirty="0"/>
              <a:t>実際の色と比較して</a:t>
            </a:r>
            <a:br>
              <a:rPr kumimoji="1" lang="en-US" altLang="ja-JP" sz="2000" dirty="0"/>
            </a:br>
            <a:r>
              <a:rPr kumimoji="1" lang="ja-JP" altLang="en-US" sz="2000" dirty="0"/>
              <a:t>マッチングコストを計算</a:t>
            </a:r>
            <a:endParaRPr kumimoji="1" lang="en-US" altLang="ja-JP" sz="20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9C492B3-2DE5-BD07-0D08-DCF4B008BF61}"/>
              </a:ext>
            </a:extLst>
          </p:cNvPr>
          <p:cNvCxnSpPr>
            <a:cxnSpLocks/>
          </p:cNvCxnSpPr>
          <p:nvPr/>
        </p:nvCxnSpPr>
        <p:spPr>
          <a:xfrm flipV="1">
            <a:off x="2960267" y="3837715"/>
            <a:ext cx="175841" cy="1629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BF8054-2068-CEFE-B59F-21B2EE634CD4}"/>
              </a:ext>
            </a:extLst>
          </p:cNvPr>
          <p:cNvSpPr txBox="1"/>
          <p:nvPr/>
        </p:nvSpPr>
        <p:spPr>
          <a:xfrm>
            <a:off x="1532036" y="3595557"/>
            <a:ext cx="175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70C0"/>
                </a:solidFill>
              </a:rPr>
              <a:t>基準カメラ</a:t>
            </a:r>
          </a:p>
        </p:txBody>
      </p:sp>
    </p:spTree>
    <p:extLst>
      <p:ext uri="{BB962C8B-B14F-4D97-AF65-F5344CB8AC3E}">
        <p14:creationId xmlns:p14="http://schemas.microsoft.com/office/powerpoint/2010/main" val="205313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45C1-F845-C187-EFC9-464866B3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DBCF1A-B1FE-37A0-97E2-6A48F0A3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パノラマ画像につなぎ合わせる</a:t>
            </a:r>
          </a:p>
        </p:txBody>
      </p:sp>
      <p:sp>
        <p:nvSpPr>
          <p:cNvPr id="14" name="コンテンツ プレースホルダー 13">
            <a:extLst>
              <a:ext uri="{FF2B5EF4-FFF2-40B4-BE49-F238E27FC236}">
                <a16:creationId xmlns:a16="http://schemas.microsoft.com/office/drawing/2014/main" id="{4EF6E121-D72D-D402-6226-0C3563E23A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/>
          <a:lstStyle/>
          <a:p>
            <a:r>
              <a:rPr lang="en-US" altLang="ja-JP" dirty="0"/>
              <a:t>4</a:t>
            </a:r>
            <a:r>
              <a:rPr lang="ja-JP" altLang="en-US" dirty="0"/>
              <a:t>つの魚眼カメラから得た深さ</a:t>
            </a:r>
            <a:r>
              <a:rPr lang="en-US" altLang="ja-JP" dirty="0"/>
              <a:t>3</a:t>
            </a:r>
            <a:r>
              <a:rPr lang="ja-JP" altLang="en-US" dirty="0"/>
              <a:t>次元情報を仮想点から見た情報として統合</a:t>
            </a:r>
            <a:endParaRPr lang="en-US" altLang="ja-JP" dirty="0"/>
          </a:p>
          <a:p>
            <a:pPr lvl="1"/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7A1439-7545-7874-CFCE-1BA1DCAC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11</a:t>
            </a:fld>
            <a:endParaRPr kumimoji="1" lang="ja-JP" altLang="en-US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C722E80B-DF89-E97B-7CA1-68C425A597DB}"/>
              </a:ext>
            </a:extLst>
          </p:cNvPr>
          <p:cNvGrpSpPr/>
          <p:nvPr/>
        </p:nvGrpSpPr>
        <p:grpSpPr>
          <a:xfrm>
            <a:off x="2389288" y="3755626"/>
            <a:ext cx="1137062" cy="1163209"/>
            <a:chOff x="5664122" y="3576219"/>
            <a:chExt cx="1586716" cy="1585381"/>
          </a:xfrm>
        </p:grpSpPr>
        <p:sp>
          <p:nvSpPr>
            <p:cNvPr id="18" name="部分円 17">
              <a:extLst>
                <a:ext uri="{FF2B5EF4-FFF2-40B4-BE49-F238E27FC236}">
                  <a16:creationId xmlns:a16="http://schemas.microsoft.com/office/drawing/2014/main" id="{5C390860-2F91-7D1D-D4DB-0FDC7DB07960}"/>
                </a:ext>
              </a:extLst>
            </p:cNvPr>
            <p:cNvSpPr/>
            <p:nvPr/>
          </p:nvSpPr>
          <p:spPr>
            <a:xfrm rot="21447112">
              <a:off x="6135858" y="3576219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19" name="部分円 18">
              <a:extLst>
                <a:ext uri="{FF2B5EF4-FFF2-40B4-BE49-F238E27FC236}">
                  <a16:creationId xmlns:a16="http://schemas.microsoft.com/office/drawing/2014/main" id="{FA9AF5A1-F092-F18F-9B3E-EEA1D5DC8DFC}"/>
                </a:ext>
              </a:extLst>
            </p:cNvPr>
            <p:cNvSpPr/>
            <p:nvPr/>
          </p:nvSpPr>
          <p:spPr>
            <a:xfrm rot="5400000">
              <a:off x="6599882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20" name="部分円 19">
              <a:extLst>
                <a:ext uri="{FF2B5EF4-FFF2-40B4-BE49-F238E27FC236}">
                  <a16:creationId xmlns:a16="http://schemas.microsoft.com/office/drawing/2014/main" id="{6E4FD701-6406-826C-B7E5-6C2F2FDE2042}"/>
                </a:ext>
              </a:extLst>
            </p:cNvPr>
            <p:cNvSpPr/>
            <p:nvPr/>
          </p:nvSpPr>
          <p:spPr>
            <a:xfrm rot="16200000">
              <a:off x="5665009" y="4048432"/>
              <a:ext cx="650069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  <p:sp>
          <p:nvSpPr>
            <p:cNvPr id="21" name="ひし形 20">
              <a:extLst>
                <a:ext uri="{FF2B5EF4-FFF2-40B4-BE49-F238E27FC236}">
                  <a16:creationId xmlns:a16="http://schemas.microsoft.com/office/drawing/2014/main" id="{18ADED99-8713-EF67-C2DB-17B538965C1B}"/>
                </a:ext>
              </a:extLst>
            </p:cNvPr>
            <p:cNvSpPr/>
            <p:nvPr/>
          </p:nvSpPr>
          <p:spPr>
            <a:xfrm>
              <a:off x="6003693" y="3917154"/>
              <a:ext cx="914400" cy="914400"/>
            </a:xfrm>
            <a:prstGeom prst="diamond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350" dirty="0"/>
            </a:p>
          </p:txBody>
        </p:sp>
        <p:sp>
          <p:nvSpPr>
            <p:cNvPr id="29" name="部分円 28">
              <a:extLst>
                <a:ext uri="{FF2B5EF4-FFF2-40B4-BE49-F238E27FC236}">
                  <a16:creationId xmlns:a16="http://schemas.microsoft.com/office/drawing/2014/main" id="{A725470F-CFB4-53A6-6568-E0AEAAD23801}"/>
                </a:ext>
              </a:extLst>
            </p:cNvPr>
            <p:cNvSpPr/>
            <p:nvPr/>
          </p:nvSpPr>
          <p:spPr>
            <a:xfrm rot="10800000">
              <a:off x="6137768" y="4509757"/>
              <a:ext cx="650071" cy="651843"/>
            </a:xfrm>
            <a:prstGeom prst="pie">
              <a:avLst>
                <a:gd name="adj1" fmla="val 8998221"/>
                <a:gd name="adj2" fmla="val 1857598"/>
              </a:avLst>
            </a:prstGeom>
            <a:noFill/>
            <a:ln>
              <a:solidFill>
                <a:schemeClr val="bg1">
                  <a:lumMod val="1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1350" dirty="0">
                <a:solidFill>
                  <a:srgbClr val="0070C0"/>
                </a:solidFill>
              </a:endParaRPr>
            </a:p>
          </p:txBody>
        </p:sp>
      </p:grp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895CF79-FF04-5B38-613A-E4C5E1985F85}"/>
              </a:ext>
            </a:extLst>
          </p:cNvPr>
          <p:cNvSpPr/>
          <p:nvPr/>
        </p:nvSpPr>
        <p:spPr>
          <a:xfrm>
            <a:off x="634370" y="2703271"/>
            <a:ext cx="4787873" cy="2813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39" name="フローチャート: 結合子 38">
            <a:extLst>
              <a:ext uri="{FF2B5EF4-FFF2-40B4-BE49-F238E27FC236}">
                <a16:creationId xmlns:a16="http://schemas.microsoft.com/office/drawing/2014/main" id="{75CE9F4B-77A7-B4EA-6992-9ECB8D86EBC2}"/>
              </a:ext>
            </a:extLst>
          </p:cNvPr>
          <p:cNvSpPr/>
          <p:nvPr/>
        </p:nvSpPr>
        <p:spPr>
          <a:xfrm>
            <a:off x="2925097" y="4315660"/>
            <a:ext cx="69073" cy="72955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5FA693A-7D10-EDDA-CCCC-71C85FA87243}"/>
              </a:ext>
            </a:extLst>
          </p:cNvPr>
          <p:cNvSpPr/>
          <p:nvPr/>
        </p:nvSpPr>
        <p:spPr>
          <a:xfrm>
            <a:off x="3679296" y="3899594"/>
            <a:ext cx="228443" cy="203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7B01392-FADF-24F3-6038-E0024926716A}"/>
              </a:ext>
            </a:extLst>
          </p:cNvPr>
          <p:cNvSpPr/>
          <p:nvPr/>
        </p:nvSpPr>
        <p:spPr>
          <a:xfrm>
            <a:off x="1092533" y="4536127"/>
            <a:ext cx="486652" cy="827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4" name="部分円 43">
            <a:extLst>
              <a:ext uri="{FF2B5EF4-FFF2-40B4-BE49-F238E27FC236}">
                <a16:creationId xmlns:a16="http://schemas.microsoft.com/office/drawing/2014/main" id="{9525C9CA-0229-9AE1-7C50-B0908ADD3C02}"/>
              </a:ext>
            </a:extLst>
          </p:cNvPr>
          <p:cNvSpPr/>
          <p:nvPr/>
        </p:nvSpPr>
        <p:spPr>
          <a:xfrm>
            <a:off x="168019" y="2258736"/>
            <a:ext cx="942932" cy="905063"/>
          </a:xfrm>
          <a:prstGeom prst="pie">
            <a:avLst>
              <a:gd name="adj1" fmla="val 0"/>
              <a:gd name="adj2" fmla="val 54330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D5CA244-E5B6-823D-F55B-538333F7F57B}"/>
              </a:ext>
            </a:extLst>
          </p:cNvPr>
          <p:cNvGrpSpPr/>
          <p:nvPr/>
        </p:nvGrpSpPr>
        <p:grpSpPr>
          <a:xfrm>
            <a:off x="222843" y="2258733"/>
            <a:ext cx="5199400" cy="3257836"/>
            <a:chOff x="297122" y="1868644"/>
            <a:chExt cx="6932533" cy="4343781"/>
          </a:xfrm>
        </p:grpSpPr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9121E273-A8E8-187E-FBC1-65E1F712B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9655" y="2461360"/>
              <a:ext cx="0" cy="1658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グループ化 101">
              <a:extLst>
                <a:ext uri="{FF2B5EF4-FFF2-40B4-BE49-F238E27FC236}">
                  <a16:creationId xmlns:a16="http://schemas.microsoft.com/office/drawing/2014/main" id="{987D5ADA-FE85-BFE2-BEFE-EC0CE7818494}"/>
                </a:ext>
              </a:extLst>
            </p:cNvPr>
            <p:cNvGrpSpPr/>
            <p:nvPr/>
          </p:nvGrpSpPr>
          <p:grpSpPr>
            <a:xfrm>
              <a:off x="297122" y="1868644"/>
              <a:ext cx="6932533" cy="4343781"/>
              <a:chOff x="297122" y="1868644"/>
              <a:chExt cx="6932533" cy="4343781"/>
            </a:xfrm>
          </p:grpSpPr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79670608-392D-BC9A-6CC9-0742971C1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5727" y="4056458"/>
                <a:ext cx="0" cy="27086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コネクタ 47">
                <a:extLst>
                  <a:ext uri="{FF2B5EF4-FFF2-40B4-BE49-F238E27FC236}">
                    <a16:creationId xmlns:a16="http://schemas.microsoft.com/office/drawing/2014/main" id="{4A581B38-DABB-D5B4-8325-E97D1B922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5727" y="4327320"/>
                <a:ext cx="304590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コネクタ 51">
                <a:extLst>
                  <a:ext uri="{FF2B5EF4-FFF2-40B4-BE49-F238E27FC236}">
                    <a16:creationId xmlns:a16="http://schemas.microsoft.com/office/drawing/2014/main" id="{2C5D5006-A175-7E49-DADE-A136841D00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5727" y="2627194"/>
                <a:ext cx="2323928" cy="1429264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A05DE696-CB0F-5118-2D86-60ECB53E2F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0317" y="3725839"/>
                <a:ext cx="2019338" cy="601481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076962B8-C07F-34AA-E099-5FE8F4A22C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5825" y="4905170"/>
                <a:ext cx="610884" cy="5810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C001C7DE-A7A8-A1CA-6D65-A9D0F9AFB4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80263" y="6008900"/>
                <a:ext cx="225315" cy="191875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3F589FA2-84F0-8D2A-0C68-DDD7A4B73068}"/>
                  </a:ext>
                </a:extLst>
              </p:cNvPr>
              <p:cNvCxnSpPr>
                <a:cxnSpLocks/>
                <a:stCxn id="44" idx="1"/>
              </p:cNvCxnSpPr>
              <p:nvPr/>
            </p:nvCxnSpPr>
            <p:spPr>
              <a:xfrm>
                <a:off x="852645" y="3075397"/>
                <a:ext cx="0" cy="188787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コネクタ 79">
                <a:extLst>
                  <a:ext uri="{FF2B5EF4-FFF2-40B4-BE49-F238E27FC236}">
                    <a16:creationId xmlns:a16="http://schemas.microsoft.com/office/drawing/2014/main" id="{B80FC210-DCC4-AE05-4607-A83D6A99D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6709" y="4905170"/>
                <a:ext cx="648869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276F27C2-06B0-9828-5626-1416533D6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578" y="4905170"/>
                <a:ext cx="0" cy="110373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コネクタ 85">
                <a:extLst>
                  <a:ext uri="{FF2B5EF4-FFF2-40B4-BE49-F238E27FC236}">
                    <a16:creationId xmlns:a16="http://schemas.microsoft.com/office/drawing/2014/main" id="{698C5B6D-E4F9-DDCA-12B2-406782CC7B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1266" y="2461360"/>
                <a:ext cx="5748389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円弧 88">
                <a:extLst>
                  <a:ext uri="{FF2B5EF4-FFF2-40B4-BE49-F238E27FC236}">
                    <a16:creationId xmlns:a16="http://schemas.microsoft.com/office/drawing/2014/main" id="{D076317D-32A4-7E08-63AD-D061F0976BF3}"/>
                  </a:ext>
                </a:extLst>
              </p:cNvPr>
              <p:cNvSpPr/>
              <p:nvPr/>
            </p:nvSpPr>
            <p:spPr>
              <a:xfrm>
                <a:off x="297122" y="1868644"/>
                <a:ext cx="1187349" cy="1206751"/>
              </a:xfrm>
              <a:prstGeom prst="arc">
                <a:avLst>
                  <a:gd name="adj1" fmla="val 22615"/>
                  <a:gd name="adj2" fmla="val 567023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350"/>
              </a:p>
            </p:txBody>
          </p: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7378B30D-A342-A8D6-4642-D457227584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450" y="3725839"/>
                <a:ext cx="3205" cy="247493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BCC729F2-F576-0C0A-D8B2-A77E3BD21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0263" y="6212425"/>
                <a:ext cx="5346187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1758DA5A-C2C4-F6C9-7878-3BF868376151}"/>
              </a:ext>
            </a:extLst>
          </p:cNvPr>
          <p:cNvSpPr txBox="1"/>
          <p:nvPr/>
        </p:nvSpPr>
        <p:spPr>
          <a:xfrm>
            <a:off x="3397384" y="45361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仮想点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59B944C6-5F70-0D46-D996-6F544F30CBCC}"/>
              </a:ext>
            </a:extLst>
          </p:cNvPr>
          <p:cNvCxnSpPr>
            <a:cxnSpLocks/>
            <a:stCxn id="96" idx="1"/>
            <a:endCxn id="39" idx="5"/>
          </p:cNvCxnSpPr>
          <p:nvPr/>
        </p:nvCxnSpPr>
        <p:spPr>
          <a:xfrm flipH="1" flipV="1">
            <a:off x="2984054" y="4377931"/>
            <a:ext cx="413330" cy="342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52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A4461-9721-F54B-9257-3FDC082E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SLAM</a:t>
            </a:r>
            <a:r>
              <a:rPr lang="ja-JP" altLang="en-US" dirty="0"/>
              <a:t>に拡張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33986-A10D-2C69-59D7-F0C6545279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ja-JP" altLang="en-US" sz="2400" dirty="0"/>
              <a:t>複数視点に分割してピンホール化</a:t>
            </a:r>
            <a:endParaRPr lang="en-US" altLang="ja-JP" sz="2400" dirty="0"/>
          </a:p>
          <a:p>
            <a:pPr lvl="1">
              <a:lnSpc>
                <a:spcPct val="250000"/>
              </a:lnSpc>
            </a:pPr>
            <a:r>
              <a:rPr lang="ja-JP" altLang="en-US" sz="2200" dirty="0"/>
              <a:t>従来の</a:t>
            </a:r>
            <a:r>
              <a:rPr lang="en-US" altLang="ja-JP" sz="2200" dirty="0"/>
              <a:t>SLAM</a:t>
            </a:r>
            <a:r>
              <a:rPr lang="ja-JP" altLang="en-US" sz="2200" dirty="0"/>
              <a:t>は平面画像を扱うピンホールモデルが主流</a:t>
            </a:r>
            <a:endParaRPr lang="en-US" altLang="ja-JP" sz="2200" dirty="0"/>
          </a:p>
          <a:p>
            <a:pPr lvl="1">
              <a:lnSpc>
                <a:spcPct val="250000"/>
              </a:lnSpc>
            </a:pPr>
            <a:r>
              <a:rPr lang="en-US" altLang="ja-JP" sz="2200" dirty="0"/>
              <a:t>360°</a:t>
            </a:r>
            <a:r>
              <a:rPr lang="ja-JP" altLang="en-US" sz="2200" dirty="0"/>
              <a:t>深さ画像を前後左右に分割して各方向の画像を入力</a:t>
            </a:r>
            <a:endParaRPr lang="en-US" altLang="ja-JP" sz="2200" dirty="0"/>
          </a:p>
          <a:p>
            <a:pPr>
              <a:lnSpc>
                <a:spcPct val="250000"/>
              </a:lnSpc>
            </a:pPr>
            <a:r>
              <a:rPr lang="ja-JP" altLang="en-US" sz="2400" dirty="0"/>
              <a:t>正距円筒投影</a:t>
            </a:r>
            <a:endParaRPr lang="en-US" altLang="ja-JP" sz="2400" dirty="0"/>
          </a:p>
          <a:p>
            <a:pPr lvl="1">
              <a:lnSpc>
                <a:spcPct val="250000"/>
              </a:lnSpc>
            </a:pPr>
            <a:r>
              <a:rPr lang="ja-JP" altLang="en-US" sz="2200" dirty="0"/>
              <a:t>使える</a:t>
            </a:r>
            <a:r>
              <a:rPr lang="en-US" altLang="ja-JP" sz="2200" dirty="0"/>
              <a:t>SLAM</a:t>
            </a:r>
            <a:r>
              <a:rPr lang="ja-JP" altLang="en-US" sz="2200" dirty="0"/>
              <a:t>の形式がパノラマ</a:t>
            </a:r>
            <a:r>
              <a:rPr lang="en-US" altLang="ja-JP" sz="2200" dirty="0"/>
              <a:t>SLAM</a:t>
            </a:r>
            <a:r>
              <a:rPr lang="ja-JP" altLang="en-US" sz="2200" dirty="0"/>
              <a:t>系に限られる</a:t>
            </a:r>
            <a:endParaRPr lang="en-US" altLang="ja-JP" sz="2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68FED8-D4B5-B6C1-1266-C14AC014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0242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33887-274F-8D64-063F-0033E527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ルートマップ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253B5F-1A0F-0234-E060-D07EB779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CA26CEF-D5C6-66EA-3716-BA91BC15ACC2}"/>
              </a:ext>
            </a:extLst>
          </p:cNvPr>
          <p:cNvSpPr/>
          <p:nvPr/>
        </p:nvSpPr>
        <p:spPr>
          <a:xfrm>
            <a:off x="429906" y="2286001"/>
            <a:ext cx="1535372" cy="89563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50" dirty="0"/>
              <a:t>カメラ環境構築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98675C-705A-C9E1-CB75-C1F169F70CBF}"/>
              </a:ext>
            </a:extLst>
          </p:cNvPr>
          <p:cNvSpPr/>
          <p:nvPr/>
        </p:nvSpPr>
        <p:spPr>
          <a:xfrm>
            <a:off x="429906" y="4077271"/>
            <a:ext cx="1535372" cy="89563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50" dirty="0"/>
              <a:t>先行研究の</a:t>
            </a:r>
            <a:br>
              <a:rPr kumimoji="1" lang="en-US" altLang="ja-JP" sz="1350" dirty="0"/>
            </a:br>
            <a:r>
              <a:rPr kumimoji="1" lang="ja-JP" altLang="en-US" sz="1350" dirty="0"/>
              <a:t>環境構築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A1905AE-8B96-ABB1-0D97-4046E23C6AC8}"/>
              </a:ext>
            </a:extLst>
          </p:cNvPr>
          <p:cNvSpPr/>
          <p:nvPr/>
        </p:nvSpPr>
        <p:spPr>
          <a:xfrm>
            <a:off x="3768490" y="2286001"/>
            <a:ext cx="1535372" cy="89563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50" dirty="0"/>
              <a:t>リアルタイム</a:t>
            </a:r>
            <a:br>
              <a:rPr kumimoji="1" lang="en-US" altLang="ja-JP" sz="1350" dirty="0"/>
            </a:br>
            <a:r>
              <a:rPr kumimoji="1" lang="ja-JP" altLang="en-US" sz="1350" dirty="0"/>
              <a:t>深さ画像作成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4B0219B-C041-DDFD-7A81-3A96EAA93F4B}"/>
              </a:ext>
            </a:extLst>
          </p:cNvPr>
          <p:cNvSpPr/>
          <p:nvPr/>
        </p:nvSpPr>
        <p:spPr>
          <a:xfrm>
            <a:off x="3768490" y="4077271"/>
            <a:ext cx="1535372" cy="89563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50" dirty="0"/>
              <a:t>SLAM</a:t>
            </a:r>
            <a:r>
              <a:rPr kumimoji="1" lang="ja-JP" altLang="en-US" sz="1350" dirty="0"/>
              <a:t>環境構築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444A957-2F55-92C6-66EF-D2E5A363B297}"/>
              </a:ext>
            </a:extLst>
          </p:cNvPr>
          <p:cNvSpPr/>
          <p:nvPr/>
        </p:nvSpPr>
        <p:spPr>
          <a:xfrm>
            <a:off x="7178725" y="3181636"/>
            <a:ext cx="1535372" cy="89563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50" dirty="0"/>
              <a:t>目標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EEFF297-0104-231C-FC07-176518E4A05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965280" y="2733818"/>
            <a:ext cx="1803211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9399B3B-5CF0-A4CB-29EC-EF17E9F3FD1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1965280" y="2733818"/>
            <a:ext cx="1803211" cy="179127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矢印コネクタ 12">
            <a:extLst>
              <a:ext uri="{FF2B5EF4-FFF2-40B4-BE49-F238E27FC236}">
                <a16:creationId xmlns:a16="http://schemas.microsoft.com/office/drawing/2014/main" id="{7EEABE5A-1B98-AC5F-46EA-DBDAD59F9DD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303860" y="2733818"/>
            <a:ext cx="1874864" cy="895635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線矢印コネクタ 12">
            <a:extLst>
              <a:ext uri="{FF2B5EF4-FFF2-40B4-BE49-F238E27FC236}">
                <a16:creationId xmlns:a16="http://schemas.microsoft.com/office/drawing/2014/main" id="{15592DB7-4AD7-6C61-2A8B-1CB1EF20F1B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303862" y="3629453"/>
            <a:ext cx="1874864" cy="895635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CD23D3D-098F-2393-EF3A-3E090C116481}"/>
              </a:ext>
            </a:extLst>
          </p:cNvPr>
          <p:cNvSpPr/>
          <p:nvPr/>
        </p:nvSpPr>
        <p:spPr>
          <a:xfrm>
            <a:off x="427244" y="2284530"/>
            <a:ext cx="1535372" cy="89563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50" dirty="0"/>
              <a:t>カメラ環境構築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EB4EF4D-0503-7AA6-E2AD-70F6D2F649BC}"/>
              </a:ext>
            </a:extLst>
          </p:cNvPr>
          <p:cNvSpPr/>
          <p:nvPr/>
        </p:nvSpPr>
        <p:spPr>
          <a:xfrm>
            <a:off x="428435" y="4075800"/>
            <a:ext cx="1535372" cy="89563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50" dirty="0"/>
              <a:t>先行研究の</a:t>
            </a:r>
            <a:br>
              <a:rPr kumimoji="1" lang="en-US" altLang="ja-JP" sz="1350" dirty="0"/>
            </a:br>
            <a:r>
              <a:rPr kumimoji="1" lang="ja-JP" altLang="en-US" sz="1350" dirty="0"/>
              <a:t>環境構築</a:t>
            </a:r>
          </a:p>
        </p:txBody>
      </p:sp>
    </p:spTree>
    <p:extLst>
      <p:ext uri="{BB962C8B-B14F-4D97-AF65-F5344CB8AC3E}">
        <p14:creationId xmlns:p14="http://schemas.microsoft.com/office/powerpoint/2010/main" val="43753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709464-9D29-E8B1-875A-7E60B3D6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環境構築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97F587-99B7-50AC-7790-FA4F2600B6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カメラ環境の構築</a:t>
            </a:r>
            <a:endParaRPr lang="en-US" altLang="ja-JP" sz="2400" dirty="0"/>
          </a:p>
          <a:p>
            <a:pPr lvl="1">
              <a:lnSpc>
                <a:spcPct val="150000"/>
              </a:lnSpc>
            </a:pPr>
            <a:r>
              <a:rPr lang="ja-JP" altLang="en-US" sz="2200" dirty="0"/>
              <a:t>カメラフレームの作成</a:t>
            </a:r>
            <a:endParaRPr lang="en-US" altLang="ja-JP" sz="2200" dirty="0"/>
          </a:p>
          <a:p>
            <a:pPr lvl="1">
              <a:lnSpc>
                <a:spcPct val="150000"/>
              </a:lnSpc>
            </a:pPr>
            <a:r>
              <a:rPr lang="ja-JP" altLang="en-US" sz="2200" dirty="0"/>
              <a:t>動作環境を整える</a:t>
            </a:r>
            <a:endParaRPr lang="en-US" altLang="ja-JP" sz="2200" dirty="0"/>
          </a:p>
          <a:p>
            <a:pPr lvl="2">
              <a:lnSpc>
                <a:spcPct val="150000"/>
              </a:lnSpc>
            </a:pPr>
            <a:r>
              <a:rPr lang="ja-JP" altLang="en-US" sz="1800" dirty="0"/>
              <a:t>開発者用の</a:t>
            </a:r>
            <a:r>
              <a:rPr lang="en-US" altLang="ja-JP" sz="1800" dirty="0"/>
              <a:t>OS</a:t>
            </a:r>
            <a:r>
              <a:rPr lang="ja-JP" altLang="en-US" sz="1800" dirty="0"/>
              <a:t>をフラッシュ</a:t>
            </a:r>
            <a:endParaRPr lang="en-US" altLang="ja-JP" sz="1800" dirty="0"/>
          </a:p>
          <a:p>
            <a:pPr lvl="2">
              <a:lnSpc>
                <a:spcPct val="150000"/>
              </a:lnSpc>
            </a:pPr>
            <a:r>
              <a:rPr lang="ja-JP" altLang="en-US" sz="1800" dirty="0"/>
              <a:t>公式からのリリースパッケージを実行</a:t>
            </a:r>
            <a:endParaRPr lang="en-US" altLang="ja-JP" sz="18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先行研究の環境構築</a:t>
            </a:r>
            <a:endParaRPr lang="en-US" altLang="ja-JP" sz="2400" dirty="0"/>
          </a:p>
          <a:p>
            <a:pPr lvl="1">
              <a:lnSpc>
                <a:spcPct val="150000"/>
              </a:lnSpc>
            </a:pPr>
            <a:r>
              <a:rPr lang="ja-JP" altLang="en-US" sz="2200" dirty="0"/>
              <a:t>公開されている先行研究のプログラムが動く</a:t>
            </a:r>
            <a:r>
              <a:rPr lang="en-US" altLang="ja-JP" sz="2200" dirty="0"/>
              <a:t>Python </a:t>
            </a:r>
            <a:r>
              <a:rPr lang="ja-JP" altLang="en-US" sz="2200" dirty="0"/>
              <a:t>環境を整える</a:t>
            </a:r>
            <a:endParaRPr lang="en-US" altLang="ja-JP" sz="2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168C40-599C-B6B8-322D-CE942846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3020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F559-8715-93AE-16DE-7F08550D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6B161D-1859-A4FE-AA0D-89ACE5B4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カメラ環境の構築が滞っている原因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018A81-4F19-7E9A-E51C-DB12A23153C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dirty="0"/>
              <a:t>公式からのリリースパッケージを実行する環境が</a:t>
            </a:r>
            <a:br>
              <a:rPr lang="en-US" altLang="ja-JP" sz="2400" dirty="0"/>
            </a:br>
            <a:r>
              <a:rPr lang="ja-JP" altLang="en-US" sz="2400" dirty="0"/>
              <a:t>整っていない</a:t>
            </a:r>
            <a:endParaRPr lang="en-US" altLang="ja-JP" sz="2400" dirty="0"/>
          </a:p>
          <a:p>
            <a:pPr lvl="1">
              <a:lnSpc>
                <a:spcPct val="200000"/>
              </a:lnSpc>
            </a:pPr>
            <a:r>
              <a:rPr lang="ja-JP" altLang="en-US" sz="2200" dirty="0"/>
              <a:t>開発者用の</a:t>
            </a:r>
            <a:r>
              <a:rPr lang="en-US" altLang="ja-JP" sz="2200" dirty="0"/>
              <a:t>OS</a:t>
            </a:r>
            <a:r>
              <a:rPr lang="ja-JP" altLang="en-US" sz="2200" dirty="0"/>
              <a:t>のバージョンが非常に限定的</a:t>
            </a:r>
            <a:endParaRPr lang="en-US" altLang="ja-JP" sz="2200" dirty="0"/>
          </a:p>
          <a:p>
            <a:pPr lvl="1">
              <a:lnSpc>
                <a:spcPct val="200000"/>
              </a:lnSpc>
            </a:pPr>
            <a:r>
              <a:rPr lang="ja-JP" altLang="en-US" sz="2200" dirty="0"/>
              <a:t>バージョンを合わせるたびフラッシュされるので</a:t>
            </a:r>
            <a:br>
              <a:rPr lang="en-US" altLang="ja-JP" sz="2200" dirty="0"/>
            </a:br>
            <a:r>
              <a:rPr lang="ja-JP" altLang="en-US" sz="2200" dirty="0"/>
              <a:t>整えた環境が消える➞</a:t>
            </a:r>
            <a:r>
              <a:rPr lang="en-US" altLang="ja-JP" sz="2200" dirty="0"/>
              <a:t>Docker</a:t>
            </a:r>
            <a:r>
              <a:rPr lang="ja-JP" altLang="en-US" sz="2200" dirty="0"/>
              <a:t>の方が良いかもしれない</a:t>
            </a:r>
            <a:endParaRPr lang="en-US" altLang="ja-JP" sz="2200" dirty="0"/>
          </a:p>
          <a:p>
            <a:pPr lvl="1">
              <a:lnSpc>
                <a:spcPct val="200000"/>
              </a:lnSpc>
            </a:pPr>
            <a:r>
              <a:rPr kumimoji="1" lang="ja-JP" altLang="en-US" sz="2200" dirty="0"/>
              <a:t>バージョンを合わせても動かない</a:t>
            </a:r>
            <a:endParaRPr lang="en-US" altLang="ja-JP" sz="2200" dirty="0"/>
          </a:p>
          <a:p>
            <a:pPr lvl="1">
              <a:lnSpc>
                <a:spcPct val="200000"/>
              </a:lnSpc>
            </a:pPr>
            <a:r>
              <a:rPr kumimoji="1" lang="ja-JP" altLang="en-US" sz="2200" dirty="0"/>
              <a:t>原因究明中</a:t>
            </a:r>
            <a:endParaRPr kumimoji="1" lang="en-US" altLang="ja-JP" sz="2200" dirty="0"/>
          </a:p>
          <a:p>
            <a:pPr>
              <a:lnSpc>
                <a:spcPct val="200000"/>
              </a:lnSpc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B43D75-D1A8-8686-782B-B7951BDD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9505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CDDD-E3A0-4AD4-4F86-053730363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7A8CB-0690-88FF-AA82-15E835B4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先行研究の</a:t>
            </a:r>
            <a:r>
              <a:rPr kumimoji="1" lang="ja-JP" altLang="en-US" dirty="0"/>
              <a:t>環境の構築が滞っている原因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2711A9-BFF1-326B-5F78-71187F0A1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50000"/>
              </a:lnSpc>
            </a:pPr>
            <a:r>
              <a:rPr lang="ja-JP" altLang="en-US" dirty="0"/>
              <a:t>公開されている</a:t>
            </a:r>
            <a:r>
              <a:rPr lang="en-US" altLang="ja-JP" dirty="0" err="1"/>
              <a:t>Github</a:t>
            </a:r>
            <a:r>
              <a:rPr lang="ja-JP" altLang="en-US" dirty="0"/>
              <a:t>に詳細な環境の情報が書いていない</a:t>
            </a:r>
            <a:endParaRPr lang="en-US" altLang="ja-JP" dirty="0"/>
          </a:p>
          <a:p>
            <a:pPr lvl="1">
              <a:lnSpc>
                <a:spcPct val="250000"/>
              </a:lnSpc>
            </a:pPr>
            <a:r>
              <a:rPr kumimoji="1" lang="ja-JP" altLang="en-US" dirty="0"/>
              <a:t>環境を整える手順は書いてあるが，手順通りに実行すると</a:t>
            </a:r>
            <a:br>
              <a:rPr kumimoji="1" lang="en-US" altLang="ja-JP" dirty="0"/>
            </a:br>
            <a:r>
              <a:rPr lang="ja-JP" altLang="en-US" dirty="0"/>
              <a:t>自動的に最新版のライブラリがインストールされる</a:t>
            </a:r>
            <a:endParaRPr lang="en-US" altLang="ja-JP" dirty="0"/>
          </a:p>
          <a:p>
            <a:pPr lvl="1">
              <a:lnSpc>
                <a:spcPct val="250000"/>
              </a:lnSpc>
            </a:pPr>
            <a:r>
              <a:rPr kumimoji="1" lang="en-US" altLang="ja-JP" dirty="0"/>
              <a:t>Jetson</a:t>
            </a:r>
            <a:r>
              <a:rPr kumimoji="1" lang="ja-JP" altLang="en-US" dirty="0"/>
              <a:t>環境では，通常の</a:t>
            </a:r>
            <a:r>
              <a:rPr kumimoji="1" lang="en-US" altLang="ja-JP" dirty="0"/>
              <a:t>Linux</a:t>
            </a:r>
            <a:r>
              <a:rPr lang="ja-JP" altLang="en-US" dirty="0"/>
              <a:t>と同様の方法で</a:t>
            </a:r>
            <a:br>
              <a:rPr lang="en-US" altLang="ja-JP" dirty="0"/>
            </a:br>
            <a:r>
              <a:rPr kumimoji="1" lang="ja-JP" altLang="en-US"/>
              <a:t>インストールできない</a:t>
            </a:r>
            <a:r>
              <a:rPr kumimoji="1" lang="ja-JP" altLang="en-US" dirty="0"/>
              <a:t>ライブラリが存在している</a:t>
            </a:r>
            <a:endParaRPr kumimoji="1" lang="en-US" altLang="ja-JP" dirty="0"/>
          </a:p>
          <a:p>
            <a:pPr lvl="1">
              <a:lnSpc>
                <a:spcPct val="250000"/>
              </a:lnSpc>
            </a:pPr>
            <a:endParaRPr kumimoji="1" lang="en-US" altLang="ja-JP" dirty="0"/>
          </a:p>
          <a:p>
            <a:pPr>
              <a:lnSpc>
                <a:spcPct val="250000"/>
              </a:lnSpc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BCF371-3C2F-AAEF-9B6E-056265AA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837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00A8F9-E95D-9A41-73AF-24A49F4A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F3225B-09C8-A2E8-6B14-88E28C27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17</a:t>
            </a:fld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7036E6-703D-079D-FA10-D1BEAFD93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ja-JP" altLang="en-US" dirty="0"/>
              <a:t>ハードウェアを構成した</a:t>
            </a:r>
            <a:endParaRPr lang="en-US" altLang="ja-JP" dirty="0"/>
          </a:p>
          <a:p>
            <a:pPr>
              <a:lnSpc>
                <a:spcPct val="250000"/>
              </a:lnSpc>
            </a:pPr>
            <a:r>
              <a:rPr kumimoji="1" lang="ja-JP" altLang="en-US" dirty="0"/>
              <a:t>魚眼カメラでカラー画像を深さ画像に変換する</a:t>
            </a:r>
            <a:br>
              <a:rPr kumimoji="1" lang="en-US" altLang="ja-JP" dirty="0"/>
            </a:br>
            <a:r>
              <a:rPr kumimoji="1" lang="ja-JP" altLang="en-US" dirty="0"/>
              <a:t>手法を確認した</a:t>
            </a:r>
            <a:endParaRPr kumimoji="1" lang="en-US" altLang="ja-JP" dirty="0"/>
          </a:p>
          <a:p>
            <a:pPr>
              <a:lnSpc>
                <a:spcPct val="250000"/>
              </a:lnSpc>
            </a:pPr>
            <a:r>
              <a:rPr lang="ja-JP" altLang="en-US" dirty="0"/>
              <a:t>環境を構築中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7609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A02A9DC-ED78-18CA-2598-99DD6B70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 dirty="0"/>
              <a:t>ご清聴ありがとうございました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D07E2E1-E6A6-3CB8-C5FE-2BF72B7FE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0BBB8B8-6C4B-DB12-D6EF-5D64EB35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18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1622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F0F9ED-3BFB-3DAC-1022-C627C9AD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視差の大きいカメラを選ぶ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BB54C7-DC9E-AAC8-8E06-DDBD3B2E08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" y="1341438"/>
            <a:ext cx="7886700" cy="5151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最小の深さと最大の深さで見える方向が大きく違う方が</a:t>
            </a:r>
            <a:br>
              <a:rPr lang="en-US" altLang="ja-JP" dirty="0"/>
            </a:br>
            <a:r>
              <a:rPr lang="ja-JP" altLang="en-US" dirty="0"/>
              <a:t>違いが生まれやすく正確な深さが取れる</a:t>
            </a:r>
          </a:p>
        </p:txBody>
      </p:sp>
      <p:pic>
        <p:nvPicPr>
          <p:cNvPr id="8" name="図 7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84047E8-3D87-67BF-2AE4-7D2D7D836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2" t="19999" r="25503" b="12890"/>
          <a:stretch/>
        </p:blipFill>
        <p:spPr>
          <a:xfrm>
            <a:off x="5926110" y="2744398"/>
            <a:ext cx="2028826" cy="251578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2B5516-76FE-057A-6C98-99378A5ABA1E}"/>
              </a:ext>
            </a:extLst>
          </p:cNvPr>
          <p:cNvSpPr/>
          <p:nvPr/>
        </p:nvSpPr>
        <p:spPr>
          <a:xfrm rot="2615578">
            <a:off x="2057894" y="3575848"/>
            <a:ext cx="669792" cy="676941"/>
          </a:xfrm>
          <a:prstGeom prst="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7707A54C-DB69-1C77-63EC-08514497D242}"/>
              </a:ext>
            </a:extLst>
          </p:cNvPr>
          <p:cNvSpPr/>
          <p:nvPr/>
        </p:nvSpPr>
        <p:spPr>
          <a:xfrm>
            <a:off x="2140746" y="3192727"/>
            <a:ext cx="487552" cy="488882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0070C0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CA0997E9-2341-5F93-2B9F-6BC81783EDF7}"/>
              </a:ext>
            </a:extLst>
          </p:cNvPr>
          <p:cNvSpPr/>
          <p:nvPr/>
        </p:nvSpPr>
        <p:spPr>
          <a:xfrm rot="5400000">
            <a:off x="2627627" y="3658082"/>
            <a:ext cx="488883" cy="487551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0070C0"/>
              </a:solidFill>
            </a:endParaRPr>
          </a:p>
        </p:txBody>
      </p:sp>
      <p:sp>
        <p:nvSpPr>
          <p:cNvPr id="16" name="部分円 15">
            <a:extLst>
              <a:ext uri="{FF2B5EF4-FFF2-40B4-BE49-F238E27FC236}">
                <a16:creationId xmlns:a16="http://schemas.microsoft.com/office/drawing/2014/main" id="{484121B6-AF89-2844-A6DD-E337CF741807}"/>
              </a:ext>
            </a:extLst>
          </p:cNvPr>
          <p:cNvSpPr/>
          <p:nvPr/>
        </p:nvSpPr>
        <p:spPr>
          <a:xfrm rot="10800000">
            <a:off x="2159523" y="4147035"/>
            <a:ext cx="487552" cy="488882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0070C0"/>
              </a:solidFill>
            </a:endParaRPr>
          </a:p>
        </p:txBody>
      </p:sp>
      <p:sp>
        <p:nvSpPr>
          <p:cNvPr id="17" name="部分円 16">
            <a:extLst>
              <a:ext uri="{FF2B5EF4-FFF2-40B4-BE49-F238E27FC236}">
                <a16:creationId xmlns:a16="http://schemas.microsoft.com/office/drawing/2014/main" id="{6EEF44A5-D03B-6BA2-7978-961C1C2F948C}"/>
              </a:ext>
            </a:extLst>
          </p:cNvPr>
          <p:cNvSpPr/>
          <p:nvPr/>
        </p:nvSpPr>
        <p:spPr>
          <a:xfrm rot="16200000">
            <a:off x="1669072" y="3682733"/>
            <a:ext cx="488883" cy="487551"/>
          </a:xfrm>
          <a:prstGeom prst="pie">
            <a:avLst>
              <a:gd name="adj1" fmla="val 8998221"/>
              <a:gd name="adj2" fmla="val 1857598"/>
            </a:avLst>
          </a:prstGeom>
          <a:noFill/>
          <a:ln>
            <a:solidFill>
              <a:srgbClr val="FFC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0070C0"/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FAB4C61-CBAC-054B-BB25-FAA0F8657785}"/>
              </a:ext>
            </a:extLst>
          </p:cNvPr>
          <p:cNvCxnSpPr>
            <a:cxnSpLocks/>
          </p:cNvCxnSpPr>
          <p:nvPr/>
        </p:nvCxnSpPr>
        <p:spPr>
          <a:xfrm>
            <a:off x="2374604" y="3437167"/>
            <a:ext cx="3124918" cy="953845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円弧 35">
            <a:extLst>
              <a:ext uri="{FF2B5EF4-FFF2-40B4-BE49-F238E27FC236}">
                <a16:creationId xmlns:a16="http://schemas.microsoft.com/office/drawing/2014/main" id="{4A63F039-BFFF-3D95-AFEF-58DF88C51DD7}"/>
              </a:ext>
            </a:extLst>
          </p:cNvPr>
          <p:cNvSpPr/>
          <p:nvPr/>
        </p:nvSpPr>
        <p:spPr>
          <a:xfrm>
            <a:off x="733381" y="1792567"/>
            <a:ext cx="3282443" cy="3289194"/>
          </a:xfrm>
          <a:prstGeom prst="arc">
            <a:avLst>
              <a:gd name="adj1" fmla="val 20994273"/>
              <a:gd name="adj2" fmla="val 2681605"/>
            </a:avLst>
          </a:prstGeom>
          <a:ln w="28575">
            <a:solidFill>
              <a:srgbClr val="FF00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39" name="円弧 38">
            <a:extLst>
              <a:ext uri="{FF2B5EF4-FFF2-40B4-BE49-F238E27FC236}">
                <a16:creationId xmlns:a16="http://schemas.microsoft.com/office/drawing/2014/main" id="{3B95A7FE-5EEF-BD2F-8C17-A73E2DAD9E9E}"/>
              </a:ext>
            </a:extLst>
          </p:cNvPr>
          <p:cNvSpPr/>
          <p:nvPr/>
        </p:nvSpPr>
        <p:spPr>
          <a:xfrm>
            <a:off x="-783958" y="-5751"/>
            <a:ext cx="6317115" cy="6885830"/>
          </a:xfrm>
          <a:prstGeom prst="arc">
            <a:avLst>
              <a:gd name="adj1" fmla="val 21106860"/>
              <a:gd name="adj2" fmla="val 2688835"/>
            </a:avLst>
          </a:prstGeom>
          <a:ln w="28575">
            <a:solidFill>
              <a:srgbClr val="0070C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0BCDD27-DAD3-9F5B-0C33-7B3AD0DDD8FD}"/>
              </a:ext>
            </a:extLst>
          </p:cNvPr>
          <p:cNvCxnSpPr>
            <a:cxnSpLocks/>
          </p:cNvCxnSpPr>
          <p:nvPr/>
        </p:nvCxnSpPr>
        <p:spPr>
          <a:xfrm>
            <a:off x="2862156" y="3901858"/>
            <a:ext cx="1087811" cy="122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C55A47E-2210-7076-9B37-73FC834F1159}"/>
              </a:ext>
            </a:extLst>
          </p:cNvPr>
          <p:cNvCxnSpPr>
            <a:cxnSpLocks/>
          </p:cNvCxnSpPr>
          <p:nvPr/>
        </p:nvCxnSpPr>
        <p:spPr>
          <a:xfrm>
            <a:off x="2868092" y="3901638"/>
            <a:ext cx="2545170" cy="46076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0F0608A4-5061-41EF-017D-B6DD427920FE}"/>
              </a:ext>
            </a:extLst>
          </p:cNvPr>
          <p:cNvCxnSpPr>
            <a:cxnSpLocks/>
          </p:cNvCxnSpPr>
          <p:nvPr/>
        </p:nvCxnSpPr>
        <p:spPr>
          <a:xfrm flipV="1">
            <a:off x="2399321" y="3918286"/>
            <a:ext cx="1549654" cy="47294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FFA50E26-A03B-DA61-4591-A83433C8C919}"/>
              </a:ext>
            </a:extLst>
          </p:cNvPr>
          <p:cNvCxnSpPr>
            <a:cxnSpLocks/>
          </p:cNvCxnSpPr>
          <p:nvPr/>
        </p:nvCxnSpPr>
        <p:spPr>
          <a:xfrm flipV="1">
            <a:off x="2403298" y="4362401"/>
            <a:ext cx="3009967" cy="286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円弧 82">
            <a:extLst>
              <a:ext uri="{FF2B5EF4-FFF2-40B4-BE49-F238E27FC236}">
                <a16:creationId xmlns:a16="http://schemas.microsoft.com/office/drawing/2014/main" id="{97730DC5-B984-981F-46CC-643AAF3022EB}"/>
              </a:ext>
            </a:extLst>
          </p:cNvPr>
          <p:cNvSpPr/>
          <p:nvPr/>
        </p:nvSpPr>
        <p:spPr>
          <a:xfrm>
            <a:off x="130154" y="1245283"/>
            <a:ext cx="4372781" cy="4427745"/>
          </a:xfrm>
          <a:prstGeom prst="arc">
            <a:avLst>
              <a:gd name="adj1" fmla="val 20936755"/>
              <a:gd name="adj2" fmla="val 2681605"/>
            </a:avLst>
          </a:prstGeom>
          <a:ln w="28575">
            <a:solidFill>
              <a:srgbClr val="00B05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84" name="円弧 83">
            <a:extLst>
              <a:ext uri="{FF2B5EF4-FFF2-40B4-BE49-F238E27FC236}">
                <a16:creationId xmlns:a16="http://schemas.microsoft.com/office/drawing/2014/main" id="{3AFD5CDA-B7A3-197A-4C44-4213BC46A3C0}"/>
              </a:ext>
            </a:extLst>
          </p:cNvPr>
          <p:cNvSpPr/>
          <p:nvPr/>
        </p:nvSpPr>
        <p:spPr>
          <a:xfrm>
            <a:off x="-272616" y="689673"/>
            <a:ext cx="5284543" cy="5494982"/>
          </a:xfrm>
          <a:prstGeom prst="arc">
            <a:avLst>
              <a:gd name="adj1" fmla="val 20936755"/>
              <a:gd name="adj2" fmla="val 2681605"/>
            </a:avLst>
          </a:prstGeom>
          <a:ln w="28575">
            <a:solidFill>
              <a:srgbClr val="00B05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E079F43F-F9BB-C1BF-A4D9-39F3C55B7921}"/>
              </a:ext>
            </a:extLst>
          </p:cNvPr>
          <p:cNvSpPr txBox="1"/>
          <p:nvPr/>
        </p:nvSpPr>
        <p:spPr>
          <a:xfrm>
            <a:off x="1913512" y="2949682"/>
            <a:ext cx="1050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dirty="0"/>
              <a:t>基準カメラ</a:t>
            </a:r>
          </a:p>
        </p:txBody>
      </p:sp>
      <p:sp>
        <p:nvSpPr>
          <p:cNvPr id="6" name="部分円 5">
            <a:extLst>
              <a:ext uri="{FF2B5EF4-FFF2-40B4-BE49-F238E27FC236}">
                <a16:creationId xmlns:a16="http://schemas.microsoft.com/office/drawing/2014/main" id="{5D052BD5-6A37-3365-35DC-342267FA42DF}"/>
              </a:ext>
            </a:extLst>
          </p:cNvPr>
          <p:cNvSpPr/>
          <p:nvPr/>
        </p:nvSpPr>
        <p:spPr>
          <a:xfrm>
            <a:off x="2630891" y="3656055"/>
            <a:ext cx="487551" cy="488882"/>
          </a:xfrm>
          <a:prstGeom prst="pie">
            <a:avLst>
              <a:gd name="adj1" fmla="val 0"/>
              <a:gd name="adj2" fmla="val 75469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  <p:sp>
        <p:nvSpPr>
          <p:cNvPr id="7" name="部分円 6">
            <a:extLst>
              <a:ext uri="{FF2B5EF4-FFF2-40B4-BE49-F238E27FC236}">
                <a16:creationId xmlns:a16="http://schemas.microsoft.com/office/drawing/2014/main" id="{CF3EBCD0-5270-758B-6367-5251665AF157}"/>
              </a:ext>
            </a:extLst>
          </p:cNvPr>
          <p:cNvSpPr/>
          <p:nvPr/>
        </p:nvSpPr>
        <p:spPr>
          <a:xfrm>
            <a:off x="2159519" y="4147035"/>
            <a:ext cx="487551" cy="488882"/>
          </a:xfrm>
          <a:prstGeom prst="pie">
            <a:avLst>
              <a:gd name="adj1" fmla="val 20509722"/>
              <a:gd name="adj2" fmla="val 2149051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32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ppt/theme/theme2.xml><?xml version="1.0" encoding="utf-8"?>
<a:theme xmlns:a="http://schemas.openxmlformats.org/drawingml/2006/main" name="introduc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ResearchPresentation</Template>
  <TotalTime>8113</TotalTime>
  <Words>695</Words>
  <Application>Microsoft Office PowerPoint</Application>
  <PresentationFormat>画面に合わせる (4:3)</PresentationFormat>
  <Paragraphs>124</Paragraphs>
  <Slides>19</Slides>
  <Notes>8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19</vt:i4>
      </vt:variant>
    </vt:vector>
  </HeadingPairs>
  <TitlesOfParts>
    <vt:vector size="27" baseType="lpstr">
      <vt:lpstr>游ゴシック</vt:lpstr>
      <vt:lpstr>游ゴシック Medium</vt:lpstr>
      <vt:lpstr>Arial</vt:lpstr>
      <vt:lpstr>Segoe UI</vt:lpstr>
      <vt:lpstr>Wingdings</vt:lpstr>
      <vt:lpstr>研究発表スライドマスタ</vt:lpstr>
      <vt:lpstr>introduction</vt:lpstr>
      <vt:lpstr>1_研究発表スライドマスタ</vt:lpstr>
      <vt:lpstr>4つの魚眼カメラにより 生成したパノラマ深さ画像 によるSLAM</vt:lpstr>
      <vt:lpstr>背景</vt:lpstr>
      <vt:lpstr>SLAMの構成要素</vt:lpstr>
      <vt:lpstr>従来の問題と目的</vt:lpstr>
      <vt:lpstr>ハードウェア構成</vt:lpstr>
      <vt:lpstr>魚眼カメラのカラー画像を深さ画像に変換</vt:lpstr>
      <vt:lpstr>魚眼カメラのカラー画像を深さ画像に変換</vt:lpstr>
      <vt:lpstr>魚眼カメラのカラー画像を深さ画像に変換</vt:lpstr>
      <vt:lpstr>魚眼カメラのカラー画像を深さ画像に変換</vt:lpstr>
      <vt:lpstr>魚眼カメラのカラー画像から深さ画像を作成</vt:lpstr>
      <vt:lpstr>パノラマ画像につなぎ合わせる</vt:lpstr>
      <vt:lpstr>SLAMに拡張</vt:lpstr>
      <vt:lpstr>ルートマップ</vt:lpstr>
      <vt:lpstr>環境構築</vt:lpstr>
      <vt:lpstr>カメラ環境の構築が滞っている原因</vt:lpstr>
      <vt:lpstr>先行研究の環境の構築が滞っている原因</vt:lpstr>
      <vt:lpstr>まとめ</vt:lpstr>
      <vt:lpstr>ご清聴ありがとうございました</vt:lpstr>
      <vt:lpstr>視差の大きいカメラを選ぶ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130</cp:revision>
  <dcterms:created xsi:type="dcterms:W3CDTF">2025-10-10T06:31:09Z</dcterms:created>
  <dcterms:modified xsi:type="dcterms:W3CDTF">2025-10-18T08:01:00Z</dcterms:modified>
</cp:coreProperties>
</file>